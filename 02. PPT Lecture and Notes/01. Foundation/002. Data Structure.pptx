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Nunito" panose="020B0604020202020204" charset="0"/>
      <p:regular r:id="rId19"/>
      <p:bold r:id="rId20"/>
      <p:italic r:id="rId21"/>
      <p:boldItalic r:id="rId22"/>
    </p:embeddedFont>
    <p:embeddedFont>
      <p:font typeface="Maven Pro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9FB8E2-AE70-40CC-A5F9-BE22670CDF6B}">
  <a:tblStyle styleId="{379FB8E2-AE70-40CC-A5F9-BE22670CDF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250" autoAdjust="0"/>
  </p:normalViewPr>
  <p:slideViewPr>
    <p:cSldViewPr snapToGrid="0">
      <p:cViewPr varScale="1">
        <p:scale>
          <a:sx n="124" d="100"/>
          <a:sy n="124" d="100"/>
        </p:scale>
        <p:origin x="628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19954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6361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1943e0371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1943e0371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543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d1943e0371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d1943e0371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5426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d1943e0371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d1943e0371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6418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d1943e0371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d1943e0371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Python list is actually a linked list with a </a:t>
            </a:r>
            <a:r>
              <a:rPr lang="en-US" dirty="0" err="1" smtClean="0"/>
              <a:t>hashmap</a:t>
            </a:r>
            <a:r>
              <a:rPr lang="en-US" dirty="0" smtClean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2543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d1943e0371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d1943e0371_0_3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8503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d1943e0371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d1943e0371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3021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d1943e0371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d1943e0371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First In, First Out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87748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1943e0371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1943e0371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First In, Last Out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33311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d1943e0371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d1943e0371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4799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d1943e0371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d1943e0371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Which one</a:t>
            </a:r>
            <a:r>
              <a:rPr lang="en-US" baseline="0" dirty="0" smtClean="0"/>
              <a:t> is faster? List or dictionary?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aseline="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47557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d1943e0371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d1943e0371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1060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d1943e0371_0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d1943e0371_0_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20381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d1943e0371_0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d1943e0371_0_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70781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d1943e0371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d1943e0371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15943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d1943e0371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d1943e0371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804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ython/cpython/blob/main/Objects/dictobject.c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</a:t>
            </a:r>
            <a:endParaRPr/>
          </a:p>
        </p:txBody>
      </p:sp>
      <p:sp>
        <p:nvSpPr>
          <p:cNvPr id="288" name="Google Shape;288;p15"/>
          <p:cNvSpPr txBox="1">
            <a:spLocks noGrp="1"/>
          </p:cNvSpPr>
          <p:nvPr>
            <p:ph type="body" idx="1"/>
          </p:nvPr>
        </p:nvSpPr>
        <p:spPr>
          <a:xfrm>
            <a:off x="1303800" y="2240250"/>
            <a:ext cx="3191400" cy="22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simplest composite type.  Items can be looked up easily by calculating the memory address from the index.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Eg. myList is located at memory address 100, then myList[10] is at memory address 100 + 8 * 10 = 180.</a:t>
            </a:r>
            <a:endParaRPr/>
          </a:p>
        </p:txBody>
      </p:sp>
      <p:graphicFrame>
        <p:nvGraphicFramePr>
          <p:cNvPr id="289" name="Google Shape;289;p15"/>
          <p:cNvGraphicFramePr/>
          <p:nvPr/>
        </p:nvGraphicFramePr>
        <p:xfrm>
          <a:off x="952500" y="1609050"/>
          <a:ext cx="7239000" cy="396210"/>
        </p:xfrm>
        <a:graphic>
          <a:graphicData uri="http://schemas.openxmlformats.org/drawingml/2006/table">
            <a:tbl>
              <a:tblPr>
                <a:noFill/>
                <a:tableStyleId>{379FB8E2-AE70-40CC-A5F9-BE22670CDF6B}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Value 1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Value 2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Value 3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Value 4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290" name="Google Shape;290;p15"/>
          <p:cNvSpPr txBox="1">
            <a:spLocks noGrp="1"/>
          </p:cNvSpPr>
          <p:nvPr>
            <p:ph type="body" idx="1"/>
          </p:nvPr>
        </p:nvSpPr>
        <p:spPr>
          <a:xfrm>
            <a:off x="5000100" y="2240250"/>
            <a:ext cx="3191400" cy="22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Note: The values are usually pointers in modern languages.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 List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 list</a:t>
            </a:r>
            <a:endParaRPr/>
          </a:p>
        </p:txBody>
      </p:sp>
      <p:sp>
        <p:nvSpPr>
          <p:cNvPr id="301" name="Google Shape;301;p17"/>
          <p:cNvSpPr txBox="1">
            <a:spLocks noGrp="1"/>
          </p:cNvSpPr>
          <p:nvPr>
            <p:ph type="body" idx="1"/>
          </p:nvPr>
        </p:nvSpPr>
        <p:spPr>
          <a:xfrm>
            <a:off x="1303800" y="2240250"/>
            <a:ext cx="3191400" cy="22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linked list is formed by nodes.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Each node is simply an object with data and a pointer to the next node.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Variations include </a:t>
            </a:r>
            <a:r>
              <a:rPr lang="en" u="sng" dirty="0"/>
              <a:t>doubly linked list</a:t>
            </a:r>
            <a:r>
              <a:rPr lang="en" dirty="0"/>
              <a:t>, </a:t>
            </a:r>
            <a:r>
              <a:rPr lang="en" u="sng" dirty="0"/>
              <a:t>circular linked list</a:t>
            </a:r>
            <a:r>
              <a:rPr lang="en" dirty="0"/>
              <a:t>.</a:t>
            </a:r>
            <a:endParaRPr dirty="0"/>
          </a:p>
        </p:txBody>
      </p:sp>
      <p:pic>
        <p:nvPicPr>
          <p:cNvPr id="302" name="Google Shape;3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5350" y="278702"/>
            <a:ext cx="5505425" cy="18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661798"/>
            <a:ext cx="3876850" cy="171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5"/>
          <a:srcRect r="45944" b="2260"/>
          <a:stretch/>
        </p:blipFill>
        <p:spPr>
          <a:xfrm>
            <a:off x="8366975" y="1763211"/>
            <a:ext cx="3129567" cy="27684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 list vs classic array</a:t>
            </a:r>
            <a:endParaRPr/>
          </a:p>
        </p:txBody>
      </p:sp>
      <p:graphicFrame>
        <p:nvGraphicFramePr>
          <p:cNvPr id="309" name="Google Shape;309;p18"/>
          <p:cNvGraphicFramePr/>
          <p:nvPr/>
        </p:nvGraphicFramePr>
        <p:xfrm>
          <a:off x="952500" y="2000250"/>
          <a:ext cx="7239000" cy="2651640"/>
        </p:xfrm>
        <a:graphic>
          <a:graphicData uri="http://schemas.openxmlformats.org/drawingml/2006/table">
            <a:tbl>
              <a:tblPr>
                <a:noFill/>
                <a:tableStyleId>{379FB8E2-AE70-40CC-A5F9-BE22670CDF6B}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Operations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Linked list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Classic array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Insert/Remove items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Simply adjust the “next” pointer.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Need to move every item after the insertion/deletion index.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Access an item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Need to iterate from the head.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No iteration is needed.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Memory usage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More memory is used to store the objects and the “next” pointers.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Minimal memory usage.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 and Stack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</a:t>
            </a:r>
            <a:endParaRPr/>
          </a:p>
        </p:txBody>
      </p:sp>
      <p:sp>
        <p:nvSpPr>
          <p:cNvPr id="320" name="Google Shape;320;p20"/>
          <p:cNvSpPr txBox="1">
            <a:spLocks noGrp="1"/>
          </p:cNvSpPr>
          <p:nvPr>
            <p:ph type="body" idx="1"/>
          </p:nvPr>
        </p:nvSpPr>
        <p:spPr>
          <a:xfrm>
            <a:off x="1303800" y="2240250"/>
            <a:ext cx="3191400" cy="22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list that supports “First in first out”.</a:t>
            </a:r>
            <a:endParaRPr/>
          </a:p>
        </p:txBody>
      </p:sp>
      <p:pic>
        <p:nvPicPr>
          <p:cNvPr id="321" name="Google Shape;3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3925" y="880850"/>
            <a:ext cx="3350374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</a:t>
            </a:r>
            <a:endParaRPr/>
          </a:p>
        </p:txBody>
      </p:sp>
      <p:sp>
        <p:nvSpPr>
          <p:cNvPr id="327" name="Google Shape;327;p21"/>
          <p:cNvSpPr txBox="1">
            <a:spLocks noGrp="1"/>
          </p:cNvSpPr>
          <p:nvPr>
            <p:ph type="body" idx="1"/>
          </p:nvPr>
        </p:nvSpPr>
        <p:spPr>
          <a:xfrm>
            <a:off x="1303800" y="2240250"/>
            <a:ext cx="3191400" cy="22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list that supports “First in last out”.</a:t>
            </a:r>
            <a:endParaRPr/>
          </a:p>
        </p:txBody>
      </p:sp>
      <p:pic>
        <p:nvPicPr>
          <p:cNvPr id="328" name="Google Shape;3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9300" y="951338"/>
            <a:ext cx="3474988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 table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 table</a:t>
            </a:r>
            <a:endParaRPr/>
          </a:p>
        </p:txBody>
      </p:sp>
      <p:sp>
        <p:nvSpPr>
          <p:cNvPr id="339" name="Google Shape;339;p23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1914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Underlying a hash table, there is a list to store values. 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Imagine it is a list of “Buckets”.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Hash function create a number for a given key.  Such number is the index of the value location.</a:t>
            </a:r>
            <a:endParaRPr/>
          </a:p>
        </p:txBody>
      </p:sp>
      <p:pic>
        <p:nvPicPr>
          <p:cNvPr id="340" name="Google Shape;3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950" y="987525"/>
            <a:ext cx="4344000" cy="3168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50" y="-2005018"/>
            <a:ext cx="7906156" cy="30672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 collision</a:t>
            </a:r>
            <a:endParaRPr/>
          </a:p>
        </p:txBody>
      </p:sp>
      <p:pic>
        <p:nvPicPr>
          <p:cNvPr id="346" name="Google Shape;3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9600" y="1750275"/>
            <a:ext cx="5742000" cy="28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4"/>
          <p:cNvSpPr txBox="1">
            <a:spLocks noGrp="1"/>
          </p:cNvSpPr>
          <p:nvPr>
            <p:ph type="body" idx="1"/>
          </p:nvPr>
        </p:nvSpPr>
        <p:spPr>
          <a:xfrm>
            <a:off x="209300" y="1990050"/>
            <a:ext cx="3096300" cy="287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very common to have hash collision where two different keys are mapped to the same index.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[Separate chaining]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collision happens, records are chained up in a linked list.</a:t>
            </a:r>
            <a:endParaRPr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126" y="-2407651"/>
            <a:ext cx="7144117" cy="39181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 collision</a:t>
            </a:r>
            <a:endParaRPr/>
          </a:p>
        </p:txBody>
      </p:sp>
      <p:sp>
        <p:nvSpPr>
          <p:cNvPr id="353" name="Google Shape;353;p2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096300" cy="287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[Open addressing]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collision happens, the algorithm search down the list for an empty slot</a:t>
            </a:r>
            <a:endParaRPr/>
          </a:p>
        </p:txBody>
      </p:sp>
      <p:pic>
        <p:nvPicPr>
          <p:cNvPr id="354" name="Google Shape;3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2450" y="1157275"/>
            <a:ext cx="3731858" cy="3240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0509" y="-2235319"/>
            <a:ext cx="8331628" cy="2686188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2476672" y="-1046114"/>
            <a:ext cx="39917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Time needed: 1 mil x 1 mil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Just change one thing: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7067" y="-25405"/>
            <a:ext cx="5048509" cy="1212912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-684084" y="4276274"/>
            <a:ext cx="397576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 set is a dictionary (hash table) without a value</a:t>
            </a:r>
          </a:p>
          <a:p>
            <a:endParaRPr lang="en-US" dirty="0"/>
          </a:p>
          <a:p>
            <a:r>
              <a:rPr lang="en-US" dirty="0" smtClean="0"/>
              <a:t>Dictionary is the key-value pair</a:t>
            </a:r>
          </a:p>
          <a:p>
            <a:r>
              <a:rPr lang="en-US" dirty="0" smtClean="0"/>
              <a:t>If there ignore the value, it is a set</a:t>
            </a:r>
          </a:p>
          <a:p>
            <a:endParaRPr lang="en-GB" dirty="0"/>
          </a:p>
        </p:txBody>
      </p:sp>
      <p:sp>
        <p:nvSpPr>
          <p:cNvPr id="8" name="文字方塊 7"/>
          <p:cNvSpPr txBox="1"/>
          <p:nvPr/>
        </p:nvSpPr>
        <p:spPr>
          <a:xfrm>
            <a:off x="-1127468" y="3019555"/>
            <a:ext cx="360707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Hash table is useful for speeding up lookup</a:t>
            </a:r>
          </a:p>
          <a:p>
            <a:endParaRPr lang="en-US" dirty="0"/>
          </a:p>
          <a:p>
            <a:r>
              <a:rPr lang="en-US" dirty="0" smtClean="0"/>
              <a:t>Make it in a dictionary / set (hash table)</a:t>
            </a:r>
          </a:p>
          <a:p>
            <a:r>
              <a:rPr lang="en-US" dirty="0" smtClean="0"/>
              <a:t>Instead of sequential search </a:t>
            </a:r>
          </a:p>
          <a:p>
            <a:r>
              <a:rPr lang="en-US" dirty="0" smtClean="0"/>
              <a:t>(searching in a list)</a:t>
            </a:r>
            <a:endParaRPr lang="en-GB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dictionary implementation</a:t>
            </a:r>
            <a:endParaRPr/>
          </a:p>
        </p:txBody>
      </p:sp>
      <p:sp>
        <p:nvSpPr>
          <p:cNvPr id="360" name="Google Shape;360;p26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https://github.com/python/cpython/blob/main/Objects/dictobject.c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7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Trees</a:t>
            </a:r>
            <a:endParaRPr/>
          </a:p>
        </p:txBody>
      </p:sp>
      <p:pic>
        <p:nvPicPr>
          <p:cNvPr id="371" name="Google Shape;3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3225" y="2174900"/>
            <a:ext cx="234315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6925" y="820525"/>
            <a:ext cx="3570298" cy="3240824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8"/>
          <p:cNvSpPr txBox="1"/>
          <p:nvPr/>
        </p:nvSpPr>
        <p:spPr>
          <a:xfrm>
            <a:off x="1940075" y="4385325"/>
            <a:ext cx="123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Binary Tree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4" name="Google Shape;374;p28"/>
          <p:cNvSpPr txBox="1"/>
          <p:nvPr/>
        </p:nvSpPr>
        <p:spPr>
          <a:xfrm>
            <a:off x="6007075" y="4385325"/>
            <a:ext cx="123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N-ary Tree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412</Words>
  <Application>Microsoft Office PowerPoint</Application>
  <PresentationFormat>如螢幕大小 (16:9)</PresentationFormat>
  <Paragraphs>72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Nunito</vt:lpstr>
      <vt:lpstr>Maven Pro</vt:lpstr>
      <vt:lpstr>Arial</vt:lpstr>
      <vt:lpstr>Momentum</vt:lpstr>
      <vt:lpstr>Data Structure</vt:lpstr>
      <vt:lpstr>Array</vt:lpstr>
      <vt:lpstr>Array</vt:lpstr>
      <vt:lpstr>Linked List</vt:lpstr>
      <vt:lpstr>Linked list</vt:lpstr>
      <vt:lpstr>Linked list vs classic array</vt:lpstr>
      <vt:lpstr>Queue and Stack</vt:lpstr>
      <vt:lpstr>Queue</vt:lpstr>
      <vt:lpstr>Stack</vt:lpstr>
      <vt:lpstr>Hash table</vt:lpstr>
      <vt:lpstr>Hash table</vt:lpstr>
      <vt:lpstr>Hash collision</vt:lpstr>
      <vt:lpstr>Hash collision</vt:lpstr>
      <vt:lpstr>Python dictionary implementation</vt:lpstr>
      <vt:lpstr>Tree</vt:lpstr>
      <vt:lpstr>Trees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</dc:title>
  <cp:lastModifiedBy>Microsoft 帳戶</cp:lastModifiedBy>
  <cp:revision>10</cp:revision>
  <dcterms:modified xsi:type="dcterms:W3CDTF">2024-01-21T10:46:50Z</dcterms:modified>
</cp:coreProperties>
</file>