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Nunito" panose="020B0604020202020204" charset="0"/>
      <p:regular r:id="rId23"/>
      <p:bold r:id="rId24"/>
      <p:italic r:id="rId25"/>
      <p:boldItalic r:id="rId26"/>
    </p:embeddedFont>
    <p:embeddedFont>
      <p:font typeface="Maven Pro" panose="020B0604020202020204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847DA1B-B5AB-4377-A9DE-3A38ABA64477}">
  <a:tblStyle styleId="{6847DA1B-B5AB-4377-A9DE-3A38ABA644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6710" autoAdjust="0"/>
  </p:normalViewPr>
  <p:slideViewPr>
    <p:cSldViewPr snapToGrid="0">
      <p:cViewPr varScale="1">
        <p:scale>
          <a:sx n="71" d="100"/>
          <a:sy n="71" d="100"/>
        </p:scale>
        <p:origin x="1140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23022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9415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03b8394846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03b8394846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6294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208f4785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208f4785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983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03b8394846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03b8394846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6427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03b8394846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03b8394846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6173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03b8394846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103b8394846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749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03b8394846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03b8394846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8777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03b8394846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03b8394846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Python ‘=‘ usually</a:t>
            </a:r>
            <a:r>
              <a:rPr lang="en-US" baseline="0" dirty="0" smtClean="0"/>
              <a:t> store data by pointer objects.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81128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03b8394846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03b8394846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77290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03b8394846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03b8394846_0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For</a:t>
            </a:r>
            <a:r>
              <a:rPr lang="en-US" baseline="0" dirty="0" smtClean="0"/>
              <a:t> the second item, it actually has 1 list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It only points to that list, and 3 lists reuse them (only pointers, not creating new lists)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aseline="0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aseline="0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[[],[],[]]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When we put 1 in one list </a:t>
            </a:r>
            <a:r>
              <a:rPr lang="en-US" baseline="0" dirty="0" smtClean="0">
                <a:sym typeface="Wingdings" panose="05000000000000000000" pitchFamily="2" charset="2"/>
              </a:rPr>
              <a:t> x[0].append(1)</a:t>
            </a:r>
            <a:endParaRPr lang="en-US" baseline="0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In the second item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It becomes [ [1], [1], [1]]</a:t>
            </a:r>
          </a:p>
        </p:txBody>
      </p:sp>
    </p:spTree>
    <p:extLst>
      <p:ext uri="{BB962C8B-B14F-4D97-AF65-F5344CB8AC3E}">
        <p14:creationId xmlns:p14="http://schemas.microsoft.com/office/powerpoint/2010/main" val="31316763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03b8394846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03b8394846_0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74946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03b8394846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03b8394846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41433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103b8394846_0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103b8394846_0_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Some memory may be wasted (memory leak) when</a:t>
            </a:r>
            <a:r>
              <a:rPr lang="en-US" baseline="0" dirty="0" smtClean="0"/>
              <a:t> there is circular referencing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For garbage collection, when garbage collection time comes, if the root is not connected to roots, it will erase the object memory. (prevent memory leak issue)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211498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7dc4a7367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27dc4a7367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45877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7dc4a7367b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27dc4a7367b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The meaning</a:t>
            </a:r>
            <a:r>
              <a:rPr lang="en-US" baseline="0" dirty="0" smtClean="0"/>
              <a:t> of int16, in32</a:t>
            </a:r>
            <a:r>
              <a:rPr lang="en-US" baseline="0" smtClean="0"/>
              <a:t>, int64</a:t>
            </a:r>
            <a:endParaRPr lang="en-GB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https://doc.embedded-wizard.de/int-type#:~:text=Property%20reference-,Data%20types%3A%20int8%2C%20int16%2C%20int32,8%2C%2016%20or%2032%20bit.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36386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7dc4a7367b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7dc4a7367b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In python everything is a pointer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1329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8" name="Google Shape;268;p11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Bits and representation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</a:t>
            </a:r>
            <a:endParaRPr/>
          </a:p>
        </p:txBody>
      </p:sp>
      <p:pic>
        <p:nvPicPr>
          <p:cNvPr id="288" name="Google Shape;28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4688" y="1397975"/>
            <a:ext cx="6214615" cy="324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"/>
          <p:cNvSpPr txBox="1">
            <a:spLocks noGrp="1"/>
          </p:cNvSpPr>
          <p:nvPr>
            <p:ph type="title"/>
          </p:nvPr>
        </p:nvSpPr>
        <p:spPr>
          <a:xfrm>
            <a:off x="1303800" y="645400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Integer</a:t>
            </a:r>
            <a:endParaRPr/>
          </a:p>
        </p:txBody>
      </p:sp>
      <p:graphicFrame>
        <p:nvGraphicFramePr>
          <p:cNvPr id="294" name="Google Shape;294;p16"/>
          <p:cNvGraphicFramePr/>
          <p:nvPr/>
        </p:nvGraphicFramePr>
        <p:xfrm>
          <a:off x="1303800" y="1237870"/>
          <a:ext cx="7239000" cy="3741690"/>
        </p:xfrm>
        <a:graphic>
          <a:graphicData uri="http://schemas.openxmlformats.org/drawingml/2006/table">
            <a:tbl>
              <a:tblPr>
                <a:noFill/>
                <a:tableStyleId>{6847DA1B-B5AB-4377-A9DE-3A38ABA64477}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95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Bits</a:t>
                      </a:r>
                      <a:endParaRPr sz="1300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Base 10 (int3)</a:t>
                      </a: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1’s complement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Base 10 (int3)</a:t>
                      </a: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2’s complement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Base 10 (uint3)</a:t>
                      </a:r>
                      <a:endParaRPr sz="1300"/>
                    </a:p>
                  </a:txBody>
                  <a:tcPr marL="91425" marR="91425" marT="91425" marB="91425"/>
                </a:tc>
              </a:tr>
              <a:tr h="395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000</a:t>
                      </a:r>
                      <a:endParaRPr sz="1300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L="91425" marR="91425" marT="91425" marB="91425"/>
                </a:tc>
              </a:tr>
              <a:tr h="395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001</a:t>
                      </a:r>
                      <a:endParaRPr sz="1300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L="91425" marR="91425" marT="91425" marB="91425"/>
                </a:tc>
              </a:tr>
              <a:tr h="395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010</a:t>
                      </a:r>
                      <a:endParaRPr sz="1300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</a:t>
                      </a:r>
                      <a:endParaRPr sz="1300"/>
                    </a:p>
                  </a:txBody>
                  <a:tcPr marL="91425" marR="91425" marT="91425" marB="91425"/>
                </a:tc>
              </a:tr>
              <a:tr h="395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011</a:t>
                      </a:r>
                      <a:endParaRPr sz="1300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</a:t>
                      </a:r>
                      <a:endParaRPr sz="1300"/>
                    </a:p>
                  </a:txBody>
                  <a:tcPr marL="91425" marR="91425" marT="91425" marB="91425"/>
                </a:tc>
              </a:tr>
              <a:tr h="395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100</a:t>
                      </a:r>
                      <a:endParaRPr sz="1300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-3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-4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4</a:t>
                      </a:r>
                      <a:endParaRPr sz="1300"/>
                    </a:p>
                  </a:txBody>
                  <a:tcPr marL="91425" marR="91425" marT="91425" marB="91425"/>
                </a:tc>
              </a:tr>
              <a:tr h="395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101</a:t>
                      </a:r>
                      <a:endParaRPr sz="1300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-2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-3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5</a:t>
                      </a:r>
                      <a:endParaRPr sz="1300"/>
                    </a:p>
                  </a:txBody>
                  <a:tcPr marL="91425" marR="91425" marT="91425" marB="91425"/>
                </a:tc>
              </a:tr>
              <a:tr h="395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110</a:t>
                      </a:r>
                      <a:endParaRPr sz="1300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-1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-2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6</a:t>
                      </a:r>
                      <a:endParaRPr sz="1300"/>
                    </a:p>
                  </a:txBody>
                  <a:tcPr marL="91425" marR="91425" marT="91425" marB="91425"/>
                </a:tc>
              </a:tr>
              <a:tr h="395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111</a:t>
                      </a:r>
                      <a:endParaRPr sz="1300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-0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-1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7</a:t>
                      </a:r>
                      <a:endParaRPr sz="1300"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7"/>
          <p:cNvSpPr txBox="1">
            <a:spLocks noGrp="1"/>
          </p:cNvSpPr>
          <p:nvPr>
            <p:ph type="title"/>
          </p:nvPr>
        </p:nvSpPr>
        <p:spPr>
          <a:xfrm>
            <a:off x="1303800" y="645400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Integer</a:t>
            </a:r>
            <a:endParaRPr/>
          </a:p>
        </p:txBody>
      </p:sp>
      <p:sp>
        <p:nvSpPr>
          <p:cNvPr id="300" name="Google Shape;300;p17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</a:rPr>
              <a:t>Q1. What is the max integer in Python?</a:t>
            </a:r>
            <a:endParaRPr sz="19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</a:rPr>
              <a:t>Q2. What is a </a:t>
            </a:r>
            <a:r>
              <a:rPr lang="en" sz="1900" u="sng">
                <a:solidFill>
                  <a:srgbClr val="000000"/>
                </a:solidFill>
              </a:rPr>
              <a:t>long</a:t>
            </a:r>
            <a:r>
              <a:rPr lang="en" sz="1900">
                <a:solidFill>
                  <a:srgbClr val="000000"/>
                </a:solidFill>
              </a:rPr>
              <a:t> type?</a:t>
            </a:r>
            <a:endParaRPr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"/>
          <p:cNvSpPr txBox="1">
            <a:spLocks noGrp="1"/>
          </p:cNvSpPr>
          <p:nvPr>
            <p:ph type="title"/>
          </p:nvPr>
        </p:nvSpPr>
        <p:spPr>
          <a:xfrm>
            <a:off x="1303800" y="645400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Float</a:t>
            </a:r>
            <a:endParaRPr/>
          </a:p>
        </p:txBody>
      </p:sp>
      <p:pic>
        <p:nvPicPr>
          <p:cNvPr id="306" name="Google Shape;3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188" y="1797100"/>
            <a:ext cx="8429625" cy="10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8"/>
          <p:cNvSpPr txBox="1"/>
          <p:nvPr/>
        </p:nvSpPr>
        <p:spPr>
          <a:xfrm>
            <a:off x="564925" y="3462650"/>
            <a:ext cx="3301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Exponent is int8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(Like unsigned, but starts from -127):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4+8+16+32+64 -127 = -3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8" name="Google Shape;308;p18"/>
          <p:cNvSpPr txBox="1"/>
          <p:nvPr/>
        </p:nvSpPr>
        <p:spPr>
          <a:xfrm>
            <a:off x="4206325" y="3462650"/>
            <a:ext cx="2833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Fraction: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(1.01)</a:t>
            </a:r>
            <a:r>
              <a:rPr lang="en" baseline="-25000">
                <a:latin typeface="Nunito"/>
                <a:ea typeface="Nunito"/>
                <a:cs typeface="Nunito"/>
                <a:sym typeface="Nunito"/>
              </a:rPr>
              <a:t>2</a:t>
            </a:r>
            <a:endParaRPr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9" name="Google Shape;309;p18"/>
          <p:cNvSpPr txBox="1"/>
          <p:nvPr/>
        </p:nvSpPr>
        <p:spPr>
          <a:xfrm>
            <a:off x="564925" y="4212150"/>
            <a:ext cx="6685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(1.01)</a:t>
            </a:r>
            <a:r>
              <a:rPr lang="en" baseline="-25000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x 2</a:t>
            </a:r>
            <a:r>
              <a:rPr lang="en" baseline="30000">
                <a:latin typeface="Nunito"/>
                <a:ea typeface="Nunito"/>
                <a:cs typeface="Nunito"/>
                <a:sym typeface="Nunito"/>
              </a:rPr>
              <a:t>-3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(0.00101)</a:t>
            </a:r>
            <a:r>
              <a:rPr lang="en" baseline="-25000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= 2</a:t>
            </a:r>
            <a:r>
              <a:rPr lang="en" baseline="30000">
                <a:latin typeface="Nunito"/>
                <a:ea typeface="Nunito"/>
                <a:cs typeface="Nunito"/>
                <a:sym typeface="Nunito"/>
              </a:rPr>
              <a:t>-3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+ 2</a:t>
            </a:r>
            <a:r>
              <a:rPr lang="en" baseline="30000">
                <a:latin typeface="Nunito"/>
                <a:ea typeface="Nunito"/>
                <a:cs typeface="Nunito"/>
                <a:sym typeface="Nunito"/>
              </a:rPr>
              <a:t>-5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(0.15625)</a:t>
            </a:r>
            <a:r>
              <a:rPr lang="en" baseline="-25000">
                <a:latin typeface="Nunito"/>
                <a:ea typeface="Nunito"/>
                <a:cs typeface="Nunito"/>
                <a:sym typeface="Nunito"/>
              </a:rPr>
              <a:t>10</a:t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Address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8527" y="0"/>
            <a:ext cx="686104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21"/>
          <p:cNvPicPr preferRelativeResize="0"/>
          <p:nvPr/>
        </p:nvPicPr>
        <p:blipFill rotWithShape="1">
          <a:blip r:embed="rId3">
            <a:alphaModFix/>
          </a:blip>
          <a:srcRect t="39775" b="25624"/>
          <a:stretch/>
        </p:blipFill>
        <p:spPr>
          <a:xfrm>
            <a:off x="1435325" y="921975"/>
            <a:ext cx="6861050" cy="177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1"/>
          <p:cNvSpPr txBox="1"/>
          <p:nvPr/>
        </p:nvSpPr>
        <p:spPr>
          <a:xfrm>
            <a:off x="1200150" y="3216800"/>
            <a:ext cx="6743700" cy="14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"/>
              <a:buAutoNum type="arabicPeriod"/>
            </a:pPr>
            <a:r>
              <a:rPr lang="en" sz="1900">
                <a:latin typeface="Nunito"/>
                <a:ea typeface="Nunito"/>
                <a:cs typeface="Nunito"/>
                <a:sym typeface="Nunito"/>
              </a:rPr>
              <a:t>What is contained in my_list (position 160)?</a:t>
            </a:r>
            <a:endParaRPr sz="19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"/>
              <a:buAutoNum type="arabicPeriod"/>
            </a:pPr>
            <a:r>
              <a:rPr lang="en" sz="1900">
                <a:latin typeface="Nunito"/>
                <a:ea typeface="Nunito"/>
                <a:cs typeface="Nunito"/>
                <a:sym typeface="Nunito"/>
              </a:rPr>
              <a:t>What is contained in my_int? (position 24)</a:t>
            </a:r>
            <a:endParaRPr sz="19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"/>
              <a:buAutoNum type="arabicPeriod"/>
            </a:pPr>
            <a:r>
              <a:rPr lang="en" sz="1900">
                <a:latin typeface="Nunito"/>
                <a:ea typeface="Nunito"/>
                <a:cs typeface="Nunito"/>
                <a:sym typeface="Nunito"/>
              </a:rPr>
              <a:t>What does the list in position 64 look like?</a:t>
            </a:r>
            <a:endParaRPr sz="19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"/>
              <a:buAutoNum type="arabicPeriod"/>
            </a:pPr>
            <a:r>
              <a:rPr lang="en" sz="1900">
                <a:latin typeface="Nunito"/>
                <a:ea typeface="Nunito"/>
                <a:cs typeface="Nunito"/>
                <a:sym typeface="Nunito"/>
              </a:rPr>
              <a:t>Why does the index of a list begin with zero?</a:t>
            </a:r>
            <a:endParaRPr sz="21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2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</a:rPr>
              <a:t>What is the difference between the following two commands?</a:t>
            </a:r>
            <a:endParaRPr sz="1900">
              <a:solidFill>
                <a:srgbClr val="000000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AutoNum type="arabicPeriod"/>
            </a:pPr>
            <a:r>
              <a:rPr lang="en" sz="1900">
                <a:solidFill>
                  <a:srgbClr val="000000"/>
                </a:solidFill>
              </a:rPr>
              <a:t>[[] for _ in range(3)]</a:t>
            </a:r>
            <a:endParaRPr sz="1900">
              <a:solidFill>
                <a:srgbClr val="000000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AutoNum type="arabicPeriod"/>
            </a:pPr>
            <a:r>
              <a:rPr lang="en" sz="1900">
                <a:solidFill>
                  <a:srgbClr val="000000"/>
                </a:solidFill>
              </a:rPr>
              <a:t>[[]] * 3?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3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management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 Create an object, and operate</a:t>
            </a:r>
            <a:endParaRPr sz="19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mCat = CrazyCat()</a:t>
            </a:r>
            <a:endParaRPr sz="19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mCat.meow()</a:t>
            </a:r>
            <a:endParaRPr sz="19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 Then I set mCat to something else</a:t>
            </a:r>
            <a:endParaRPr sz="19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mCat = 1</a:t>
            </a:r>
            <a:endParaRPr sz="19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Where is my crazy cat now?</a:t>
            </a:r>
            <a:endParaRPr sz="19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1" name="Google Shape;341;p24"/>
          <p:cNvSpPr txBox="1">
            <a:spLocks noGrp="1"/>
          </p:cNvSpPr>
          <p:nvPr>
            <p:ph type="title"/>
          </p:nvPr>
        </p:nvSpPr>
        <p:spPr>
          <a:xfrm>
            <a:off x="1303800" y="645400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Leak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Solutions</a:t>
            </a:r>
            <a:endParaRPr/>
          </a:p>
        </p:txBody>
      </p:sp>
      <p:graphicFrame>
        <p:nvGraphicFramePr>
          <p:cNvPr id="347" name="Google Shape;347;p25"/>
          <p:cNvGraphicFramePr/>
          <p:nvPr/>
        </p:nvGraphicFramePr>
        <p:xfrm>
          <a:off x="952500" y="1499975"/>
          <a:ext cx="7239000" cy="3078360"/>
        </p:xfrm>
        <a:graphic>
          <a:graphicData uri="http://schemas.openxmlformats.org/drawingml/2006/table">
            <a:tbl>
              <a:tblPr>
                <a:noFill/>
                <a:tableStyleId>{6847DA1B-B5AB-4377-A9DE-3A38ABA64477}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Reference Counting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Garbage Collection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How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Every object created as a reference counter, counter +1 when an object is stored in a new variable, -1 when removed from a variable.  It is erased from memory when counter reaches 0.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Periodically check from programme root, confirm objects that is currently in use.  Objects not in use will be erased.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Fast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Accurate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Suffer from circular referencing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Slow</a:t>
                      </a:r>
                      <a:endParaRPr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pic>
        <p:nvPicPr>
          <p:cNvPr id="2" name="圖片 1"/>
          <p:cNvPicPr>
            <a:picLocks noChangeAspect="1"/>
          </p:cNvPicPr>
          <p:nvPr/>
        </p:nvPicPr>
        <p:blipFill rotWithShape="1">
          <a:blip r:embed="rId3"/>
          <a:srcRect l="55522" t="-1099" b="1"/>
          <a:stretch/>
        </p:blipFill>
        <p:spPr>
          <a:xfrm>
            <a:off x="8191500" y="231227"/>
            <a:ext cx="3301863" cy="381997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6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Takeaways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Checkpoint 1</a:t>
            </a:r>
            <a:endParaRPr/>
          </a:p>
        </p:txBody>
      </p:sp>
      <p:sp>
        <p:nvSpPr>
          <p:cNvPr id="358" name="Google Shape;358;p27"/>
          <p:cNvSpPr/>
          <p:nvPr/>
        </p:nvSpPr>
        <p:spPr>
          <a:xfrm>
            <a:off x="6250975" y="406050"/>
            <a:ext cx="2430300" cy="1482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In neural network models like ChatGPT and Stable Diffusion, it is very common to see half-float.  Using half-float can reduce the model size by half (e.g. 6Gb → 3Gb).  However, half float arithmetics are supported only in GPU but not in CPU, that is why we seldom see them in daily programming.</a:t>
            </a:r>
            <a:endParaRPr sz="1000"/>
          </a:p>
        </p:txBody>
      </p:sp>
      <p:sp>
        <p:nvSpPr>
          <p:cNvPr id="359" name="Google Shape;359;p27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What is the meaning of int16, int32, int64?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What is the meaning of a 32-bit floating point number?  There exist other floating point numbers like: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Double precision floating point number (64 bit)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Half floating point (16 bit)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does the size of float affect programming?</a:t>
            </a: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In Python, integers are complex data structures, that is why it does NOT suffer from </a:t>
            </a:r>
            <a:r>
              <a:rPr lang="en" b="1"/>
              <a:t>Integer overflow</a:t>
            </a:r>
            <a:r>
              <a:rPr lang="en"/>
              <a:t>.  This is also one of the reason why Python programs in general runs 10 times slower than C programs.</a:t>
            </a:r>
            <a:endParaRPr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Checkpoint 2</a:t>
            </a:r>
            <a:endParaRPr/>
          </a:p>
        </p:txBody>
      </p:sp>
      <p:sp>
        <p:nvSpPr>
          <p:cNvPr id="365" name="Google Shape;365;p28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would you describe a variable in Python?</a:t>
            </a: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A container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A pointer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Since a variable is</a:t>
            </a:r>
            <a:r>
              <a:rPr lang="en" b="1"/>
              <a:t> a pointer</a:t>
            </a:r>
            <a:r>
              <a:rPr lang="en"/>
              <a:t>, some properties thus exist:</a:t>
            </a: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Multiple variables referring to the same object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A list containing itself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Need to clean up objects that are no longer referred, otherwise memory-leak will happen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644</Words>
  <Application>Microsoft Office PowerPoint</Application>
  <PresentationFormat>如螢幕大小 (16:9)</PresentationFormat>
  <Paragraphs>114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2" baseType="lpstr">
      <vt:lpstr>Consolas</vt:lpstr>
      <vt:lpstr>Nunito</vt:lpstr>
      <vt:lpstr>Arial</vt:lpstr>
      <vt:lpstr>Maven Pro</vt:lpstr>
      <vt:lpstr>Wingdings</vt:lpstr>
      <vt:lpstr>Momentum</vt:lpstr>
      <vt:lpstr>Memory </vt:lpstr>
      <vt:lpstr>Bits and representation</vt:lpstr>
      <vt:lpstr>Memory</vt:lpstr>
      <vt:lpstr>Integer</vt:lpstr>
      <vt:lpstr>Integer</vt:lpstr>
      <vt:lpstr>Float</vt:lpstr>
      <vt:lpstr>Memory Address</vt:lpstr>
      <vt:lpstr>PowerPoint 簡報</vt:lpstr>
      <vt:lpstr>PowerPoint 簡報</vt:lpstr>
      <vt:lpstr>PowerPoint 簡報</vt:lpstr>
      <vt:lpstr>Memory management</vt:lpstr>
      <vt:lpstr>Memory Leak</vt:lpstr>
      <vt:lpstr>Solutions</vt:lpstr>
      <vt:lpstr>Takeaways</vt:lpstr>
      <vt:lpstr>Checkpoint 1</vt:lpstr>
      <vt:lpstr>Checkpoint 2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</dc:title>
  <cp:lastModifiedBy>Microsoft 帳戶</cp:lastModifiedBy>
  <cp:revision>4</cp:revision>
  <dcterms:modified xsi:type="dcterms:W3CDTF">2024-01-21T08:36:39Z</dcterms:modified>
</cp:coreProperties>
</file>