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Maven Pro" pitchFamily="2" charset="77"/>
      <p:regular r:id="rId49"/>
      <p:bold r:id="rId50"/>
    </p:embeddedFont>
    <p:embeddedFont>
      <p:font typeface="Nunito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008AB8-9893-42AA-8FD2-A3D9837B904B}">
  <a:tblStyle styleId="{C3008AB8-9893-42AA-8FD2-A3D9837B9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83639"/>
  </p:normalViewPr>
  <p:slideViewPr>
    <p:cSldViewPr snapToGrid="0">
      <p:cViewPr>
        <p:scale>
          <a:sx n="84" d="100"/>
          <a:sy n="84" d="100"/>
        </p:scale>
        <p:origin x="1352" y="1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8416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36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6127f4c17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6127f4c17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05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6127f4c17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16127f4c17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0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127f4c17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127f4c17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98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6127f4c17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6127f4c17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404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6127f4c17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16127f4c17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461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6127f4c17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6127f4c17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747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16127f4c17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16127f4c17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765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6127f4c17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6127f4c17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357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16127f4c17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16127f4c17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444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16127f4c17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16127f4c17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651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6127f4c17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16127f4c17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420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16127f4c17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16127f4c17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136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6127f4c17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6127f4c17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439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16127f4c17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16127f4c17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487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6127f4c17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6127f4c17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790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6127f4c17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16127f4c17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738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6127f4c17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16127f4c17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466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16127f4c17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16127f4c17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527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16127f4c17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16127f4c17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897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6127f4c17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16127f4c17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12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16127f4c17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16127f4c17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296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6127f4c17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16127f4c17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128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16127f4c17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16127f4c17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074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16127f4c17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16127f4c17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3357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16127f4c17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16127f4c17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9364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6127f4c17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6127f4c17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090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6127f4c17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16127f4c17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5343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16127f4c17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16127f4c17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867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16127f4c17_0_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16127f4c17_0_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734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16127f4c17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16127f4c17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814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6127f4c17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16127f4c17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1251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16127f4c17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16127f4c17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5211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6127f4c17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6127f4c17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6397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16127f4c1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16127f4c17_0_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7272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16127f4c1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16127f4c17_0_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5907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16127f4c17_0_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16127f4c17_0_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3279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16127f4c17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16127f4c17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527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16127f4c17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16127f4c17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7900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16127f4c17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16127f4c17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831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16127f4c17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16127f4c17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9020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6127f4c17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6127f4c17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Formed by 2 types: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type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type relat4ed to signature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</a:t>
            </a:r>
            <a:r>
              <a:rPr lang="en-US" baseline="0" dirty="0"/>
              <a:t> id comes with signature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157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depoints.net/U+6B6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mn178.github.io/online-tools/sha256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gseng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coder.link/result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 &gt;&gt;&gt; Bits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is human stuff.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is computer stuff.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8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a mapping standard (Encoding) to convert the two ideas.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ASCII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UTF8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Big5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Latin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……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Text  -------------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encode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-------------&gt;  Bits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Text  &lt;------------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decode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--------------  Bits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(type: String)                              (type: Bytes)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</a:t>
            </a:r>
            <a:endParaRPr/>
          </a:p>
        </p:txBody>
      </p:sp>
      <p:sp>
        <p:nvSpPr>
          <p:cNvPr id="294" name="Google Shape;294;p16"/>
          <p:cNvSpPr txBox="1">
            <a:spLocks noGrp="1"/>
          </p:cNvSpPr>
          <p:nvPr>
            <p:ph type="body" idx="1"/>
          </p:nvPr>
        </p:nvSpPr>
        <p:spPr>
          <a:xfrm>
            <a:off x="583950" y="1544750"/>
            <a:ext cx="2225700" cy="13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https://upload.wikimedia.org/wikipedia/commons/d/dd/ASCII-Table.svg</a:t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54" y="0"/>
            <a:ext cx="633434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6"/>
          <p:cNvSpPr txBox="1"/>
          <p:nvPr/>
        </p:nvSpPr>
        <p:spPr>
          <a:xfrm>
            <a:off x="617700" y="3191975"/>
            <a:ext cx="2158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Task: Decode the following bits by ASCII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010000110111001001111001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5085600" y="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8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UTF-8</a:t>
            </a:r>
            <a:endParaRPr/>
          </a:p>
        </p:txBody>
      </p:sp>
      <p:pic>
        <p:nvPicPr>
          <p:cNvPr id="303" name="Google Shape;3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525" y="1417450"/>
            <a:ext cx="7330951" cy="23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906525" y="3968275"/>
            <a:ext cx="421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What bits encode into the character: 正 ?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Check it in: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https://codepoints.net/U+6B63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5085600" y="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8~32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>
            <a:spLocks noGrp="1"/>
          </p:cNvSpPr>
          <p:nvPr>
            <p:ph type="body" idx="1"/>
          </p:nvPr>
        </p:nvSpPr>
        <p:spPr>
          <a:xfrm>
            <a:off x="1303800" y="679525"/>
            <a:ext cx="7030500" cy="4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/>
              <a:t>ASCII</a:t>
            </a:r>
            <a:r>
              <a:rPr lang="en" sz="2200"/>
              <a:t> and </a:t>
            </a:r>
            <a:r>
              <a:rPr lang="en" sz="2200" u="sng"/>
              <a:t>UTF-8</a:t>
            </a:r>
            <a:r>
              <a:rPr lang="en" sz="2200"/>
              <a:t> are encodings for daily text usage. 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They exist to solve the problem: 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u="sng"/>
              <a:t>How to represent </a:t>
            </a:r>
            <a:r>
              <a:rPr lang="en" sz="2200" b="1" u="sng"/>
              <a:t>characters</a:t>
            </a:r>
            <a:r>
              <a:rPr lang="en" sz="2200" u="sng"/>
              <a:t> with </a:t>
            </a:r>
            <a:r>
              <a:rPr lang="en" sz="2200" b="1" u="sng"/>
              <a:t>bits</a:t>
            </a:r>
            <a:r>
              <a:rPr lang="en" sz="2200" u="sng"/>
              <a:t>?</a:t>
            </a:r>
            <a:endParaRPr sz="2200" u="sng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u="sng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But they are not good to solve the problem: 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u="sng"/>
              <a:t>How to represent </a:t>
            </a:r>
            <a:r>
              <a:rPr lang="en" sz="2200" b="1" u="sng"/>
              <a:t>bits</a:t>
            </a:r>
            <a:r>
              <a:rPr lang="en" sz="2200" u="sng"/>
              <a:t> with </a:t>
            </a:r>
            <a:r>
              <a:rPr lang="en" sz="2200" b="1" u="sng"/>
              <a:t>characters</a:t>
            </a:r>
            <a:r>
              <a:rPr lang="en" sz="2200" u="sng"/>
              <a:t>?</a:t>
            </a:r>
            <a:endParaRPr sz="2200" u="sng"/>
          </a:p>
        </p:txBody>
      </p:sp>
      <p:sp>
        <p:nvSpPr>
          <p:cNvPr id="311" name="Google Shape;311;p18"/>
          <p:cNvSpPr txBox="1"/>
          <p:nvPr/>
        </p:nvSpPr>
        <p:spPr>
          <a:xfrm>
            <a:off x="7348850" y="1683950"/>
            <a:ext cx="887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Nunito"/>
                <a:ea typeface="Nunito"/>
                <a:cs typeface="Nunito"/>
                <a:sym typeface="Nunito"/>
              </a:rPr>
              <a:t>✅</a:t>
            </a:r>
            <a:endParaRPr sz="6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7348850" y="3442825"/>
            <a:ext cx="887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Nunito"/>
                <a:ea typeface="Nunito"/>
                <a:cs typeface="Nunito"/>
                <a:sym typeface="Nunito"/>
              </a:rPr>
              <a:t>❌</a:t>
            </a:r>
            <a:endParaRPr sz="6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integer creation</a:t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503675"/>
            <a:ext cx="1754367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/>
        </p:nvSpPr>
        <p:spPr>
          <a:xfrm>
            <a:off x="4417775" y="1747375"/>
            <a:ext cx="40584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python, we use the prefixes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0b : Binary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0o : Octal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0x : Hexadecimal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bytes creation</a:t>
            </a:r>
            <a:endParaRPr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913" y="1461400"/>
            <a:ext cx="7230187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 &gt;&gt;&gt; 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open a text file and see:</a:t>
            </a:r>
            <a:endParaRPr/>
          </a:p>
        </p:txBody>
      </p:sp>
      <p:sp>
        <p:nvSpPr>
          <p:cNvPr id="336" name="Google Shape;336;p22"/>
          <p:cNvSpPr txBox="1">
            <a:spLocks noGrp="1"/>
          </p:cNvSpPr>
          <p:nvPr>
            <p:ph type="body" idx="1"/>
          </p:nvPr>
        </p:nvSpPr>
        <p:spPr>
          <a:xfrm>
            <a:off x="1303800" y="164482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010000110100001011110000001101110011100100111100101000010000110111001001111001011011100100111100011110001100011110001100101100000110100001011100011110001100101100000110100001011110000001101110011100100111100101000010001100000011011100111001001111001010000100011100101101100110100101101100101101100101101111000111100011001011000001101000000000000000110111010001111000110010110000011010000101111000000110111001110010011110010100001000011100100111100101001000110000110001100101100000110100001011110000001101110011100100111100101000010000010000110111001000001111000110010110</a:t>
            </a:r>
            <a:endParaRPr/>
          </a:p>
        </p:txBody>
      </p:sp>
      <p:pic>
        <p:nvPicPr>
          <p:cNvPr id="337" name="Google Shape;3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500" y="4063327"/>
            <a:ext cx="1848626" cy="8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“Encoding” needed</a:t>
            </a:r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 we use ASCII or UTF-8?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dirty="0"/>
              <a:t>🙅</a:t>
            </a:r>
            <a:endParaRPr sz="25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ASCII or UTF-8 can turn every characters into bit, but not the other way around.</a:t>
            </a:r>
            <a:endParaRPr dirty="0"/>
          </a:p>
        </p:txBody>
      </p:sp>
      <p:pic>
        <p:nvPicPr>
          <p:cNvPr id="344" name="Google Shape;3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113" y="3525522"/>
            <a:ext cx="6335774" cy="11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Hex (Base16) encoding</a:t>
            </a:r>
            <a:endParaRPr/>
          </a:p>
        </p:txBody>
      </p:sp>
      <p:sp>
        <p:nvSpPr>
          <p:cNvPr id="350" name="Google Shape;350;p24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0100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0011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0010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1001</a:t>
            </a:r>
            <a:endParaRPr sz="4700" u="sng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   4:3   :   7:2   :   7:9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51" name="Google Shape;3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805025"/>
            <a:ext cx="1718875" cy="5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4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4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Base64 encoding</a:t>
            </a:r>
            <a:endParaRPr/>
          </a:p>
        </p:txBody>
      </p:sp>
      <p:sp>
        <p:nvSpPr>
          <p:cNvPr id="358" name="Google Shape;358;p25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010000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110111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001001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111001</a:t>
            </a:r>
            <a:endParaRPr sz="4900" u="sng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   Q  :   3  :   J  :   5</a:t>
            </a:r>
            <a:endParaRPr sz="3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6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0" name="Google Shape;3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917525"/>
            <a:ext cx="6096501" cy="5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08" y="244699"/>
            <a:ext cx="3261337" cy="151254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53939" y="1367204"/>
            <a:ext cx="3921770" cy="249728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-1459523" y="1051962"/>
            <a:ext cx="2844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Arbitary</a:t>
            </a:r>
            <a:r>
              <a:rPr lang="en-US" dirty="0"/>
              <a:t> 64bits for image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Base58 encoding</a:t>
            </a:r>
            <a:endParaRPr/>
          </a:p>
        </p:txBody>
      </p:sp>
      <p:sp>
        <p:nvSpPr>
          <p:cNvPr id="366" name="Google Shape;366;p26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org = 0b010000110111001001111001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           org % 58 → 37 → e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     org // 58 % 58 → 56 → 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org // 58 // 58 % 58 → 37 → e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org // 58 // 58 // 58 % 58 → 22 → P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3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≈5.858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8" name="Google Shape;3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909250"/>
            <a:ext cx="6009825" cy="4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Efficiency</a:t>
            </a:r>
            <a:endParaRPr/>
          </a:p>
        </p:txBody>
      </p:sp>
      <p:graphicFrame>
        <p:nvGraphicFramePr>
          <p:cNvPr id="374" name="Google Shape;374;p27"/>
          <p:cNvGraphicFramePr/>
          <p:nvPr/>
        </p:nvGraphicFramePr>
        <p:xfrm>
          <a:off x="952500" y="1710575"/>
          <a:ext cx="7239000" cy="3047850"/>
        </p:xfrm>
        <a:graphic>
          <a:graphicData uri="http://schemas.openxmlformats.org/drawingml/2006/table">
            <a:tbl>
              <a:tblPr>
                <a:noFill/>
                <a:tableStyleId>{C3008AB8-9893-42AA-8FD2-A3D9837B904B}</a:tableStyleId>
              </a:tblPr>
              <a:tblGrid>
                <a:gridCol w="12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Encoding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Character Set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Efficiency 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(Number of bits per character/8)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Hex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[0-9A-F]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50%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64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[0-9a-zA-Z+/]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75%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58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[0-9a-zA-Z] exclude 0,O,I,l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73%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85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[0-9a-zA-Z]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and symbols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!#$%&amp;()*+-;&lt;=&gt;?@^_`{|}~]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80%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</a:t>
            </a:r>
            <a:endParaRPr/>
          </a:p>
        </p:txBody>
      </p:sp>
      <p:sp>
        <p:nvSpPr>
          <p:cNvPr id="385" name="Google Shape;385;p29"/>
          <p:cNvSpPr txBox="1">
            <a:spLocks noGrp="1"/>
          </p:cNvSpPr>
          <p:nvPr>
            <p:ph type="body" idx="1"/>
          </p:nvPr>
        </p:nvSpPr>
        <p:spPr>
          <a:xfrm>
            <a:off x="1303800" y="1627600"/>
            <a:ext cx="7030500" cy="2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u="sng"/>
              <a:t>one-way</a:t>
            </a:r>
            <a:r>
              <a:rPr lang="en"/>
              <a:t> mapping from bits of </a:t>
            </a:r>
            <a:r>
              <a:rPr lang="en" i="1"/>
              <a:t>variable</a:t>
            </a:r>
            <a:r>
              <a:rPr lang="en"/>
              <a:t> length into </a:t>
            </a:r>
            <a:r>
              <a:rPr lang="en" i="1"/>
              <a:t>fixed</a:t>
            </a:r>
            <a:r>
              <a:rPr lang="en"/>
              <a:t> length bits.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Popular algorithms: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MD family: MD5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 family: SHA-0, SHA-1, SHA-2, SHA-3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common algorithms are SHA-256 (under SHA-2 umbrella), SHA3-256 (under SHA-3 umbrella).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 it out: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https://emn178.github.io/online-tools/sha256.html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Password storage</a:t>
            </a:r>
            <a:endParaRPr/>
          </a:p>
        </p:txBody>
      </p:sp>
      <p:graphicFrame>
        <p:nvGraphicFramePr>
          <p:cNvPr id="391" name="Google Shape;391;p30"/>
          <p:cNvGraphicFramePr/>
          <p:nvPr/>
        </p:nvGraphicFramePr>
        <p:xfrm>
          <a:off x="952500" y="1809750"/>
          <a:ext cx="2736700" cy="2964900"/>
        </p:xfrm>
        <a:graphic>
          <a:graphicData uri="http://schemas.openxmlformats.org/drawingml/2006/table">
            <a:tbl>
              <a:tblPr>
                <a:noFill/>
                <a:tableStyleId>{C3008AB8-9893-42AA-8FD2-A3D9837B904B}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password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bob123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cat456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dan789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2" name="Google Shape;392;p30"/>
          <p:cNvSpPr txBox="1"/>
          <p:nvPr/>
        </p:nvSpPr>
        <p:spPr>
          <a:xfrm>
            <a:off x="4388850" y="3092100"/>
            <a:ext cx="36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393" name="Google Shape;393;p30"/>
          <p:cNvGraphicFramePr/>
          <p:nvPr/>
        </p:nvGraphicFramePr>
        <p:xfrm>
          <a:off x="5454800" y="1809750"/>
          <a:ext cx="2736700" cy="2964900"/>
        </p:xfrm>
        <a:graphic>
          <a:graphicData uri="http://schemas.openxmlformats.org/drawingml/2006/table">
            <a:tbl>
              <a:tblPr>
                <a:noFill/>
                <a:tableStyleId>{C3008AB8-9893-42AA-8FD2-A3D9837B904B}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password_crc32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09ba6a26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3144af02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34b2f5c4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Checksum</a:t>
            </a:r>
            <a:endParaRPr/>
          </a:p>
        </p:txBody>
      </p:sp>
      <p:pic>
        <p:nvPicPr>
          <p:cNvPr id="399" name="Google Shape;3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25" y="1597875"/>
            <a:ext cx="5168557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225" y="1458677"/>
            <a:ext cx="42100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mapping</a:t>
            </a:r>
            <a:endParaRPr/>
          </a:p>
        </p:txBody>
      </p:sp>
      <p:sp>
        <p:nvSpPr>
          <p:cNvPr id="406" name="Google Shape;406;p32"/>
          <p:cNvSpPr txBox="1">
            <a:spLocks noGrp="1"/>
          </p:cNvSpPr>
          <p:nvPr>
            <p:ph type="body" idx="1"/>
          </p:nvPr>
        </p:nvSpPr>
        <p:spPr>
          <a:xfrm>
            <a:off x="884400" y="1933700"/>
            <a:ext cx="7869300" cy="28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hash values can be computed and stored in a dictionary.  There are some online services serving these know reverse mappings.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“ba7816bf8f01cfea414140de5dae2223b00361a396177a9cb410ff61f20015ad” is a sha256 hash for a particular string, what is it?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Salting</a:t>
            </a:r>
            <a:endParaRPr/>
          </a:p>
        </p:txBody>
      </p:sp>
      <p:sp>
        <p:nvSpPr>
          <p:cNvPr id="412" name="Google Shape;412;p3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To prevent such attack, websites often add salt into original value before hashing.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salt = “YIsnVR0jqgv1CXM3”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stored_value = sha256(“abc” + salt)</a:t>
            </a:r>
            <a:endParaRPr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 Encryption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AES</a:t>
            </a:r>
            <a:endParaRPr/>
          </a:p>
        </p:txBody>
      </p:sp>
      <p:sp>
        <p:nvSpPr>
          <p:cNvPr id="423" name="Google Shape;423;p35"/>
          <p:cNvSpPr txBox="1">
            <a:spLocks noGrp="1"/>
          </p:cNvSpPr>
          <p:nvPr>
            <p:ph type="body" idx="1"/>
          </p:nvPr>
        </p:nvSpPr>
        <p:spPr>
          <a:xfrm>
            <a:off x="3487725" y="424350"/>
            <a:ext cx="5221200" cy="42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Crypto.Cipher </a:t>
            </a:r>
            <a:r>
              <a:rPr lang="en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Crypto.Random </a:t>
            </a:r>
            <a:r>
              <a:rPr lang="en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get_random_bytes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 = get_random_bytes(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iv = get_random_bytes(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 = AES.new(key, AES.MODE_EAX, iv)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 = </a:t>
            </a:r>
            <a:r>
              <a:rPr lang="en">
                <a:solidFill>
                  <a:srgbClr val="8A822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b"I love you."</a:t>
            </a:r>
            <a:endParaRPr>
              <a:solidFill>
                <a:srgbClr val="8A822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encrypted = aes_obj.encrypt(message)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 = AES.new(key, AES.MODE_EAX, iv)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(aes_obj.decrypt(encrypted))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424" name="Google Shape;4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796825"/>
            <a:ext cx="14097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 Encryption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RSA</a:t>
            </a:r>
            <a:endParaRPr/>
          </a:p>
        </p:txBody>
      </p:sp>
      <p:sp>
        <p:nvSpPr>
          <p:cNvPr id="435" name="Google Shape;435;p3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public key of RSA is two numbers: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Modulus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Exponent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encrypt the message we calculate: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encrypted = message ^ exponent % modulus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decrypt the message we calculate: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original_message = encrypted ^ private_key % modulus</a:t>
            </a:r>
            <a:endParaRPr>
              <a:highlight>
                <a:schemeClr val="accent4"/>
              </a:highlight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202806" y="772732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Key </a:t>
            </a:r>
          </a:p>
          <a:p>
            <a:r>
              <a:rPr lang="en-US" dirty="0"/>
              <a:t>Private Key</a:t>
            </a:r>
            <a:endParaRPr lang="en-GB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218" y="44998"/>
            <a:ext cx="5340624" cy="301005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060414" y="1270743"/>
            <a:ext cx="2254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public key to encrypt</a:t>
            </a:r>
          </a:p>
          <a:p>
            <a:r>
              <a:rPr lang="en-US" dirty="0"/>
              <a:t>Use private key to decrypt</a:t>
            </a:r>
            <a:endParaRPr lang="en-GB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091" y="2788933"/>
            <a:ext cx="6159817" cy="38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Inspect the certificate of this website, find out its certificate information.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https://www.hangseng.com/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https://decoder.link/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verification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(Digital signature)</a:t>
            </a:r>
            <a:endParaRPr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20" y="340405"/>
            <a:ext cx="8985712" cy="4324572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841500" y="3987800"/>
            <a:ext cx="6089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use private key to “encrypt” SIGN this message by private key</a:t>
            </a:r>
          </a:p>
          <a:p>
            <a:r>
              <a:rPr lang="en-US" dirty="0"/>
              <a:t>This is not called an encrypted msg. It is called signature for this message.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RSA</a:t>
            </a:r>
            <a:endParaRPr/>
          </a:p>
        </p:txBody>
      </p:sp>
      <p:sp>
        <p:nvSpPr>
          <p:cNvPr id="451" name="Google Shape;451;p4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sign a message: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</a:rPr>
              <a:t>signature = </a:t>
            </a: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message ^ private_key % modulus</a:t>
            </a:r>
            <a:endParaRPr>
              <a:highlight>
                <a:schemeClr val="accent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accent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verify a message: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</a:rPr>
              <a:t>signature</a:t>
            </a: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 ^ exponent % modulus == message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ECDSA</a:t>
            </a:r>
            <a:endParaRPr/>
          </a:p>
        </p:txBody>
      </p:sp>
      <p:sp>
        <p:nvSpPr>
          <p:cNvPr id="457" name="Google Shape;457;p41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signature algorithm is based on Elliptic Curve, which has very special mathematical properties.  (Under a mathematical domain: Number Theory)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ECDSA is known to be faster and more secure than RSA.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Elliptic curves</a:t>
            </a:r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3888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Elliptic curves share the same formula: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 baseline="30000"/>
              <a:t>2</a:t>
            </a:r>
            <a:r>
              <a:rPr lang="en"/>
              <a:t> = x</a:t>
            </a:r>
            <a:r>
              <a:rPr lang="en" baseline="30000"/>
              <a:t>3</a:t>
            </a:r>
            <a:r>
              <a:rPr lang="en"/>
              <a:t> + ax + b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out all standard curves: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openssl ecparam -list_curves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64" name="Google Shape;4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950" y="488201"/>
            <a:ext cx="4182125" cy="40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Strength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</a:t>
            </a:r>
            <a:endParaRPr/>
          </a:p>
        </p:txBody>
      </p:sp>
      <p:pic>
        <p:nvPicPr>
          <p:cNvPr id="475" name="Google Shape;4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838" y="1597875"/>
            <a:ext cx="6562326" cy="23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4"/>
          <p:cNvSpPr txBox="1"/>
          <p:nvPr/>
        </p:nvSpPr>
        <p:spPr>
          <a:xfrm>
            <a:off x="1290900" y="4234600"/>
            <a:ext cx="6562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https://www.ndss-symposium.org/wp-content/uploads/2017/09/Speeding-up-Secure-Web-Transactions-Using-Elliptic-Curve-Cryptography-Vipul-Gupta.pdf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7" name="Google Shape;477;p44"/>
          <p:cNvSpPr txBox="1"/>
          <p:nvPr/>
        </p:nvSpPr>
        <p:spPr>
          <a:xfrm>
            <a:off x="6059475" y="1007550"/>
            <a:ext cx="298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*Paper published in 2004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SSL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SSL</a:t>
            </a:r>
            <a:endParaRPr/>
          </a:p>
        </p:txBody>
      </p:sp>
      <p:sp>
        <p:nvSpPr>
          <p:cNvPr id="488" name="Google Shape;488;p46"/>
          <p:cNvSpPr txBox="1">
            <a:spLocks noGrp="1"/>
          </p:cNvSpPr>
          <p:nvPr>
            <p:ph type="body" idx="1"/>
          </p:nvPr>
        </p:nvSpPr>
        <p:spPr>
          <a:xfrm>
            <a:off x="318600" y="1894100"/>
            <a:ext cx="30999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tasks in SSL: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Verify peer’s identity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Encrypt the data transmitted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Confirm data integrity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agreement is called a </a:t>
            </a:r>
            <a:r>
              <a:rPr lang="en" u="sng"/>
              <a:t>Cipher</a:t>
            </a:r>
            <a:r>
              <a:rPr lang="en"/>
              <a:t>.</a:t>
            </a:r>
            <a:endParaRPr/>
          </a:p>
        </p:txBody>
      </p:sp>
      <p:pic>
        <p:nvPicPr>
          <p:cNvPr id="489" name="Google Shape;4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500" y="835975"/>
            <a:ext cx="5630700" cy="39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6"/>
          <p:cNvSpPr/>
          <p:nvPr/>
        </p:nvSpPr>
        <p:spPr>
          <a:xfrm>
            <a:off x="6030675" y="2935200"/>
            <a:ext cx="2074800" cy="253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675" y="-2807769"/>
            <a:ext cx="5564084" cy="2975082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-177800" y="-1765300"/>
            <a:ext cx="4165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this certificate?</a:t>
            </a:r>
          </a:p>
          <a:p>
            <a:r>
              <a:rPr lang="en-US" dirty="0"/>
              <a:t>Certificate Authority</a:t>
            </a:r>
          </a:p>
          <a:p>
            <a:r>
              <a:rPr lang="en-US" dirty="0"/>
              <a:t>CA1 (has private and public key pair)</a:t>
            </a:r>
          </a:p>
          <a:p>
            <a:r>
              <a:rPr lang="en-US" dirty="0"/>
              <a:t>CA2 (has private and public key pair)</a:t>
            </a:r>
          </a:p>
          <a:p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00" y="-453921"/>
            <a:ext cx="9144000" cy="4204271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644900" y="311150"/>
            <a:ext cx="3926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list of public keys are </a:t>
            </a:r>
            <a:r>
              <a:rPr lang="en-US" dirty="0" err="1"/>
              <a:t>alrdy</a:t>
            </a:r>
            <a:r>
              <a:rPr lang="en-US" dirty="0"/>
              <a:t> embed in browser</a:t>
            </a:r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037" y="4553161"/>
            <a:ext cx="9144000" cy="449666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9715500" y="4273550"/>
            <a:ext cx="2714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Browser will not verify this if …. </a:t>
            </a:r>
            <a:endParaRPr lang="en-GB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SSL Handshake</a:t>
            </a:r>
            <a:endParaRPr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connected, client and server need to agree on a communication agreement.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very important part is </a:t>
            </a:r>
            <a:r>
              <a:rPr lang="en" b="1"/>
              <a:t>Key Exchange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Although RSA has the capability to encrypt and decrypt messages, it has limited message size. I.e. It cannot encrypt the whole http body to be sent.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Solution: </a:t>
            </a:r>
            <a:r>
              <a:rPr lang="en" u="sng"/>
              <a:t>Exchange a key for use in subsequent symmetric encryption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Exchange</a:t>
            </a:r>
            <a:endParaRPr/>
          </a:p>
        </p:txBody>
      </p:sp>
      <p:sp>
        <p:nvSpPr>
          <p:cNvPr id="502" name="Google Shape;502;p48"/>
          <p:cNvSpPr txBox="1">
            <a:spLocks noGrp="1"/>
          </p:cNvSpPr>
          <p:nvPr>
            <p:ph type="body" idx="1"/>
          </p:nvPr>
        </p:nvSpPr>
        <p:spPr>
          <a:xfrm>
            <a:off x="1303800" y="1683975"/>
            <a:ext cx="7030500" cy="2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RSA</a:t>
            </a:r>
            <a:endParaRPr sz="16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An AES key is decided by the client, then encrypt it using the server’s public key.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The encrypted key is then send to server 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Server decrypt the encrypted key</a:t>
            </a:r>
            <a:endParaRPr sz="14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DH family</a:t>
            </a:r>
            <a:endParaRPr sz="16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Each party create a pair of public-private key using an agreed formula.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Send the public part to their peer.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Calculate an AES key with itself’s private key and its peer’s public key.</a:t>
            </a:r>
            <a:endParaRPr sz="1400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https://en.wikipedia.org/wiki/Diffie%E2%80%93Hellman_key_exchange</a:t>
            </a:r>
            <a:endParaRPr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  <p:pic>
        <p:nvPicPr>
          <p:cNvPr id="508" name="Google Shape;5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050" y="1238000"/>
            <a:ext cx="3563724" cy="26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9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5637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2800"/>
              </a:spcBef>
              <a:spcAft>
                <a:spcPts val="0"/>
              </a:spcAft>
              <a:buNone/>
            </a:pPr>
            <a:r>
              <a:rPr lang="en"/>
              <a:t>List of recommended ciphers in TLS1.3</a:t>
            </a:r>
            <a:endParaRPr/>
          </a:p>
          <a:p>
            <a:pPr marL="457200" lvl="0" indent="-298450" algn="l" rtl="0"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TLS_AES_256_GCM_SHA384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TLS_CHACHA20_POLY1305_SHA256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TLS_AES_128_GCM_SHA256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TLS_AES_128_CCM_8_SHA256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TLS_AES_128_CCM_SHA256</a:t>
            </a:r>
            <a:endParaRPr/>
          </a:p>
          <a:p>
            <a:pPr marL="0" lvl="0" indent="0" algn="l" rtl="0">
              <a:spcBef>
                <a:spcPts val="28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  <p:sp>
        <p:nvSpPr>
          <p:cNvPr id="515" name="Google Shape;515;p50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67779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2800"/>
              </a:spcBef>
              <a:spcAft>
                <a:spcPts val="0"/>
              </a:spcAft>
              <a:buNone/>
            </a:pPr>
            <a:r>
              <a:rPr lang="en"/>
              <a:t>List of recommended ciphers in TLS1.2</a:t>
            </a:r>
            <a:endParaRPr/>
          </a:p>
          <a:p>
            <a:pPr marL="457200" lvl="0" indent="-298450" algn="l" rtl="0"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TLS_ECDHE_ECDSA_WITH_AES_256_GCM_SHA384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TLS_ECDHE_ECDSA_WITH_AES_128_CBC_SHA256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TLS_ECDHE_ECDSA_WITH_AES_256_CBC_SHA384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TLS_ECDHE_ECDSA_WITH_AES_128_CBC_SHA256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TLS_ECDHE_ECDSA_WITH_AES_256_CBC_SHA384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TLS_ECDHE_RSA_WITH_AES_128_GCM_SHA256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…. 37 in total</a:t>
            </a:r>
            <a:endParaRPr/>
          </a:p>
          <a:p>
            <a:pPr marL="457200" lvl="0" indent="0" algn="l" rtl="0">
              <a:spcBef>
                <a:spcPts val="2800"/>
              </a:spcBef>
              <a:spcAft>
                <a:spcPts val="28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1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HMAC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HMAC</a:t>
            </a:r>
            <a:endParaRPr/>
          </a:p>
        </p:txBody>
      </p:sp>
      <p:sp>
        <p:nvSpPr>
          <p:cNvPr id="526" name="Google Shape;526;p5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Hash-based message authentication code. May be used to simultaneously verify both the data integrity and authenticity of a message.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Very similar to salted hash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password is “mixed” with the original message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hash is generated by the “mixture” of message and password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JWT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</a:t>
            </a:r>
            <a:endParaRPr/>
          </a:p>
        </p:txBody>
      </p:sp>
      <p:sp>
        <p:nvSpPr>
          <p:cNvPr id="537" name="Google Shape;537;p54"/>
          <p:cNvSpPr txBox="1">
            <a:spLocks noGrp="1"/>
          </p:cNvSpPr>
          <p:nvPr>
            <p:ph type="body" idx="1"/>
          </p:nvPr>
        </p:nvSpPr>
        <p:spPr>
          <a:xfrm>
            <a:off x="75500" y="1766125"/>
            <a:ext cx="3417000" cy="29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Web Token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token stores in cookies.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Carries minimal information about the current user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token carries a signature or HMAC which can verify the authenticity of the information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Replace the old-style session-based website serving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38" name="Google Shape;5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800" y="747501"/>
            <a:ext cx="5430024" cy="35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598" y="-2392429"/>
            <a:ext cx="7861704" cy="299100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7710" y="272349"/>
            <a:ext cx="9004763" cy="4400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1391</Words>
  <Application>Microsoft Macintosh PowerPoint</Application>
  <PresentationFormat>On-screen Show (16:9)</PresentationFormat>
  <Paragraphs>249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Courier New</vt:lpstr>
      <vt:lpstr>Maven Pro</vt:lpstr>
      <vt:lpstr>Nunito</vt:lpstr>
      <vt:lpstr>Consolas</vt:lpstr>
      <vt:lpstr>Arial</vt:lpstr>
      <vt:lpstr>Momentum</vt:lpstr>
      <vt:lpstr>Cryptography</vt:lpstr>
      <vt:lpstr>Text  &gt;&gt;&gt; Bits</vt:lpstr>
      <vt:lpstr>Text is human stuff.  Bit is computer stuff.</vt:lpstr>
      <vt:lpstr>ASCII</vt:lpstr>
      <vt:lpstr>UTF-8</vt:lpstr>
      <vt:lpstr>PowerPoint Presentation</vt:lpstr>
      <vt:lpstr>Python integer creation</vt:lpstr>
      <vt:lpstr>Python bytes creation</vt:lpstr>
      <vt:lpstr>Bits  &gt;&gt;&gt; Text</vt:lpstr>
      <vt:lpstr>Imagine you open a text file and see:</vt:lpstr>
      <vt:lpstr>“Encoding” needed</vt:lpstr>
      <vt:lpstr>Hex (Base16) encoding</vt:lpstr>
      <vt:lpstr>Base64 encoding</vt:lpstr>
      <vt:lpstr>Base58 encoding</vt:lpstr>
      <vt:lpstr>Storage Efficiency</vt:lpstr>
      <vt:lpstr>Hash</vt:lpstr>
      <vt:lpstr>Hash</vt:lpstr>
      <vt:lpstr>Application: Password storage</vt:lpstr>
      <vt:lpstr>Application: Checksum</vt:lpstr>
      <vt:lpstr>Reverse mapping</vt:lpstr>
      <vt:lpstr>Salting</vt:lpstr>
      <vt:lpstr>Symmetric Encryption</vt:lpstr>
      <vt:lpstr>AES</vt:lpstr>
      <vt:lpstr>Asymmetric Encryption</vt:lpstr>
      <vt:lpstr>RSA</vt:lpstr>
      <vt:lpstr>PowerPoint Presentation</vt:lpstr>
      <vt:lpstr>Identity verification (Digital signature)</vt:lpstr>
      <vt:lpstr>RSA</vt:lpstr>
      <vt:lpstr>ECDSA</vt:lpstr>
      <vt:lpstr>Elliptic curves</vt:lpstr>
      <vt:lpstr>Key Strength</vt:lpstr>
      <vt:lpstr>Strength</vt:lpstr>
      <vt:lpstr>Application: SSL</vt:lpstr>
      <vt:lpstr>SSL</vt:lpstr>
      <vt:lpstr>SSL Handshake</vt:lpstr>
      <vt:lpstr>Key Exchange</vt:lpstr>
      <vt:lpstr>Cipher</vt:lpstr>
      <vt:lpstr>Cipher</vt:lpstr>
      <vt:lpstr>Application: HMAC</vt:lpstr>
      <vt:lpstr>HMAC</vt:lpstr>
      <vt:lpstr>Application: JWT</vt:lpstr>
      <vt:lpstr>JWT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</dc:title>
  <cp:lastModifiedBy>Choi, Alfred</cp:lastModifiedBy>
  <cp:revision>10</cp:revision>
  <dcterms:modified xsi:type="dcterms:W3CDTF">2025-01-12T00:52:37Z</dcterms:modified>
</cp:coreProperties>
</file>