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6858000" cy="9144000"/>
  <p:embeddedFontLst>
    <p:embeddedFont>
      <p:font typeface="Amatic SC" panose="020B0604020202020204" charset="-79"/>
      <p:regular r:id="rId23"/>
      <p:bold r:id="rId24"/>
    </p:embeddedFont>
    <p:embeddedFont>
      <p:font typeface="Nunito" panose="020B0604020202020204" charset="0"/>
      <p:regular r:id="rId25"/>
      <p:bold r:id="rId26"/>
      <p:italic r:id="rId27"/>
      <p:boldItalic r:id="rId28"/>
    </p:embeddedFont>
    <p:embeddedFont>
      <p:font typeface="Maven Pro" panose="020B0604020202020204" charset="0"/>
      <p:regular r:id="rId29"/>
      <p:bold r:id="rId30"/>
    </p:embeddedFont>
    <p:embeddedFont>
      <p:font typeface="Consolas" panose="020B0609020204030204" pitchFamily="49" charset="0"/>
      <p:regular r:id="rId31"/>
      <p:bold r:id="rId32"/>
      <p:italic r:id="rId33"/>
      <p:boldItalic r:id="rId34"/>
    </p:embeddedFont>
    <p:embeddedFont>
      <p:font typeface="Roboto" panose="020B0604020202020204" charset="0"/>
      <p:regular r:id="rId35"/>
      <p:bold r:id="rId36"/>
      <p:italic r:id="rId37"/>
      <p:boldItalic r:id="rId38"/>
    </p:embeddedFont>
    <p:embeddedFont>
      <p:font typeface="Lora" panose="020B0604020202020204" charset="0"/>
      <p:regular r:id="rId39"/>
      <p:bold r:id="rId40"/>
      <p:italic r:id="rId41"/>
      <p:boldItalic r:id="rId42"/>
    </p:embeddedFont>
    <p:embeddedFont>
      <p:font typeface="Source Code Pro" panose="020B0604020202020204" charset="0"/>
      <p:regular r:id="rId43"/>
      <p:bold r:id="rId44"/>
      <p:italic r:id="rId45"/>
      <p:boldItalic r:id="rId4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7" roundtripDataSignature="AMtx7mh5hZU+/o9uUTVBtTsFf6Ryh1p6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30D975D-B13C-43DC-8DA2-365D2CCA6473}">
  <a:tblStyle styleId="{330D975D-B13C-43DC-8DA2-365D2CCA647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5" d="100"/>
          <a:sy n="145" d="100"/>
        </p:scale>
        <p:origin x="-3388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openxmlformats.org/officeDocument/2006/relationships/font" Target="fonts/font17.fntdata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42" Type="http://schemas.openxmlformats.org/officeDocument/2006/relationships/font" Target="fonts/font20.fntdata"/><Relationship Id="rId47" Type="http://customschemas.google.com/relationships/presentationmetadata" Target="metadata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7.fntdata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font" Target="fonts/font15.fntdata"/><Relationship Id="rId40" Type="http://schemas.openxmlformats.org/officeDocument/2006/relationships/font" Target="fonts/font18.fntdata"/><Relationship Id="rId45" Type="http://schemas.openxmlformats.org/officeDocument/2006/relationships/font" Target="fonts/font2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4" Type="http://schemas.openxmlformats.org/officeDocument/2006/relationships/font" Target="fonts/font2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43" Type="http://schemas.openxmlformats.org/officeDocument/2006/relationships/font" Target="fonts/font21.fntdata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font" Target="fonts/font16.fntdata"/><Relationship Id="rId46" Type="http://schemas.openxmlformats.org/officeDocument/2006/relationships/font" Target="fonts/font24.fntdata"/><Relationship Id="rId20" Type="http://schemas.openxmlformats.org/officeDocument/2006/relationships/slide" Target="slides/slide19.xml"/><Relationship Id="rId41" Type="http://schemas.openxmlformats.org/officeDocument/2006/relationships/font" Target="fonts/font1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0074478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" name="Google Shape;5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99400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80c3d03935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g280c3d03935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17998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5c24afdf80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g25c24afdf80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0391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aece9d3aea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aece9d3aea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81774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aece9d3aea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aece9d3aea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513631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aece9d3aea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aece9d3aea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42637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aece9d3aea_0_3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g2aece9d3aea_0_3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25488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aece9d3aea_0_3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aece9d3aea_0_3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08382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aece9d3aea_0_3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aece9d3aea_0_3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322256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e9d3aea_0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e9d3aea_0_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62928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aece9d3aea_0_3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aece9d3aea_0_3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208018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aece9d3aea_0_3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aece9d3aea_0_3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Yes.  Since file extension does not modify the file itself, it makes no difference for the python interpreter to read between a .py file and a .txt file.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320703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aece9d3aea_0_6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g2aece9d3aea_0_6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54165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aece9d3aea_0_6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aece9d3aea_0_6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03266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aece9d3aea_0_6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aece9d3aea_0_6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853958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aece9d3aea_0_6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aece9d3aea_0_6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02695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aece9d3aea_0_9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8" name="Google Shape;188;g2aece9d3aea_0_9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864868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aece9d3aea_0_9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2aece9d3aea_0_9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22571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aece9d3aea_0_9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2aece9d3aea_0_9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733351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aece9d3aea_0_9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2aece9d3aea_0_9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No, PyCharm does not execute python scripts, but the python interpreter executes.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No, jupyter is backed by a python interpreter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574149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0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50"/>
          <p:cNvSpPr txBox="1">
            <a:spLocks noGrp="1"/>
          </p:cNvSpPr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endParaRPr/>
          </a:p>
        </p:txBody>
      </p:sp>
      <p:sp>
        <p:nvSpPr>
          <p:cNvPr id="12" name="Google Shape;12;p50"/>
          <p:cNvSpPr txBox="1">
            <a:spLocks noGrp="1"/>
          </p:cNvSpPr>
          <p:nvPr>
            <p:ph type="subTitle" idx="1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5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51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1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7" name="Google Shape;17;p51"/>
          <p:cNvSpPr txBox="1">
            <a:spLocks noGrp="1"/>
          </p:cNvSpPr>
          <p:nvPr>
            <p:ph type="body" idx="2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8" name="Google Shape;18;p5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2"/>
          <p:cNvSpPr txBox="1">
            <a:spLocks noGrp="1"/>
          </p:cNvSpPr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1" name="Google Shape;21;p5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3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3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p5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4"/>
          <p:cNvSpPr txBox="1">
            <a:spLocks noGrp="1"/>
          </p:cNvSpPr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28" name="Google Shape;28;p5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5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>
            <a:endParaRPr/>
          </a:p>
        </p:txBody>
      </p:sp>
      <p:sp>
        <p:nvSpPr>
          <p:cNvPr id="31" name="Google Shape;31;p55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5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4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6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5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7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" name="Google Shape;38;p57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" name="Google Shape;39;p57"/>
          <p:cNvSpPr txBox="1">
            <a:spLocks noGrp="1"/>
          </p:cNvSpPr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40" name="Google Shape;40;p57"/>
          <p:cNvSpPr txBox="1">
            <a:spLocks noGrp="1"/>
          </p:cNvSpPr>
          <p:nvPr>
            <p:ph type="subTitle" idx="1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1" name="Google Shape;41;p57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>
            <a:endParaRPr/>
          </a:p>
        </p:txBody>
      </p:sp>
      <p:sp>
        <p:nvSpPr>
          <p:cNvPr id="42" name="Google Shape;42;p5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8"/>
          <p:cNvSpPr txBox="1">
            <a:spLocks noGrp="1"/>
          </p:cNvSpPr>
          <p:nvPr>
            <p:ph type="body" idx="1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sz="24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>
            <a:endParaRPr/>
          </a:p>
        </p:txBody>
      </p:sp>
      <p:sp>
        <p:nvSpPr>
          <p:cNvPr id="45" name="Google Shape;45;p5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9"/>
          <p:cNvSpPr txBox="1">
            <a:spLocks noGrp="1"/>
          </p:cNvSpPr>
          <p:nvPr>
            <p:ph type="title" hasCustomPrompt="1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59"/>
          <p:cNvSpPr txBox="1">
            <a:spLocks noGrp="1"/>
          </p:cNvSpPr>
          <p:nvPr>
            <p:ph type="body" idx="1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>
            <a:endParaRPr/>
          </a:p>
        </p:txBody>
      </p:sp>
      <p:sp>
        <p:nvSpPr>
          <p:cNvPr id="49" name="Google Shape;49;p5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beach-day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9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endParaRPr/>
          </a:p>
        </p:txBody>
      </p:sp>
      <p:sp>
        <p:nvSpPr>
          <p:cNvPr id="7" name="Google Shape;7;p49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sz="14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sz="14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sz="14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sz="14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sz="14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sz="14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sz="14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Source Code Pro"/>
              <a:buChar char="■"/>
              <a:defRPr sz="14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8" name="Google Shape;8;p4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ython.org/downloads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5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"/>
          <p:cNvSpPr txBox="1">
            <a:spLocks noGrp="1"/>
          </p:cNvSpPr>
          <p:nvPr>
            <p:ph type="ctrTitle"/>
          </p:nvPr>
        </p:nvSpPr>
        <p:spPr>
          <a:xfrm>
            <a:off x="1446600" y="1032275"/>
            <a:ext cx="6250800" cy="18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0D0D0D"/>
                </a:solidFill>
                <a:latin typeface="Maven Pro"/>
                <a:ea typeface="Maven Pro"/>
                <a:cs typeface="Maven Pro"/>
                <a:sym typeface="Maven Pro"/>
              </a:rPr>
              <a:t>Development Tool:</a:t>
            </a:r>
            <a:endParaRPr sz="2800">
              <a:solidFill>
                <a:srgbClr val="0D0D0D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0">
                <a:solidFill>
                  <a:srgbClr val="0D0D0D"/>
                </a:solidFill>
                <a:latin typeface="Maven Pro"/>
                <a:ea typeface="Maven Pro"/>
                <a:cs typeface="Maven Pro"/>
                <a:sym typeface="Maven Pro"/>
              </a:rPr>
              <a:t>Python, Colab, Jupyter, Anaconda, PyCharm, VirtualEnv</a:t>
            </a:r>
            <a:endParaRPr sz="2800" b="0">
              <a:solidFill>
                <a:srgbClr val="0D0D0D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57" name="Google Shape;57;p1"/>
          <p:cNvSpPr txBox="1">
            <a:spLocks noGrp="1"/>
          </p:cNvSpPr>
          <p:nvPr>
            <p:ph type="body" idx="4294967295"/>
          </p:nvPr>
        </p:nvSpPr>
        <p:spPr>
          <a:xfrm>
            <a:off x="0" y="0"/>
            <a:ext cx="1283700" cy="3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Version: 13012024</a:t>
            </a:r>
            <a:endParaRPr sz="8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8" name="Google Shape;58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56575" y="121850"/>
            <a:ext cx="448200" cy="43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80c3d03935_0_57"/>
          <p:cNvSpPr txBox="1">
            <a:spLocks noGrp="1"/>
          </p:cNvSpPr>
          <p:nvPr>
            <p:ph type="ctrTitle"/>
          </p:nvPr>
        </p:nvSpPr>
        <p:spPr>
          <a:xfrm>
            <a:off x="1446600" y="1350450"/>
            <a:ext cx="6250800" cy="12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</a:pPr>
            <a:r>
              <a:rPr lang="en" sz="3000">
                <a:solidFill>
                  <a:srgbClr val="073763"/>
                </a:solidFill>
                <a:latin typeface="Lora"/>
                <a:ea typeface="Lora"/>
                <a:cs typeface="Lora"/>
                <a:sym typeface="Lora"/>
              </a:rPr>
              <a:t>Python</a:t>
            </a:r>
            <a:endParaRPr sz="3000">
              <a:solidFill>
                <a:srgbClr val="073763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64" name="Google Shape;64;g280c3d03935_0_5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56575" y="121850"/>
            <a:ext cx="448200" cy="43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g25c24afdf80_0_7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56575" y="121850"/>
            <a:ext cx="448200" cy="43685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g25c24afdf80_0_72"/>
          <p:cNvSpPr txBox="1"/>
          <p:nvPr/>
        </p:nvSpPr>
        <p:spPr>
          <a:xfrm>
            <a:off x="304825" y="25962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rgbClr val="424242"/>
                </a:solidFill>
                <a:latin typeface="Maven Pro"/>
                <a:ea typeface="Maven Pro"/>
                <a:cs typeface="Maven Pro"/>
                <a:sym typeface="Maven Pro"/>
              </a:rPr>
              <a:t>Not every program has a graphical user interface</a:t>
            </a:r>
            <a:endParaRPr sz="2800" b="1">
              <a:solidFill>
                <a:srgbClr val="424242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71" name="Google Shape;71;g25c24afdf80_0_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1625" y="1705050"/>
            <a:ext cx="1126850" cy="112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g25c24afdf80_0_7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60475" y="3242350"/>
            <a:ext cx="1249150" cy="124915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g25c24afdf80_0_72"/>
          <p:cNvSpPr txBox="1"/>
          <p:nvPr/>
        </p:nvSpPr>
        <p:spPr>
          <a:xfrm>
            <a:off x="2770450" y="1960675"/>
            <a:ext cx="51228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-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Allow user to use mouse and keyboard to input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-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Needs a GUI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4" name="Google Shape;74;g25c24afdf80_0_72"/>
          <p:cNvSpPr txBox="1"/>
          <p:nvPr/>
        </p:nvSpPr>
        <p:spPr>
          <a:xfrm>
            <a:off x="2770450" y="3521500"/>
            <a:ext cx="51228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-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Run logic as instructed in the python script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-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No need a GUI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aece9d3aea_0_23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Maven Pro"/>
                <a:ea typeface="Maven Pro"/>
                <a:cs typeface="Maven Pro"/>
                <a:sym typeface="Maven Pro"/>
              </a:rPr>
              <a:t>A lot of programs run without GUI</a:t>
            </a:r>
            <a:endParaRPr sz="2800"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80" name="Google Shape;80;g2aece9d3aea_0_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4613" y="1372600"/>
            <a:ext cx="6894766" cy="324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g2aece9d3aea_0_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56575" y="121850"/>
            <a:ext cx="448200" cy="43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aece9d3aea_0_28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Maven Pro"/>
                <a:ea typeface="Maven Pro"/>
                <a:cs typeface="Maven Pro"/>
                <a:sym typeface="Maven Pro"/>
              </a:rPr>
              <a:t>Python has no GUI</a:t>
            </a:r>
            <a:endParaRPr sz="2800"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87" name="Google Shape;87;g2aece9d3aea_0_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25" y="1113050"/>
            <a:ext cx="5471523" cy="324082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g2aece9d3aea_0_28"/>
          <p:cNvSpPr txBox="1"/>
          <p:nvPr/>
        </p:nvSpPr>
        <p:spPr>
          <a:xfrm>
            <a:off x="5513450" y="1420700"/>
            <a:ext cx="31068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Programs without a GUI run in a terminal.  Some can even run in the background without terminal.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In Mac - Terminal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In Windows - CMD or Powershell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89" name="Google Shape;89;g2aece9d3aea_0_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56575" y="121850"/>
            <a:ext cx="448200" cy="43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aece9d3aea_0_34"/>
          <p:cNvSpPr txBox="1">
            <a:spLocks noGrp="1"/>
          </p:cNvSpPr>
          <p:nvPr>
            <p:ph type="title"/>
          </p:nvPr>
        </p:nvSpPr>
        <p:spPr>
          <a:xfrm>
            <a:off x="311700" y="121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Maven Pro"/>
                <a:ea typeface="Maven Pro"/>
                <a:cs typeface="Maven Pro"/>
                <a:sym typeface="Maven Pro"/>
              </a:rPr>
              <a:t>How to run python in terminal?</a:t>
            </a:r>
            <a:endParaRPr sz="280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95" name="Google Shape;95;g2aece9d3aea_0_34"/>
          <p:cNvSpPr txBox="1">
            <a:spLocks noGrp="1"/>
          </p:cNvSpPr>
          <p:nvPr>
            <p:ph type="body" idx="1"/>
          </p:nvPr>
        </p:nvSpPr>
        <p:spPr>
          <a:xfrm>
            <a:off x="417800" y="840050"/>
            <a:ext cx="70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400"/>
              <a:buFont typeface="Nunito"/>
              <a:buAutoNum type="arabicPeriod"/>
            </a:pPr>
            <a:r>
              <a:rPr lang="en" sz="1400" dirty="0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Start the python interpreter, then enter python code line by line</a:t>
            </a:r>
            <a:endParaRPr sz="1400" dirty="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914400" lvl="1" indent="-317500" algn="l" rtl="0">
              <a:spcBef>
                <a:spcPts val="1600"/>
              </a:spcBef>
              <a:spcAft>
                <a:spcPts val="0"/>
              </a:spcAft>
              <a:buClr>
                <a:srgbClr val="0D0D0D"/>
              </a:buClr>
              <a:buSzPts val="1400"/>
              <a:buFont typeface="Nunito"/>
              <a:buAutoNum type="alphaLcPeriod"/>
            </a:pPr>
            <a:r>
              <a:rPr lang="en" dirty="0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Type "python" or "python3"</a:t>
            </a:r>
            <a:endParaRPr dirty="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400"/>
              <a:buFont typeface="Nunito"/>
              <a:buAutoNum type="arabicPeriod"/>
            </a:pPr>
            <a:r>
              <a:rPr lang="en" sz="1400" dirty="0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Start the python interpreter with a path to python code, then the interpreter will execute the code in the file line by line.</a:t>
            </a:r>
            <a:endParaRPr sz="1400" dirty="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914400" lvl="1" indent="-317500" algn="l" rtl="0">
              <a:spcBef>
                <a:spcPts val="1600"/>
              </a:spcBef>
              <a:spcAft>
                <a:spcPts val="0"/>
              </a:spcAft>
              <a:buClr>
                <a:srgbClr val="0D0D0D"/>
              </a:buClr>
              <a:buSzPts val="1400"/>
              <a:buFont typeface="Nunito"/>
              <a:buAutoNum type="alphaLcPeriod"/>
            </a:pPr>
            <a:r>
              <a:rPr lang="en" dirty="0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Type "python \path\to\file" or "python3 \path\to\file"</a:t>
            </a:r>
            <a:endParaRPr dirty="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Example:</a:t>
            </a:r>
            <a:endParaRPr sz="1400" dirty="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96" name="Google Shape;96;g2aece9d3aea_0_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2175" y="2831625"/>
            <a:ext cx="2699599" cy="135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g2aece9d3aea_0_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82175" y="4296928"/>
            <a:ext cx="4355698" cy="70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g2aece9d3aea_0_3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56575" y="121850"/>
            <a:ext cx="448200" cy="4368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字方塊 1"/>
          <p:cNvSpPr txBox="1"/>
          <p:nvPr/>
        </p:nvSpPr>
        <p:spPr>
          <a:xfrm>
            <a:off x="5135880" y="3154680"/>
            <a:ext cx="461857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‘python’:</a:t>
            </a:r>
          </a:p>
          <a:p>
            <a:r>
              <a:rPr lang="en-US" dirty="0" smtClean="0"/>
              <a:t>It means you want to run the txt in the python interpreter</a:t>
            </a:r>
          </a:p>
          <a:p>
            <a:endParaRPr lang="en-GB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aece9d3aea_0_312"/>
          <p:cNvSpPr txBox="1">
            <a:spLocks noGrp="1"/>
          </p:cNvSpPr>
          <p:nvPr>
            <p:ph type="ctrTitle"/>
          </p:nvPr>
        </p:nvSpPr>
        <p:spPr>
          <a:xfrm>
            <a:off x="1446600" y="1350450"/>
            <a:ext cx="6250800" cy="12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73763"/>
                </a:solidFill>
                <a:latin typeface="Lora"/>
                <a:ea typeface="Lora"/>
                <a:cs typeface="Lora"/>
                <a:sym typeface="Lora"/>
              </a:rPr>
              <a:t>Compile vs Interpret</a:t>
            </a:r>
            <a:endParaRPr sz="3000">
              <a:solidFill>
                <a:srgbClr val="073763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104" name="Google Shape;104;g2aece9d3aea_0_3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56575" y="121850"/>
            <a:ext cx="448200" cy="4368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字方塊 1"/>
          <p:cNvSpPr txBox="1"/>
          <p:nvPr/>
        </p:nvSpPr>
        <p:spPr>
          <a:xfrm>
            <a:off x="1639910" y="261870"/>
            <a:ext cx="4474302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Compiler </a:t>
            </a:r>
            <a:r>
              <a:rPr lang="en-US" dirty="0" err="1" smtClean="0"/>
              <a:t>programme</a:t>
            </a:r>
            <a:r>
              <a:rPr lang="en-US" dirty="0" smtClean="0"/>
              <a:t>:</a:t>
            </a:r>
          </a:p>
          <a:p>
            <a:r>
              <a:rPr lang="en-US" dirty="0" smtClean="0"/>
              <a:t>Turn C,C++ -</a:t>
            </a:r>
            <a:r>
              <a:rPr lang="en-US" dirty="0" smtClean="0">
                <a:sym typeface="Wingdings" panose="05000000000000000000" pitchFamily="2" charset="2"/>
              </a:rPr>
              <a:t> to machine codes</a:t>
            </a:r>
          </a:p>
          <a:p>
            <a:r>
              <a:rPr lang="en-US" dirty="0" smtClean="0">
                <a:sym typeface="Wingdings" panose="05000000000000000000" pitchFamily="2" charset="2"/>
              </a:rPr>
              <a:t>Build one or windows, </a:t>
            </a:r>
            <a:r>
              <a:rPr lang="en-US" dirty="0" err="1" smtClean="0">
                <a:sym typeface="Wingdings" panose="05000000000000000000" pitchFamily="2" charset="2"/>
              </a:rPr>
              <a:t>linus</a:t>
            </a:r>
            <a:r>
              <a:rPr lang="en-US" dirty="0" smtClean="0">
                <a:sym typeface="Wingdings" panose="05000000000000000000" pitchFamily="2" charset="2"/>
              </a:rPr>
              <a:t>/ intel or arm chips?</a:t>
            </a:r>
          </a:p>
          <a:p>
            <a:r>
              <a:rPr lang="en-US" dirty="0" smtClean="0">
                <a:sym typeface="Wingdings" panose="05000000000000000000" pitchFamily="2" charset="2"/>
              </a:rPr>
              <a:t>We have to build different machine codes</a:t>
            </a:r>
          </a:p>
          <a:p>
            <a:r>
              <a:rPr lang="en-US" dirty="0" smtClean="0">
                <a:sym typeface="Wingdings" panose="05000000000000000000" pitchFamily="2" charset="2"/>
              </a:rPr>
              <a:t>Windows you can see .exe but in </a:t>
            </a:r>
            <a:r>
              <a:rPr lang="en-US" dirty="0" err="1" smtClean="0">
                <a:sym typeface="Wingdings" panose="05000000000000000000" pitchFamily="2" charset="2"/>
              </a:rPr>
              <a:t>linux</a:t>
            </a:r>
            <a:r>
              <a:rPr lang="en-US" dirty="0" smtClean="0">
                <a:sym typeface="Wingdings" panose="05000000000000000000" pitchFamily="2" charset="2"/>
              </a:rPr>
              <a:t> u don’t see this</a:t>
            </a:r>
            <a:endParaRPr lang="en-GB" dirty="0"/>
          </a:p>
        </p:txBody>
      </p:sp>
      <p:sp>
        <p:nvSpPr>
          <p:cNvPr id="3" name="文字方塊 2"/>
          <p:cNvSpPr txBox="1"/>
          <p:nvPr/>
        </p:nvSpPr>
        <p:spPr>
          <a:xfrm>
            <a:off x="107324" y="2253803"/>
            <a:ext cx="801854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Interpreter does not require compilation </a:t>
            </a:r>
          </a:p>
          <a:p>
            <a:r>
              <a:rPr lang="en-US" dirty="0" smtClean="0"/>
              <a:t>It is not the real </a:t>
            </a:r>
            <a:r>
              <a:rPr lang="en-US" dirty="0" err="1" smtClean="0"/>
              <a:t>programme</a:t>
            </a:r>
            <a:r>
              <a:rPr lang="en-US" dirty="0" smtClean="0"/>
              <a:t>. The real </a:t>
            </a:r>
            <a:r>
              <a:rPr lang="en-US" dirty="0" err="1" smtClean="0"/>
              <a:t>programme</a:t>
            </a:r>
            <a:r>
              <a:rPr lang="en-US" dirty="0" smtClean="0"/>
              <a:t> is </a:t>
            </a:r>
            <a:r>
              <a:rPr lang="en-US" dirty="0" err="1" smtClean="0"/>
              <a:t>lke</a:t>
            </a:r>
            <a:r>
              <a:rPr lang="en-US" dirty="0" smtClean="0"/>
              <a:t> python interpreter. This is compiled already </a:t>
            </a:r>
          </a:p>
          <a:p>
            <a:r>
              <a:rPr lang="en-US" dirty="0" smtClean="0"/>
              <a:t>The python interpreter needs to compile different version: Windows/ Linux</a:t>
            </a:r>
          </a:p>
          <a:p>
            <a:r>
              <a:rPr lang="en-US" dirty="0" smtClean="0"/>
              <a:t>Though different version, they work in the same way. </a:t>
            </a:r>
            <a:r>
              <a:rPr lang="en-US" dirty="0" err="1" smtClean="0"/>
              <a:t>Intepreter</a:t>
            </a:r>
            <a:r>
              <a:rPr lang="en-US" dirty="0" smtClean="0"/>
              <a:t> read </a:t>
            </a:r>
            <a:r>
              <a:rPr lang="en-US" dirty="0" err="1" smtClean="0"/>
              <a:t>whay</a:t>
            </a:r>
            <a:r>
              <a:rPr lang="en-US" dirty="0" smtClean="0"/>
              <a:t> I’m saying </a:t>
            </a:r>
            <a:endParaRPr lang="en-GB" dirty="0"/>
          </a:p>
        </p:txBody>
      </p:sp>
      <p:sp>
        <p:nvSpPr>
          <p:cNvPr id="4" name="矩形 3"/>
          <p:cNvSpPr/>
          <p:nvPr/>
        </p:nvSpPr>
        <p:spPr>
          <a:xfrm>
            <a:off x="6783000" y="887727"/>
            <a:ext cx="1266296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Original interpreter is C-code</a:t>
            </a:r>
            <a:endParaRPr lang="en-GB" dirty="0"/>
          </a:p>
        </p:txBody>
      </p:sp>
      <p:sp>
        <p:nvSpPr>
          <p:cNvPr id="5" name="矩形 4"/>
          <p:cNvSpPr/>
          <p:nvPr/>
        </p:nvSpPr>
        <p:spPr>
          <a:xfrm>
            <a:off x="-136588" y="887726"/>
            <a:ext cx="1480284" cy="120294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Python JS R are interpreted language already</a:t>
            </a:r>
            <a:endParaRPr lang="en-GB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1934" y="0"/>
            <a:ext cx="3379101" cy="33137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aece9d3aea_0_318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Maven Pro"/>
                <a:ea typeface="Maven Pro"/>
                <a:cs typeface="Maven Pro"/>
                <a:sym typeface="Maven Pro"/>
              </a:rPr>
              <a:t>Compiled Program</a:t>
            </a:r>
            <a:endParaRPr sz="280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10" name="Google Shape;110;g2aece9d3aea_0_318"/>
          <p:cNvSpPr txBox="1">
            <a:spLocks noGrp="1"/>
          </p:cNvSpPr>
          <p:nvPr>
            <p:ph type="body" idx="1"/>
          </p:nvPr>
        </p:nvSpPr>
        <p:spPr>
          <a:xfrm>
            <a:off x="411875" y="1152275"/>
            <a:ext cx="7030500" cy="85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C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C++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GoLang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1" name="Google Shape;111;g2aece9d3aea_0_318"/>
          <p:cNvSpPr/>
          <p:nvPr/>
        </p:nvSpPr>
        <p:spPr>
          <a:xfrm>
            <a:off x="1303800" y="2778825"/>
            <a:ext cx="1310400" cy="1113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</a:t>
            </a:r>
            <a:endParaRPr/>
          </a:p>
        </p:txBody>
      </p:sp>
      <p:sp>
        <p:nvSpPr>
          <p:cNvPr id="112" name="Google Shape;112;g2aece9d3aea_0_318"/>
          <p:cNvSpPr/>
          <p:nvPr/>
        </p:nvSpPr>
        <p:spPr>
          <a:xfrm>
            <a:off x="5525675" y="2778825"/>
            <a:ext cx="1310400" cy="111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Executable</a:t>
            </a:r>
            <a:endParaRPr/>
          </a:p>
        </p:txBody>
      </p:sp>
      <p:cxnSp>
        <p:nvCxnSpPr>
          <p:cNvPr id="113" name="Google Shape;113;g2aece9d3aea_0_318"/>
          <p:cNvCxnSpPr/>
          <p:nvPr/>
        </p:nvCxnSpPr>
        <p:spPr>
          <a:xfrm>
            <a:off x="2818075" y="3356075"/>
            <a:ext cx="2394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4" name="Google Shape;114;g2aece9d3aea_0_318"/>
          <p:cNvSpPr txBox="1"/>
          <p:nvPr/>
        </p:nvSpPr>
        <p:spPr>
          <a:xfrm>
            <a:off x="3404563" y="2919900"/>
            <a:ext cx="1221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Compile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5" name="Google Shape;115;g2aece9d3aea_0_318"/>
          <p:cNvSpPr txBox="1"/>
          <p:nvPr/>
        </p:nvSpPr>
        <p:spPr>
          <a:xfrm>
            <a:off x="4885173" y="3951900"/>
            <a:ext cx="25914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Machine (CPU, OS) dependent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6" name="Google Shape;116;g2aece9d3aea_0_318"/>
          <p:cNvSpPr txBox="1"/>
          <p:nvPr/>
        </p:nvSpPr>
        <p:spPr>
          <a:xfrm>
            <a:off x="2719523" y="3320100"/>
            <a:ext cx="2591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Whenever code is changed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17" name="Google Shape;117;g2aece9d3aea_0_3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56575" y="121850"/>
            <a:ext cx="448200" cy="43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aece9d3aea_0_329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Maven Pro"/>
                <a:ea typeface="Maven Pro"/>
                <a:cs typeface="Maven Pro"/>
                <a:sym typeface="Maven Pro"/>
              </a:rPr>
              <a:t>Interpreted Program</a:t>
            </a:r>
            <a:endParaRPr sz="280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23" name="Google Shape;123;g2aece9d3aea_0_329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Python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Javascript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R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4" name="Google Shape;124;g2aece9d3aea_0_329"/>
          <p:cNvSpPr/>
          <p:nvPr/>
        </p:nvSpPr>
        <p:spPr>
          <a:xfrm>
            <a:off x="1303800" y="3236025"/>
            <a:ext cx="1310400" cy="1113600"/>
          </a:xfrm>
          <a:prstGeom prst="roundRect">
            <a:avLst>
              <a:gd name="adj" fmla="val 16667"/>
            </a:avLst>
          </a:prstGeom>
          <a:solidFill>
            <a:srgbClr val="CC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(Premade)</a:t>
            </a:r>
            <a:endParaRPr/>
          </a:p>
        </p:txBody>
      </p:sp>
      <p:cxnSp>
        <p:nvCxnSpPr>
          <p:cNvPr id="125" name="Google Shape;125;g2aece9d3aea_0_329"/>
          <p:cNvCxnSpPr/>
          <p:nvPr/>
        </p:nvCxnSpPr>
        <p:spPr>
          <a:xfrm>
            <a:off x="2818075" y="3813275"/>
            <a:ext cx="2394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6" name="Google Shape;126;g2aece9d3aea_0_329"/>
          <p:cNvSpPr txBox="1"/>
          <p:nvPr/>
        </p:nvSpPr>
        <p:spPr>
          <a:xfrm>
            <a:off x="3404563" y="3377100"/>
            <a:ext cx="1221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Compile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7" name="Google Shape;127;g2aece9d3aea_0_329"/>
          <p:cNvSpPr/>
          <p:nvPr/>
        </p:nvSpPr>
        <p:spPr>
          <a:xfrm>
            <a:off x="5525675" y="1225900"/>
            <a:ext cx="1310400" cy="1113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</a:t>
            </a:r>
            <a:endParaRPr/>
          </a:p>
        </p:txBody>
      </p:sp>
      <p:cxnSp>
        <p:nvCxnSpPr>
          <p:cNvPr id="128" name="Google Shape;128;g2aece9d3aea_0_329"/>
          <p:cNvCxnSpPr>
            <a:endCxn id="129" idx="0"/>
          </p:cNvCxnSpPr>
          <p:nvPr/>
        </p:nvCxnSpPr>
        <p:spPr>
          <a:xfrm>
            <a:off x="6180875" y="2339625"/>
            <a:ext cx="0" cy="896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0" name="Google Shape;130;g2aece9d3aea_0_329"/>
          <p:cNvSpPr txBox="1"/>
          <p:nvPr/>
        </p:nvSpPr>
        <p:spPr>
          <a:xfrm>
            <a:off x="6345513" y="2372100"/>
            <a:ext cx="12213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Pass as string for input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1" name="Google Shape;131;g2aece9d3aea_0_329"/>
          <p:cNvSpPr/>
          <p:nvPr/>
        </p:nvSpPr>
        <p:spPr>
          <a:xfrm>
            <a:off x="5525675" y="3236000"/>
            <a:ext cx="1310400" cy="1330200"/>
          </a:xfrm>
          <a:prstGeom prst="foldedCorner">
            <a:avLst>
              <a:gd name="adj" fmla="val 16667"/>
            </a:avLst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python.exe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32" name="Google Shape;132;g2aece9d3aea_0_3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56575" y="121850"/>
            <a:ext cx="448200" cy="43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aece9d3aea_0_342"/>
          <p:cNvSpPr txBox="1">
            <a:spLocks noGrp="1"/>
          </p:cNvSpPr>
          <p:nvPr>
            <p:ph type="body" idx="1"/>
          </p:nvPr>
        </p:nvSpPr>
        <p:spPr>
          <a:xfrm>
            <a:off x="1268125" y="285600"/>
            <a:ext cx="7030500" cy="74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Install </a:t>
            </a:r>
            <a:r>
              <a:rPr lang="en" b="1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Python Interpreter</a:t>
            </a:r>
            <a:r>
              <a:rPr lang="en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 (before you can run python code on your computer)</a:t>
            </a:r>
            <a:endParaRPr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  <a:hlinkClick r:id="rId3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https://www.python.org/downloads/</a:t>
            </a:r>
            <a:endParaRPr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38" name="Google Shape;138;g2aece9d3aea_0_3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38201" y="1509200"/>
            <a:ext cx="5550849" cy="3451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g2aece9d3aea_0_34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56575" y="121850"/>
            <a:ext cx="448200" cy="43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aece9d3aea_0_347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Maven Pro"/>
                <a:ea typeface="Maven Pro"/>
                <a:cs typeface="Maven Pro"/>
                <a:sym typeface="Maven Pro"/>
              </a:rPr>
              <a:t>(Optional) What is PATH?</a:t>
            </a:r>
            <a:endParaRPr sz="280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45" name="Google Shape;145;g2aece9d3aea_0_347"/>
          <p:cNvSpPr txBox="1">
            <a:spLocks noGrp="1"/>
          </p:cNvSpPr>
          <p:nvPr>
            <p:ph type="body" idx="1"/>
          </p:nvPr>
        </p:nvSpPr>
        <p:spPr>
          <a:xfrm>
            <a:off x="507000" y="1093850"/>
            <a:ext cx="7030500" cy="337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The PATH variable is a list of paths for the shell to look for executable to run, it looks like the following.</a:t>
            </a:r>
            <a:endParaRPr sz="140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/usr/bin:/usr/local/bin/………</a:t>
            </a:r>
            <a:endParaRPr sz="140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E.g. When we type python3:</a:t>
            </a:r>
            <a:endParaRPr sz="140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The shell will check these paths sequentially:</a:t>
            </a:r>
            <a:endParaRPr sz="140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/usr/bin</a:t>
            </a:r>
            <a:endParaRPr sz="140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/usr/local/bin/</a:t>
            </a:r>
            <a:endParaRPr sz="140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…</a:t>
            </a:r>
            <a:endParaRPr sz="140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When we “Add python to PATH”, we essentially append the folder which contains the python executable to the path variable.</a:t>
            </a:r>
            <a:endParaRPr sz="140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46" name="Google Shape;146;g2aece9d3aea_0_3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3125" y="1472875"/>
            <a:ext cx="2820625" cy="207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g2aece9d3aea_0_34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56575" y="121850"/>
            <a:ext cx="448200" cy="43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aece9d3aea_0_353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Maven Pro"/>
                <a:ea typeface="Maven Pro"/>
                <a:cs typeface="Maven Pro"/>
                <a:sym typeface="Maven Pro"/>
              </a:rPr>
              <a:t>“Python”</a:t>
            </a:r>
            <a:endParaRPr sz="280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53" name="Google Shape;153;g2aece9d3aea_0_353"/>
          <p:cNvSpPr txBox="1">
            <a:spLocks noGrp="1"/>
          </p:cNvSpPr>
          <p:nvPr>
            <p:ph type="body" idx="1"/>
          </p:nvPr>
        </p:nvSpPr>
        <p:spPr>
          <a:xfrm>
            <a:off x="400875" y="124652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400"/>
              <a:buFont typeface="Nunito"/>
              <a:buChar char="●"/>
            </a:pPr>
            <a:r>
              <a:rPr lang="en" sz="1400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The word “python” is generally referred to as the python language.</a:t>
            </a:r>
            <a:endParaRPr sz="140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400"/>
              <a:buFont typeface="Nunito"/>
              <a:buChar char="●"/>
            </a:pPr>
            <a:r>
              <a:rPr lang="en" sz="1400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We call the interpreter as “Python Interpreter”</a:t>
            </a:r>
            <a:endParaRPr sz="140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400"/>
              <a:buFont typeface="Nunito"/>
              <a:buChar char="●"/>
            </a:pPr>
            <a:r>
              <a:rPr lang="en" sz="1400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“Python interpreter” is an executable, but a python file is not.</a:t>
            </a:r>
            <a:endParaRPr sz="140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400"/>
              <a:buFont typeface="Nunito"/>
              <a:buChar char="●"/>
            </a:pPr>
            <a:r>
              <a:rPr lang="en" sz="1400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A python file is a plain text file (no difference from a .txt file).</a:t>
            </a:r>
            <a:endParaRPr sz="140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Checkpoint</a:t>
            </a:r>
            <a:endParaRPr sz="1400" b="1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Can we put all python code in a txt file, then ask the python interpreter to run that txt?</a:t>
            </a:r>
            <a:endParaRPr sz="140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54" name="Google Shape;154;g2aece9d3aea_0_3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56575" y="121850"/>
            <a:ext cx="448200" cy="43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aece9d3aea_0_631"/>
          <p:cNvSpPr txBox="1">
            <a:spLocks noGrp="1"/>
          </p:cNvSpPr>
          <p:nvPr>
            <p:ph type="ctrTitle"/>
          </p:nvPr>
        </p:nvSpPr>
        <p:spPr>
          <a:xfrm>
            <a:off x="1446600" y="1350450"/>
            <a:ext cx="6250800" cy="12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73763"/>
                </a:solidFill>
                <a:latin typeface="Lora"/>
                <a:ea typeface="Lora"/>
                <a:cs typeface="Lora"/>
                <a:sym typeface="Lora"/>
              </a:rPr>
              <a:t>Virtual environment</a:t>
            </a:r>
            <a:endParaRPr sz="3000">
              <a:solidFill>
                <a:srgbClr val="073763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160" name="Google Shape;160;g2aece9d3aea_0_6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56575" y="121850"/>
            <a:ext cx="448200" cy="43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aece9d3aea_0_637"/>
          <p:cNvSpPr txBox="1">
            <a:spLocks noGrp="1"/>
          </p:cNvSpPr>
          <p:nvPr>
            <p:ph type="body" idx="1"/>
          </p:nvPr>
        </p:nvSpPr>
        <p:spPr>
          <a:xfrm>
            <a:off x="417800" y="1038650"/>
            <a:ext cx="47028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400"/>
              <a:buFont typeface="Nunito"/>
              <a:buChar char="-"/>
            </a:pPr>
            <a:r>
              <a:rPr lang="en" sz="1400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An isolated replica of your python interpreter.</a:t>
            </a:r>
            <a:endParaRPr sz="140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400"/>
              <a:buFont typeface="Nunito"/>
              <a:buChar char="-"/>
            </a:pPr>
            <a:r>
              <a:rPr lang="en" sz="1400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Self containing in a single folder</a:t>
            </a:r>
            <a:endParaRPr sz="140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400"/>
              <a:buFont typeface="Nunito"/>
              <a:buChar char="-"/>
            </a:pPr>
            <a:r>
              <a:rPr lang="en" sz="1400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Contain installed packages</a:t>
            </a:r>
            <a:endParaRPr sz="140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400"/>
              <a:buFont typeface="Nunito"/>
              <a:buChar char="-"/>
            </a:pPr>
            <a:r>
              <a:rPr lang="en" sz="1400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Is derived from a base interpreter</a:t>
            </a:r>
            <a:endParaRPr sz="140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6" name="Google Shape;166;g2aece9d3aea_0_637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Maven Pro"/>
                <a:ea typeface="Maven Pro"/>
                <a:cs typeface="Maven Pro"/>
                <a:sym typeface="Maven Pro"/>
              </a:rPr>
              <a:t>Virtual environment</a:t>
            </a:r>
            <a:endParaRPr sz="2800"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167" name="Google Shape;167;g2aece9d3aea_0_6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96056" y="0"/>
            <a:ext cx="254793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g2aece9d3aea_0_637"/>
          <p:cNvSpPr txBox="1"/>
          <p:nvPr/>
        </p:nvSpPr>
        <p:spPr>
          <a:xfrm>
            <a:off x="2512225" y="4549825"/>
            <a:ext cx="3976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Nunito"/>
                <a:ea typeface="Nunito"/>
                <a:cs typeface="Nunito"/>
                <a:sym typeface="Nunito"/>
              </a:rPr>
              <a:t>The folder structure of the venv folder.  The content is slightly different between mac version and windows version.</a:t>
            </a:r>
            <a:endParaRPr sz="70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69" name="Google Shape;169;g2aece9d3aea_0_63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56575" y="121850"/>
            <a:ext cx="448200" cy="43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aece9d3aea_0_644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Maven Pro"/>
                <a:ea typeface="Maven Pro"/>
                <a:cs typeface="Maven Pro"/>
                <a:sym typeface="Maven Pro"/>
              </a:rPr>
              <a:t>Create a venv</a:t>
            </a:r>
            <a:endParaRPr sz="2800"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175" name="Google Shape;175;g2aece9d3aea_0_6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0250" y="1072100"/>
            <a:ext cx="5568226" cy="313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g2aece9d3aea_0_644"/>
          <p:cNvSpPr txBox="1">
            <a:spLocks noGrp="1"/>
          </p:cNvSpPr>
          <p:nvPr>
            <p:ph type="body" idx="1"/>
          </p:nvPr>
        </p:nvSpPr>
        <p:spPr>
          <a:xfrm>
            <a:off x="254375" y="1072100"/>
            <a:ext cx="34668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400"/>
              <a:buFont typeface="Nunito"/>
              <a:buChar char="-"/>
            </a:pPr>
            <a:r>
              <a:rPr lang="en" sz="1400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virtualenv package (Python native)</a:t>
            </a:r>
            <a:endParaRPr sz="140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400"/>
              <a:buFont typeface="Nunito"/>
              <a:buChar char="-"/>
            </a:pPr>
            <a:r>
              <a:rPr lang="en" sz="1400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Pipenv</a:t>
            </a:r>
            <a:endParaRPr sz="140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400"/>
              <a:buFont typeface="Nunito"/>
              <a:buChar char="-"/>
            </a:pPr>
            <a:r>
              <a:rPr lang="en" sz="1400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Poetry</a:t>
            </a:r>
            <a:endParaRPr sz="140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400"/>
              <a:buFont typeface="Nunito"/>
              <a:buChar char="-"/>
            </a:pPr>
            <a:r>
              <a:rPr lang="en" sz="1400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Anaconda (Popular for data science)</a:t>
            </a:r>
            <a:endParaRPr sz="140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77" name="Google Shape;177;g2aece9d3aea_0_64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56575" y="121850"/>
            <a:ext cx="448200" cy="43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aece9d3aea_0_650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Maven Pro"/>
                <a:ea typeface="Maven Pro"/>
                <a:cs typeface="Maven Pro"/>
                <a:sym typeface="Maven Pro"/>
              </a:rPr>
              <a:t>Native venv vs Anaconda</a:t>
            </a:r>
            <a:endParaRPr sz="2800">
              <a:latin typeface="Maven Pro"/>
              <a:ea typeface="Maven Pro"/>
              <a:cs typeface="Maven Pro"/>
              <a:sym typeface="Maven Pro"/>
            </a:endParaRPr>
          </a:p>
        </p:txBody>
      </p:sp>
      <p:graphicFrame>
        <p:nvGraphicFramePr>
          <p:cNvPr id="183" name="Google Shape;183;g2aece9d3aea_0_650"/>
          <p:cNvGraphicFramePr/>
          <p:nvPr/>
        </p:nvGraphicFramePr>
        <p:xfrm>
          <a:off x="952500" y="1809750"/>
          <a:ext cx="7239000" cy="2834490"/>
        </p:xfrm>
        <a:graphic>
          <a:graphicData uri="http://schemas.openxmlformats.org/drawingml/2006/table">
            <a:tbl>
              <a:tblPr>
                <a:noFill/>
                <a:tableStyleId>{330D975D-B13C-43DC-8DA2-365D2CCA6473}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Native venv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Anaconda</a:t>
                      </a:r>
                      <a:endParaRPr/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Pre-installed package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None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 lot</a:t>
                      </a:r>
                      <a:endParaRPr/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How many environments?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Usually one per project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Usually one per machine</a:t>
                      </a:r>
                      <a:endParaRPr/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Intended usage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Software development</a:t>
                      </a: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E.g. Web scraping task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Data science, analytics</a:t>
                      </a:r>
                      <a:endParaRPr/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Recommended?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Yes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Only when you seldom need to update the virtual environment</a:t>
                      </a:r>
                      <a:endParaRPr/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  <p:pic>
        <p:nvPicPr>
          <p:cNvPr id="184" name="Google Shape;184;g2aece9d3aea_0_6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5650" y="1093850"/>
            <a:ext cx="1084074" cy="54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g2aece9d3aea_0_65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56575" y="121850"/>
            <a:ext cx="448200" cy="4368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字方塊 1"/>
          <p:cNvSpPr txBox="1"/>
          <p:nvPr/>
        </p:nvSpPr>
        <p:spPr>
          <a:xfrm>
            <a:off x="1279301" y="1056068"/>
            <a:ext cx="38058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Recommend to use </a:t>
            </a:r>
            <a:r>
              <a:rPr lang="en-US" dirty="0" err="1" smtClean="0"/>
              <a:t>git</a:t>
            </a:r>
            <a:r>
              <a:rPr lang="en-US" dirty="0" smtClean="0"/>
              <a:t> to change code btw </a:t>
            </a:r>
            <a:r>
              <a:rPr lang="en-US" dirty="0" smtClean="0">
                <a:sym typeface="Wingdings" panose="05000000000000000000" pitchFamily="2" charset="2"/>
              </a:rPr>
              <a:t> </a:t>
            </a:r>
            <a:endParaRPr lang="en-GB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aece9d3aea_0_927"/>
          <p:cNvSpPr txBox="1">
            <a:spLocks noGrp="1"/>
          </p:cNvSpPr>
          <p:nvPr>
            <p:ph type="ctrTitle"/>
          </p:nvPr>
        </p:nvSpPr>
        <p:spPr>
          <a:xfrm>
            <a:off x="1446600" y="1350450"/>
            <a:ext cx="6250800" cy="12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73763"/>
                </a:solidFill>
                <a:latin typeface="Lora"/>
                <a:ea typeface="Lora"/>
                <a:cs typeface="Lora"/>
                <a:sym typeface="Lora"/>
              </a:rPr>
              <a:t>IDE</a:t>
            </a:r>
            <a:endParaRPr sz="3000">
              <a:solidFill>
                <a:srgbClr val="073763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191" name="Google Shape;191;g2aece9d3aea_0_9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56575" y="121850"/>
            <a:ext cx="448200" cy="43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aece9d3aea_0_932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Maven Pro"/>
                <a:ea typeface="Maven Pro"/>
                <a:cs typeface="Maven Pro"/>
                <a:sym typeface="Maven Pro"/>
              </a:rPr>
              <a:t>Reminder</a:t>
            </a:r>
            <a:endParaRPr sz="280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97" name="Google Shape;197;g2aece9d3aea_0_932"/>
          <p:cNvSpPr txBox="1">
            <a:spLocks noGrp="1"/>
          </p:cNvSpPr>
          <p:nvPr>
            <p:ph type="body" idx="1"/>
          </p:nvPr>
        </p:nvSpPr>
        <p:spPr>
          <a:xfrm>
            <a:off x="311700" y="123462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Python has no GUI</a:t>
            </a:r>
            <a:endParaRPr b="1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Python has no GUI</a:t>
            </a:r>
            <a:endParaRPr b="1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Python has no GUI</a:t>
            </a:r>
            <a:endParaRPr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98" name="Google Shape;198;g2aece9d3aea_0_9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56575" y="121850"/>
            <a:ext cx="448200" cy="43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aece9d3aea_0_937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Maven Pro"/>
                <a:ea typeface="Maven Pro"/>
                <a:cs typeface="Maven Pro"/>
                <a:sym typeface="Maven Pro"/>
              </a:rPr>
              <a:t>Integrated development environment</a:t>
            </a:r>
            <a:endParaRPr sz="280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204" name="Google Shape;204;g2aece9d3aea_0_937"/>
          <p:cNvSpPr txBox="1">
            <a:spLocks noGrp="1"/>
          </p:cNvSpPr>
          <p:nvPr>
            <p:ph type="body" idx="1"/>
          </p:nvPr>
        </p:nvSpPr>
        <p:spPr>
          <a:xfrm>
            <a:off x="411850" y="1270575"/>
            <a:ext cx="7030500" cy="93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i="1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This “</a:t>
            </a:r>
            <a:r>
              <a:rPr lang="en" sz="1400" i="1" u="sng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environment</a:t>
            </a:r>
            <a:r>
              <a:rPr lang="en" sz="1400" i="1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” has </a:t>
            </a:r>
            <a:r>
              <a:rPr lang="en" sz="1400" b="1" i="1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NOTHING</a:t>
            </a:r>
            <a:r>
              <a:rPr lang="en" sz="1400" i="1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 to do with the </a:t>
            </a:r>
            <a:r>
              <a:rPr lang="en" sz="1400" i="1" u="sng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python virtual environment</a:t>
            </a:r>
            <a:r>
              <a:rPr lang="en" sz="1400" i="1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. </a:t>
            </a:r>
            <a:endParaRPr sz="1400" i="1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i="1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It refers to the tool that help us develop python applications.</a:t>
            </a:r>
            <a:endParaRPr sz="1400" i="1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05" name="Google Shape;205;g2aece9d3aea_0_9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775" y="2526050"/>
            <a:ext cx="1196874" cy="1196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g2aece9d3aea_0_9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26525" y="2468676"/>
            <a:ext cx="1236360" cy="143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g2aece9d3aea_0_9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13074" y="2526050"/>
            <a:ext cx="2393750" cy="119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g2aece9d3aea_0_9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57025" y="2405275"/>
            <a:ext cx="1438425" cy="143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g2aece9d3aea_0_93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556575" y="121850"/>
            <a:ext cx="448200" cy="43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圖片 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73008" y="-1956171"/>
            <a:ext cx="7017111" cy="4076910"/>
          </a:xfrm>
          <a:prstGeom prst="rect">
            <a:avLst/>
          </a:prstGeom>
        </p:spPr>
      </p:pic>
      <p:sp>
        <p:nvSpPr>
          <p:cNvPr id="3" name="文字方塊 2"/>
          <p:cNvSpPr txBox="1"/>
          <p:nvPr/>
        </p:nvSpPr>
        <p:spPr>
          <a:xfrm>
            <a:off x="6444762" y="4374173"/>
            <a:ext cx="683873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TCP protocol</a:t>
            </a:r>
          </a:p>
          <a:p>
            <a:endParaRPr lang="en-US" dirty="0"/>
          </a:p>
          <a:p>
            <a:r>
              <a:rPr lang="en-US" dirty="0" smtClean="0"/>
              <a:t>telnet is a </a:t>
            </a:r>
            <a:r>
              <a:rPr lang="en-US" dirty="0" err="1" smtClean="0"/>
              <a:t>programme</a:t>
            </a:r>
            <a:r>
              <a:rPr lang="en-US" dirty="0" smtClean="0"/>
              <a:t> (helps us to connect to other machines with </a:t>
            </a:r>
            <a:r>
              <a:rPr lang="en-US" smtClean="0"/>
              <a:t>TCP connection.)</a:t>
            </a:r>
            <a:endParaRPr lang="en-GB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aece9d3aea_0_946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Maven Pro"/>
                <a:ea typeface="Maven Pro"/>
                <a:cs typeface="Maven Pro"/>
                <a:sym typeface="Maven Pro"/>
              </a:rPr>
              <a:t>Checkpoint</a:t>
            </a:r>
            <a:endParaRPr sz="280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215" name="Google Shape;215;g2aece9d3aea_0_946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What’s wrong with the following statements?</a:t>
            </a:r>
            <a:endParaRPr sz="140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400"/>
              <a:buFont typeface="Nunito"/>
              <a:buAutoNum type="arabicPeriod"/>
            </a:pPr>
            <a:r>
              <a:rPr lang="en" sz="1400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PyCharm executes my python scripts</a:t>
            </a:r>
            <a:endParaRPr sz="140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400"/>
              <a:buFont typeface="Nunito"/>
              <a:buAutoNum type="arabicPeriod"/>
            </a:pPr>
            <a:r>
              <a:rPr lang="en" sz="1400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Running python code in jupyter notebook does not require a python interpreter</a:t>
            </a:r>
            <a:endParaRPr sz="140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16" name="Google Shape;216;g2aece9d3aea_0_9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56575" y="121850"/>
            <a:ext cx="448200" cy="43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764</Words>
  <Application>Microsoft Office PowerPoint</Application>
  <PresentationFormat>如螢幕大小 (16:9)</PresentationFormat>
  <Paragraphs>129</Paragraphs>
  <Slides>20</Slides>
  <Notes>20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20</vt:i4>
      </vt:variant>
    </vt:vector>
  </HeadingPairs>
  <TitlesOfParts>
    <vt:vector size="30" baseType="lpstr">
      <vt:lpstr>Amatic SC</vt:lpstr>
      <vt:lpstr>Nunito</vt:lpstr>
      <vt:lpstr>Arial</vt:lpstr>
      <vt:lpstr>Maven Pro</vt:lpstr>
      <vt:lpstr>Wingdings</vt:lpstr>
      <vt:lpstr>Consolas</vt:lpstr>
      <vt:lpstr>Roboto</vt:lpstr>
      <vt:lpstr>Lora</vt:lpstr>
      <vt:lpstr>Source Code Pro</vt:lpstr>
      <vt:lpstr>Beach Day</vt:lpstr>
      <vt:lpstr>Development Tool: Python, Colab, Jupyter, Anaconda, PyCharm, VirtualEnv</vt:lpstr>
      <vt:lpstr>Python</vt:lpstr>
      <vt:lpstr>PowerPoint 簡報</vt:lpstr>
      <vt:lpstr>A lot of programs run without GUI</vt:lpstr>
      <vt:lpstr>Python has no GUI</vt:lpstr>
      <vt:lpstr>How to run python in terminal?</vt:lpstr>
      <vt:lpstr>Compile vs Interpret</vt:lpstr>
      <vt:lpstr>Compiled Program</vt:lpstr>
      <vt:lpstr>Interpreted Program</vt:lpstr>
      <vt:lpstr>PowerPoint 簡報</vt:lpstr>
      <vt:lpstr>(Optional) What is PATH?</vt:lpstr>
      <vt:lpstr>“Python”</vt:lpstr>
      <vt:lpstr>Virtual environment</vt:lpstr>
      <vt:lpstr>Virtual environment</vt:lpstr>
      <vt:lpstr>Create a venv</vt:lpstr>
      <vt:lpstr>Native venv vs Anaconda</vt:lpstr>
      <vt:lpstr>IDE</vt:lpstr>
      <vt:lpstr>Reminder</vt:lpstr>
      <vt:lpstr>Integrated development environment</vt:lpstr>
      <vt:lpstr>Checkpoint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Development Tool: Python, Colab, Jupyter, Anaconda, PyCharm, VirtualEnv</dc:title>
  <cp:lastModifiedBy>Microsoft 帳戶</cp:lastModifiedBy>
  <cp:revision>8</cp:revision>
  <dcterms:modified xsi:type="dcterms:W3CDTF">2024-02-18T07:40:56Z</dcterms:modified>
</cp:coreProperties>
</file>