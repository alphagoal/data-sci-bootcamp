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Nunito"/>
      <p:regular r:id="rId30"/>
      <p:bold r:id="rId31"/>
      <p:italic r:id="rId32"/>
      <p:boldItalic r:id="rId33"/>
    </p:embeddedFont>
    <p:embeddedFont>
      <p:font typeface="Lora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057E1C-1E50-41F9-A0D2-5937DFA6CDD8}">
  <a:tblStyle styleId="{B6057E1C-1E50-41F9-A0D2-5937DFA6CD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unito-bold.fntdata"/><Relationship Id="rId30" Type="http://schemas.openxmlformats.org/officeDocument/2006/relationships/font" Target="fonts/Nunito-regular.fntdata"/><Relationship Id="rId11" Type="http://schemas.openxmlformats.org/officeDocument/2006/relationships/slide" Target="slides/slide5.xml"/><Relationship Id="rId33" Type="http://schemas.openxmlformats.org/officeDocument/2006/relationships/font" Target="fonts/Nunito-boldItalic.fntdata"/><Relationship Id="rId10" Type="http://schemas.openxmlformats.org/officeDocument/2006/relationships/slide" Target="slides/slide4.xml"/><Relationship Id="rId32" Type="http://schemas.openxmlformats.org/officeDocument/2006/relationships/font" Target="fonts/Nunito-italic.fntdata"/><Relationship Id="rId13" Type="http://schemas.openxmlformats.org/officeDocument/2006/relationships/slide" Target="slides/slide7.xml"/><Relationship Id="rId35" Type="http://schemas.openxmlformats.org/officeDocument/2006/relationships/font" Target="fonts/Lora-bold.fntdata"/><Relationship Id="rId12" Type="http://schemas.openxmlformats.org/officeDocument/2006/relationships/slide" Target="slides/slide6.xml"/><Relationship Id="rId34" Type="http://schemas.openxmlformats.org/officeDocument/2006/relationships/font" Target="fonts/Lora-regular.fntdata"/><Relationship Id="rId15" Type="http://schemas.openxmlformats.org/officeDocument/2006/relationships/slide" Target="slides/slide9.xml"/><Relationship Id="rId37" Type="http://schemas.openxmlformats.org/officeDocument/2006/relationships/font" Target="fonts/Lora-boldItalic.fntdata"/><Relationship Id="rId14" Type="http://schemas.openxmlformats.org/officeDocument/2006/relationships/slide" Target="slides/slide8.xml"/><Relationship Id="rId36" Type="http://schemas.openxmlformats.org/officeDocument/2006/relationships/font" Target="fonts/Lora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63213863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63213863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af798b46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af798b46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753ac9c172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753ac9c172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53ac9c172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53ac9c172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753ac9c172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753ac9c172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753ac9c172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753ac9c172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753ac9c172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753ac9c172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753ac9c172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753ac9c172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753ac9c172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753ac9c172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7db902e99b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7db902e99b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5e8d4810d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5e8d4810d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632138636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632138636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632138636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632138636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632138636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632138636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632138636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632138636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632138636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632138636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aaf798b46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aaf798b46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632138636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632138636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7db902e99b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7db902e99b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7db902e99b_1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7db902e99b_1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7db902e99b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7db902e99b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5e8d4810de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5e8d4810de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872"/>
              </a:buClr>
              <a:buSzPts val="4300"/>
              <a:buFont typeface="Lora"/>
              <a:buNone/>
              <a:defRPr b="1" sz="4300">
                <a:solidFill>
                  <a:srgbClr val="002872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089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ora"/>
              <a:buNone/>
              <a:defRPr sz="2200">
                <a:latin typeface="Lora"/>
                <a:ea typeface="Lora"/>
                <a:cs typeface="Lora"/>
                <a:sym typeface="L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ora"/>
              <a:buNone/>
              <a:defRPr sz="2200">
                <a:latin typeface="Lora"/>
                <a:ea typeface="Lora"/>
                <a:cs typeface="Lora"/>
                <a:sym typeface="Lo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ora"/>
              <a:buNone/>
              <a:defRPr sz="2200">
                <a:latin typeface="Lora"/>
                <a:ea typeface="Lora"/>
                <a:cs typeface="Lora"/>
                <a:sym typeface="Lo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ora"/>
              <a:buNone/>
              <a:defRPr sz="2200">
                <a:latin typeface="Lora"/>
                <a:ea typeface="Lora"/>
                <a:cs typeface="Lora"/>
                <a:sym typeface="Lo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ora"/>
              <a:buNone/>
              <a:defRPr sz="2200">
                <a:latin typeface="Lora"/>
                <a:ea typeface="Lora"/>
                <a:cs typeface="Lora"/>
                <a:sym typeface="Lo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ora"/>
              <a:buNone/>
              <a:defRPr sz="2200">
                <a:latin typeface="Lora"/>
                <a:ea typeface="Lora"/>
                <a:cs typeface="Lora"/>
                <a:sym typeface="Lo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ora"/>
              <a:buNone/>
              <a:defRPr sz="2200">
                <a:latin typeface="Lora"/>
                <a:ea typeface="Lora"/>
                <a:cs typeface="Lora"/>
                <a:sym typeface="Lo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ora"/>
              <a:buNone/>
              <a:defRPr sz="2200">
                <a:latin typeface="Lora"/>
                <a:ea typeface="Lora"/>
                <a:cs typeface="Lora"/>
                <a:sym typeface="Lo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ora"/>
              <a:buNone/>
              <a:defRPr sz="2200"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2">
            <a:alphaModFix/>
          </a:blip>
          <a:srcRect b="38007" l="0" r="0" t="32807"/>
          <a:stretch/>
        </p:blipFill>
        <p:spPr>
          <a:xfrm>
            <a:off x="0" y="3362225"/>
            <a:ext cx="9144003" cy="178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872"/>
              </a:buClr>
              <a:buSzPts val="2800"/>
              <a:buNone/>
              <a:defRPr b="1">
                <a:solidFill>
                  <a:srgbClr val="00287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872"/>
              </a:buClr>
              <a:buSzPts val="2800"/>
              <a:buNone/>
              <a:defRPr b="1">
                <a:solidFill>
                  <a:srgbClr val="00287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872"/>
              </a:buClr>
              <a:buSzPts val="2800"/>
              <a:buNone/>
              <a:defRPr b="1">
                <a:solidFill>
                  <a:srgbClr val="00287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872"/>
              </a:buClr>
              <a:buSzPts val="2400"/>
              <a:buNone/>
              <a:defRPr b="1" sz="2400">
                <a:solidFill>
                  <a:srgbClr val="00287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872"/>
              </a:buClr>
              <a:buSzPts val="4800"/>
              <a:buFont typeface="Lora"/>
              <a:buNone/>
              <a:defRPr b="1" sz="4800">
                <a:solidFill>
                  <a:srgbClr val="002872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872"/>
              </a:buClr>
              <a:buSzPts val="3800"/>
              <a:buFont typeface="Lora"/>
              <a:buNone/>
              <a:defRPr b="1" sz="3800">
                <a:solidFill>
                  <a:srgbClr val="002872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ora"/>
              <a:buNone/>
              <a:defRPr sz="2100">
                <a:latin typeface="Lora"/>
                <a:ea typeface="Lora"/>
                <a:cs typeface="Lora"/>
                <a:sym typeface="L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ora"/>
              <a:buNone/>
              <a:defRPr sz="2100">
                <a:latin typeface="Lora"/>
                <a:ea typeface="Lora"/>
                <a:cs typeface="Lora"/>
                <a:sym typeface="Lo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ora"/>
              <a:buNone/>
              <a:defRPr sz="2100">
                <a:latin typeface="Lora"/>
                <a:ea typeface="Lora"/>
                <a:cs typeface="Lora"/>
                <a:sym typeface="Lo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ora"/>
              <a:buNone/>
              <a:defRPr sz="2100">
                <a:latin typeface="Lora"/>
                <a:ea typeface="Lora"/>
                <a:cs typeface="Lora"/>
                <a:sym typeface="Lo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ora"/>
              <a:buNone/>
              <a:defRPr sz="2100">
                <a:latin typeface="Lora"/>
                <a:ea typeface="Lora"/>
                <a:cs typeface="Lora"/>
                <a:sym typeface="Lo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ora"/>
              <a:buNone/>
              <a:defRPr sz="2100">
                <a:latin typeface="Lora"/>
                <a:ea typeface="Lora"/>
                <a:cs typeface="Lora"/>
                <a:sym typeface="Lo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ora"/>
              <a:buNone/>
              <a:defRPr sz="2100">
                <a:latin typeface="Lora"/>
                <a:ea typeface="Lora"/>
                <a:cs typeface="Lora"/>
                <a:sym typeface="Lo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ora"/>
              <a:buNone/>
              <a:defRPr sz="2100">
                <a:latin typeface="Lora"/>
                <a:ea typeface="Lora"/>
                <a:cs typeface="Lora"/>
                <a:sym typeface="Lo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ora"/>
              <a:buNone/>
              <a:defRPr sz="2100"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ora"/>
              <a:buNone/>
              <a:defRPr i="1">
                <a:latin typeface="Lora"/>
                <a:ea typeface="Lora"/>
                <a:cs typeface="Lora"/>
                <a:sym typeface="Lora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Lora"/>
              <a:buNone/>
              <a:defRPr b="1" sz="12000">
                <a:latin typeface="Lora"/>
                <a:ea typeface="Lora"/>
                <a:cs typeface="Lora"/>
                <a:sym typeface="L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872"/>
              </a:buClr>
              <a:buSzPts val="2800"/>
              <a:buNone/>
              <a:defRPr b="1" sz="2800">
                <a:solidFill>
                  <a:srgbClr val="00287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facebook.github.io/prophet/" TargetMode="External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0"/>
            <a:ext cx="8520600" cy="26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series forecasting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way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and prediction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following examples, we try to explain the observations by adding up different factors.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Trend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Seasonality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Note that noise means unexplained part of our observations.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Forecasting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4388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After we find an </a:t>
            </a:r>
            <a:r>
              <a:rPr lang="en"/>
              <a:t>explanation</a:t>
            </a:r>
            <a:r>
              <a:rPr lang="en"/>
              <a:t> of the pass, we can use the reasoning to forecast the future!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1313" y="1294263"/>
            <a:ext cx="2619375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5557063" y="3037350"/>
            <a:ext cx="2607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Important: Time series models are not prophecy balls.  It cannot predict patterns that has never occurred in the past.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Trend</a:t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5587500" y="2156100"/>
            <a:ext cx="2746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Explanation: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Value is proportional to time.  Starting from 100, +3 for each time step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624" y="1750275"/>
            <a:ext cx="3713475" cy="2906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650" y="1465100"/>
            <a:ext cx="1448575" cy="34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Periodical</a:t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5587500" y="2156100"/>
            <a:ext cx="2746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Explanation: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Value is changed in a periodical way, with a fixed magnitude and a fixed length of period.  Roughly 8 cycles in 100 time steps.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621" y="1567358"/>
            <a:ext cx="1702525" cy="307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5296" y="1750275"/>
            <a:ext cx="3479804" cy="2713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Periodical + Trend</a:t>
            </a:r>
            <a:endParaRPr/>
          </a:p>
        </p:txBody>
      </p:sp>
      <p:sp>
        <p:nvSpPr>
          <p:cNvPr id="92" name="Google Shape;92;p18"/>
          <p:cNvSpPr txBox="1"/>
          <p:nvPr/>
        </p:nvSpPr>
        <p:spPr>
          <a:xfrm>
            <a:off x="6313800" y="1640838"/>
            <a:ext cx="2746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Explanation: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Value is affected by both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AutoNum type="arabicPeriod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constant increase effect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AutoNum type="arabicPeriod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seasonal effect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Two effects are independent of each other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Nunito"/>
                <a:ea typeface="Nunito"/>
                <a:cs typeface="Nunito"/>
                <a:sym typeface="Nunito"/>
              </a:rPr>
              <a:t>(The magnitude of the seasonal effect remains the same when the trend factor change from 100 to 300)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7170" y="1750288"/>
            <a:ext cx="3674231" cy="2875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000" y="1640838"/>
            <a:ext cx="2128925" cy="30943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956600" y="1580400"/>
            <a:ext cx="3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+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1545700" y="1580400"/>
            <a:ext cx="3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=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Periodical 1 + Periodical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9"/>
          <p:cNvSpPr txBox="1"/>
          <p:nvPr/>
        </p:nvSpPr>
        <p:spPr>
          <a:xfrm>
            <a:off x="6630725" y="2129675"/>
            <a:ext cx="2746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Explanation: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Value is affected by two seasonal effects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79488"/>
            <a:ext cx="2395112" cy="32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9912" y="1750275"/>
            <a:ext cx="3778413" cy="289924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 txBox="1"/>
          <p:nvPr/>
        </p:nvSpPr>
        <p:spPr>
          <a:xfrm>
            <a:off x="1324000" y="1538800"/>
            <a:ext cx="3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+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1857625" y="1538800"/>
            <a:ext cx="3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=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Periodical + Trend + Noise</a:t>
            </a:r>
            <a:endParaRPr/>
          </a:p>
        </p:txBody>
      </p:sp>
      <p:sp>
        <p:nvSpPr>
          <p:cNvPr id="112" name="Google Shape;112;p20"/>
          <p:cNvSpPr txBox="1"/>
          <p:nvPr/>
        </p:nvSpPr>
        <p:spPr>
          <a:xfrm>
            <a:off x="6168525" y="2136300"/>
            <a:ext cx="2746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Explanation: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Value is affected by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AutoNum type="arabicPeriod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constant increase effect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AutoNum type="arabicPeriod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seasonal effect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AutoNum type="arabicPeriod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Noise (= unexplained variations)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24" y="1842150"/>
            <a:ext cx="2514100" cy="287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4924" y="1954975"/>
            <a:ext cx="3161200" cy="2473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998413" y="1777675"/>
            <a:ext cx="3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+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2065813" y="1777675"/>
            <a:ext cx="3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1462763" y="1777675"/>
            <a:ext cx="3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+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Trend + Special events</a:t>
            </a:r>
            <a:endParaRPr/>
          </a:p>
        </p:txBody>
      </p:sp>
      <p:sp>
        <p:nvSpPr>
          <p:cNvPr id="123" name="Google Shape;123;p21"/>
          <p:cNvSpPr txBox="1"/>
          <p:nvPr/>
        </p:nvSpPr>
        <p:spPr>
          <a:xfrm>
            <a:off x="5587500" y="2156100"/>
            <a:ext cx="2746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Explanation: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Value is proportional to time, with special event happened at time=4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750" y="1390900"/>
            <a:ext cx="1838023" cy="34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1173" y="1750275"/>
            <a:ext cx="3043927" cy="23822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1"/>
          <p:cNvSpPr txBox="1"/>
          <p:nvPr/>
        </p:nvSpPr>
        <p:spPr>
          <a:xfrm>
            <a:off x="1622163" y="1350075"/>
            <a:ext cx="3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7" name="Google Shape;127;p21"/>
          <p:cNvSpPr txBox="1"/>
          <p:nvPr/>
        </p:nvSpPr>
        <p:spPr>
          <a:xfrm>
            <a:off x="1150813" y="1350075"/>
            <a:ext cx="3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+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series modeling</a:t>
            </a:r>
            <a:endParaRPr/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662625" y="4515225"/>
            <a:ext cx="408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Facebook </a:t>
            </a:r>
            <a:r>
              <a:rPr lang="en" u="sng">
                <a:solidFill>
                  <a:schemeClr val="hlink"/>
                </a:solidFill>
                <a:hlinkClick r:id="rId3"/>
              </a:rPr>
              <a:t>prophet</a:t>
            </a:r>
            <a:r>
              <a:rPr lang="en"/>
              <a:t> tries to explain the time series value by </a:t>
            </a:r>
            <a:r>
              <a:rPr b="1" lang="en"/>
              <a:t>adding up</a:t>
            </a:r>
            <a:r>
              <a:rPr b="1" lang="en"/>
              <a:t> different components</a:t>
            </a:r>
            <a:r>
              <a:rPr lang="en"/>
              <a:t>.</a:t>
            </a:r>
            <a:endParaRPr/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625" y="1186475"/>
            <a:ext cx="6525850" cy="3262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series modeling procedures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the next value in a time series is a </a:t>
            </a:r>
            <a:r>
              <a:rPr lang="en" u="sng"/>
              <a:t>regression</a:t>
            </a:r>
            <a:r>
              <a:rPr lang="en"/>
              <a:t> task</a:t>
            </a:r>
            <a:endParaRPr/>
          </a:p>
        </p:txBody>
      </p:sp>
      <p:sp>
        <p:nvSpPr>
          <p:cNvPr id="145" name="Google Shape;145;p24"/>
          <p:cNvSpPr/>
          <p:nvPr/>
        </p:nvSpPr>
        <p:spPr>
          <a:xfrm>
            <a:off x="1139863" y="3126000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4"/>
          <p:cNvSpPr/>
          <p:nvPr/>
        </p:nvSpPr>
        <p:spPr>
          <a:xfrm>
            <a:off x="2271988" y="2218650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4"/>
          <p:cNvSpPr/>
          <p:nvPr/>
        </p:nvSpPr>
        <p:spPr>
          <a:xfrm>
            <a:off x="3404113" y="2665900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4"/>
          <p:cNvSpPr/>
          <p:nvPr/>
        </p:nvSpPr>
        <p:spPr>
          <a:xfrm>
            <a:off x="4536238" y="3374200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4"/>
          <p:cNvSpPr/>
          <p:nvPr/>
        </p:nvSpPr>
        <p:spPr>
          <a:xfrm>
            <a:off x="5668363" y="2838100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0" name="Google Shape;150;p24"/>
          <p:cNvCxnSpPr/>
          <p:nvPr/>
        </p:nvCxnSpPr>
        <p:spPr>
          <a:xfrm>
            <a:off x="2358088" y="2050425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24"/>
          <p:cNvCxnSpPr>
            <a:stCxn id="145" idx="7"/>
            <a:endCxn id="146" idx="3"/>
          </p:cNvCxnSpPr>
          <p:nvPr/>
        </p:nvCxnSpPr>
        <p:spPr>
          <a:xfrm flipH="1" rot="10800000">
            <a:off x="1286844" y="2365518"/>
            <a:ext cx="1010400" cy="78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24"/>
          <p:cNvCxnSpPr>
            <a:stCxn id="146" idx="6"/>
            <a:endCxn id="147" idx="2"/>
          </p:cNvCxnSpPr>
          <p:nvPr/>
        </p:nvCxnSpPr>
        <p:spPr>
          <a:xfrm>
            <a:off x="2444188" y="2304750"/>
            <a:ext cx="960000" cy="44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4"/>
          <p:cNvCxnSpPr>
            <a:stCxn id="147" idx="5"/>
            <a:endCxn id="148" idx="2"/>
          </p:cNvCxnSpPr>
          <p:nvPr/>
        </p:nvCxnSpPr>
        <p:spPr>
          <a:xfrm>
            <a:off x="3551094" y="2812882"/>
            <a:ext cx="985200" cy="64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24"/>
          <p:cNvCxnSpPr>
            <a:stCxn id="148" idx="6"/>
            <a:endCxn id="149" idx="2"/>
          </p:cNvCxnSpPr>
          <p:nvPr/>
        </p:nvCxnSpPr>
        <p:spPr>
          <a:xfrm flipH="1" rot="10800000">
            <a:off x="4708438" y="2924200"/>
            <a:ext cx="960000" cy="53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24"/>
          <p:cNvSpPr txBox="1"/>
          <p:nvPr/>
        </p:nvSpPr>
        <p:spPr>
          <a:xfrm>
            <a:off x="2397913" y="3804150"/>
            <a:ext cx="218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Observations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6825738" y="2304738"/>
            <a:ext cx="172200" cy="172200"/>
          </a:xfrm>
          <a:prstGeom prst="ellipse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7" name="Google Shape;157;p24"/>
          <p:cNvCxnSpPr>
            <a:endCxn id="156" idx="3"/>
          </p:cNvCxnSpPr>
          <p:nvPr/>
        </p:nvCxnSpPr>
        <p:spPr>
          <a:xfrm flipH="1" rot="10800000">
            <a:off x="5840556" y="2451719"/>
            <a:ext cx="1010400" cy="467400"/>
          </a:xfrm>
          <a:prstGeom prst="straightConnector1">
            <a:avLst/>
          </a:prstGeom>
          <a:noFill/>
          <a:ln cap="flat" cmpd="sng" w="9525">
            <a:solidFill>
              <a:srgbClr val="A4C2F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24"/>
          <p:cNvSpPr txBox="1"/>
          <p:nvPr/>
        </p:nvSpPr>
        <p:spPr>
          <a:xfrm>
            <a:off x="5819538" y="3771550"/>
            <a:ext cx="218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Prediction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59" name="Google Shape;159;p24"/>
          <p:cNvCxnSpPr/>
          <p:nvPr/>
        </p:nvCxnSpPr>
        <p:spPr>
          <a:xfrm>
            <a:off x="5754463" y="1493550"/>
            <a:ext cx="0" cy="30609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Regression model</a:t>
            </a:r>
            <a:endParaRPr/>
          </a:p>
        </p:txBody>
      </p:sp>
      <p:graphicFrame>
        <p:nvGraphicFramePr>
          <p:cNvPr id="165" name="Google Shape;165;p25"/>
          <p:cNvGraphicFramePr/>
          <p:nvPr/>
        </p:nvGraphicFramePr>
        <p:xfrm>
          <a:off x="311700" y="154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{B6057E1C-1E50-41F9-A0D2-5937DFA6CDD8}</a:tableStyleId>
              </a:tblPr>
              <a:tblGrid>
                <a:gridCol w="1109900"/>
                <a:gridCol w="5146350"/>
              </a:tblGrid>
              <a:tr h="409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Features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1975-11-03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1975-11-04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1975-11-05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1975-11-06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1975-11-07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6" name="Google Shape;166;p25"/>
          <p:cNvGraphicFramePr/>
          <p:nvPr/>
        </p:nvGraphicFramePr>
        <p:xfrm>
          <a:off x="7693225" y="154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{B6057E1C-1E50-41F9-A0D2-5937DFA6CDD8}</a:tableStyleId>
              </a:tblPr>
              <a:tblGrid>
                <a:gridCol w="755025"/>
              </a:tblGrid>
              <a:tr h="38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Label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7" name="Google Shape;167;p25"/>
          <p:cNvSpPr txBox="1"/>
          <p:nvPr/>
        </p:nvSpPr>
        <p:spPr>
          <a:xfrm>
            <a:off x="311700" y="4096750"/>
            <a:ext cx="813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Recall that we need to prepare features (X) and label (y) for training a regression model.  Now the question become - what is the X? 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for time series regression</a:t>
            </a:r>
            <a:endParaRPr/>
          </a:p>
        </p:txBody>
      </p:sp>
      <p:sp>
        <p:nvSpPr>
          <p:cNvPr id="173" name="Google Shape;17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some common features for time series regression.  For each time step, we can provide the following features.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Number of time steps since start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Strength of a seasonal effect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Any special event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Last n steps observations (auto regressive)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Features: Time step</a:t>
            </a:r>
            <a:endParaRPr/>
          </a:p>
        </p:txBody>
      </p:sp>
      <p:sp>
        <p:nvSpPr>
          <p:cNvPr id="179" name="Google Shape;179;p27"/>
          <p:cNvSpPr txBox="1"/>
          <p:nvPr>
            <p:ph idx="1" type="body"/>
          </p:nvPr>
        </p:nvSpPr>
        <p:spPr>
          <a:xfrm>
            <a:off x="311700" y="1152475"/>
            <a:ext cx="8520600" cy="10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time series follows and oscillate around a trend (e.g. +3 unit per day)</a:t>
            </a:r>
            <a:endParaRPr/>
          </a:p>
        </p:txBody>
      </p:sp>
      <p:pic>
        <p:nvPicPr>
          <p:cNvPr id="180" name="Google Shape;180;p27"/>
          <p:cNvPicPr preferRelativeResize="0"/>
          <p:nvPr/>
        </p:nvPicPr>
        <p:blipFill rotWithShape="1">
          <a:blip r:embed="rId3">
            <a:alphaModFix/>
          </a:blip>
          <a:srcRect b="4067" l="0" r="2874" t="0"/>
          <a:stretch/>
        </p:blipFill>
        <p:spPr>
          <a:xfrm>
            <a:off x="4313900" y="88050"/>
            <a:ext cx="3834374" cy="1634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1" name="Google Shape;181;p27"/>
          <p:cNvGraphicFramePr/>
          <p:nvPr/>
        </p:nvGraphicFramePr>
        <p:xfrm>
          <a:off x="311700" y="2133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{B6057E1C-1E50-41F9-A0D2-5937DFA6CDD8}</a:tableStyleId>
              </a:tblPr>
              <a:tblGrid>
                <a:gridCol w="1136125"/>
                <a:gridCol w="782825"/>
                <a:gridCol w="4337325"/>
              </a:tblGrid>
              <a:tr h="409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Features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  <a:tr h="39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1975-11-03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1975-11-04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1975-11-05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1975-11-06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1975-11-07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82" name="Google Shape;182;p27"/>
          <p:cNvGraphicFramePr/>
          <p:nvPr/>
        </p:nvGraphicFramePr>
        <p:xfrm>
          <a:off x="7693225" y="2133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{B6057E1C-1E50-41F9-A0D2-5937DFA6CDD8}</a:tableStyleId>
              </a:tblPr>
              <a:tblGrid>
                <a:gridCol w="755025"/>
              </a:tblGrid>
              <a:tr h="38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Label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04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Features: Seasonal effect</a:t>
            </a:r>
            <a:endParaRPr/>
          </a:p>
        </p:txBody>
      </p:sp>
      <p:sp>
        <p:nvSpPr>
          <p:cNvPr id="188" name="Google Shape;188;p28"/>
          <p:cNvSpPr txBox="1"/>
          <p:nvPr>
            <p:ph idx="1" type="body"/>
          </p:nvPr>
        </p:nvSpPr>
        <p:spPr>
          <a:xfrm>
            <a:off x="311700" y="1152475"/>
            <a:ext cx="5276100" cy="10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Hypothesis: The oscillation of the time series is a combination of sine/cosine waves.  Mathematically, we can prove that different sine and cosine waves can add up to form different patterns.</a:t>
            </a:r>
            <a:endParaRPr/>
          </a:p>
        </p:txBody>
      </p:sp>
      <p:graphicFrame>
        <p:nvGraphicFramePr>
          <p:cNvPr id="189" name="Google Shape;189;p28"/>
          <p:cNvGraphicFramePr/>
          <p:nvPr/>
        </p:nvGraphicFramePr>
        <p:xfrm>
          <a:off x="311700" y="233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{B6057E1C-1E50-41F9-A0D2-5937DFA6CDD8}</a:tableStyleId>
              </a:tblPr>
              <a:tblGrid>
                <a:gridCol w="991775"/>
                <a:gridCol w="856850"/>
                <a:gridCol w="856850"/>
                <a:gridCol w="856850"/>
                <a:gridCol w="856850"/>
                <a:gridCol w="977325"/>
                <a:gridCol w="859825"/>
              </a:tblGrid>
              <a:tr h="379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 gridSpan="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Features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hMerge="1"/>
                <a:tc hMerge="1"/>
              </a:tr>
              <a:tr h="36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</a:t>
                      </a:r>
                      <a:r>
                        <a:rPr lang="en" sz="1200"/>
                        <a:t>ay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sin(day)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cos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(day)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sin(day/2)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cos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(day/2)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1975-11-03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1975-11-04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1975-11-05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1975-11-06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1975-11-07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0" name="Google Shape;190;p28"/>
          <p:cNvGraphicFramePr/>
          <p:nvPr/>
        </p:nvGraphicFramePr>
        <p:xfrm>
          <a:off x="7693225" y="233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{B6057E1C-1E50-41F9-A0D2-5937DFA6CDD8}</a:tableStyleId>
              </a:tblPr>
              <a:tblGrid>
                <a:gridCol w="755025"/>
              </a:tblGrid>
              <a:tr h="36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Label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321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232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551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233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304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91" name="Google Shape;19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6950" y="0"/>
            <a:ext cx="2874524" cy="224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Features: Events/Holiday</a:t>
            </a:r>
            <a:endParaRPr/>
          </a:p>
        </p:txBody>
      </p:sp>
      <p:sp>
        <p:nvSpPr>
          <p:cNvPr id="197" name="Google Shape;197;p29"/>
          <p:cNvSpPr txBox="1"/>
          <p:nvPr>
            <p:ph idx="1" type="body"/>
          </p:nvPr>
        </p:nvSpPr>
        <p:spPr>
          <a:xfrm>
            <a:off x="311700" y="1152475"/>
            <a:ext cx="8136600" cy="10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Hypothesis: Events and holidays can greatly impact the time series.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E.g. Sales is boosted due to a marketing campaign.</a:t>
            </a:r>
            <a:endParaRPr/>
          </a:p>
        </p:txBody>
      </p:sp>
      <p:graphicFrame>
        <p:nvGraphicFramePr>
          <p:cNvPr id="198" name="Google Shape;198;p29"/>
          <p:cNvGraphicFramePr/>
          <p:nvPr/>
        </p:nvGraphicFramePr>
        <p:xfrm>
          <a:off x="311700" y="233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{B6057E1C-1E50-41F9-A0D2-5937DFA6CDD8}</a:tableStyleId>
              </a:tblPr>
              <a:tblGrid>
                <a:gridCol w="1013850"/>
                <a:gridCol w="875925"/>
                <a:gridCol w="875925"/>
                <a:gridCol w="875925"/>
                <a:gridCol w="875925"/>
                <a:gridCol w="999100"/>
                <a:gridCol w="878975"/>
              </a:tblGrid>
              <a:tr h="379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 gridSpan="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Features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hMerge="1"/>
                <a:tc hMerge="1"/>
              </a:tr>
              <a:tr h="36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day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sin(day)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cos(day)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sin(day/2)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cos(day/2)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Campaign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1975-11-03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False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1975-11-04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1975-11-05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True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1975-11-06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1975-11-07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9" name="Google Shape;199;p29"/>
          <p:cNvGraphicFramePr/>
          <p:nvPr/>
        </p:nvGraphicFramePr>
        <p:xfrm>
          <a:off x="7693225" y="233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{B6057E1C-1E50-41F9-A0D2-5937DFA6CDD8}</a:tableStyleId>
              </a:tblPr>
              <a:tblGrid>
                <a:gridCol w="755025"/>
              </a:tblGrid>
              <a:tr h="36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Label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321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232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551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233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304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regression</a:t>
            </a:r>
            <a:endParaRPr/>
          </a:p>
        </p:txBody>
      </p:sp>
      <p:sp>
        <p:nvSpPr>
          <p:cNvPr id="205" name="Google Shape;20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solve the parameters in this equation,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</a:t>
            </a:r>
            <a:r>
              <a:rPr lang="en"/>
              <a:t>e can use Linear Regression.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Facebook prophet uses this mechanism (addition model) behind the scene.</a:t>
            </a:r>
            <a:endParaRPr/>
          </a:p>
        </p:txBody>
      </p:sp>
      <p:pic>
        <p:nvPicPr>
          <p:cNvPr id="206" name="Google Shape;20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875" y="1550775"/>
            <a:ext cx="3412150" cy="61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evaluation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- Mean Absolute Error (MAE)</a:t>
            </a:r>
            <a:endParaRPr/>
          </a:p>
        </p:txBody>
      </p:sp>
      <p:sp>
        <p:nvSpPr>
          <p:cNvPr id="217" name="Google Shape;217;p32"/>
          <p:cNvSpPr/>
          <p:nvPr/>
        </p:nvSpPr>
        <p:spPr>
          <a:xfrm>
            <a:off x="1926300" y="3488575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2"/>
          <p:cNvSpPr/>
          <p:nvPr/>
        </p:nvSpPr>
        <p:spPr>
          <a:xfrm>
            <a:off x="3058425" y="2581225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2"/>
          <p:cNvSpPr/>
          <p:nvPr/>
        </p:nvSpPr>
        <p:spPr>
          <a:xfrm>
            <a:off x="4190550" y="3028475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2"/>
          <p:cNvSpPr/>
          <p:nvPr/>
        </p:nvSpPr>
        <p:spPr>
          <a:xfrm>
            <a:off x="5322675" y="3736775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2"/>
          <p:cNvSpPr/>
          <p:nvPr/>
        </p:nvSpPr>
        <p:spPr>
          <a:xfrm>
            <a:off x="6454800" y="3200675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2"/>
          <p:cNvSpPr/>
          <p:nvPr/>
        </p:nvSpPr>
        <p:spPr>
          <a:xfrm>
            <a:off x="1926300" y="2830050"/>
            <a:ext cx="172200" cy="172200"/>
          </a:xfrm>
          <a:prstGeom prst="ellipse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2"/>
          <p:cNvSpPr/>
          <p:nvPr/>
        </p:nvSpPr>
        <p:spPr>
          <a:xfrm>
            <a:off x="3058425" y="2240800"/>
            <a:ext cx="172200" cy="172200"/>
          </a:xfrm>
          <a:prstGeom prst="ellipse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2"/>
          <p:cNvSpPr/>
          <p:nvPr/>
        </p:nvSpPr>
        <p:spPr>
          <a:xfrm>
            <a:off x="4190550" y="3316375"/>
            <a:ext cx="172200" cy="172200"/>
          </a:xfrm>
          <a:prstGeom prst="ellipse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2"/>
          <p:cNvSpPr/>
          <p:nvPr/>
        </p:nvSpPr>
        <p:spPr>
          <a:xfrm>
            <a:off x="5322675" y="2581225"/>
            <a:ext cx="172200" cy="172200"/>
          </a:xfrm>
          <a:prstGeom prst="ellipse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2"/>
          <p:cNvSpPr/>
          <p:nvPr/>
        </p:nvSpPr>
        <p:spPr>
          <a:xfrm>
            <a:off x="6454800" y="2902875"/>
            <a:ext cx="172200" cy="172200"/>
          </a:xfrm>
          <a:prstGeom prst="ellipse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7" name="Google Shape;227;p32"/>
          <p:cNvCxnSpPr>
            <a:stCxn id="222" idx="4"/>
            <a:endCxn id="217" idx="0"/>
          </p:cNvCxnSpPr>
          <p:nvPr/>
        </p:nvCxnSpPr>
        <p:spPr>
          <a:xfrm>
            <a:off x="2012400" y="3002250"/>
            <a:ext cx="0" cy="486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32"/>
          <p:cNvCxnSpPr>
            <a:stCxn id="223" idx="4"/>
            <a:endCxn id="223" idx="4"/>
          </p:cNvCxnSpPr>
          <p:nvPr/>
        </p:nvCxnSpPr>
        <p:spPr>
          <a:xfrm>
            <a:off x="3144525" y="24130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32"/>
          <p:cNvCxnSpPr>
            <a:stCxn id="223" idx="4"/>
            <a:endCxn id="218" idx="0"/>
          </p:cNvCxnSpPr>
          <p:nvPr/>
        </p:nvCxnSpPr>
        <p:spPr>
          <a:xfrm>
            <a:off x="3144525" y="2413000"/>
            <a:ext cx="0" cy="168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32"/>
          <p:cNvCxnSpPr>
            <a:stCxn id="219" idx="4"/>
            <a:endCxn id="224" idx="0"/>
          </p:cNvCxnSpPr>
          <p:nvPr/>
        </p:nvCxnSpPr>
        <p:spPr>
          <a:xfrm>
            <a:off x="4276650" y="3200675"/>
            <a:ext cx="0" cy="1158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32"/>
          <p:cNvCxnSpPr>
            <a:stCxn id="225" idx="4"/>
            <a:endCxn id="220" idx="0"/>
          </p:cNvCxnSpPr>
          <p:nvPr/>
        </p:nvCxnSpPr>
        <p:spPr>
          <a:xfrm>
            <a:off x="5408775" y="2753425"/>
            <a:ext cx="0" cy="983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32"/>
          <p:cNvCxnSpPr>
            <a:stCxn id="226" idx="4"/>
            <a:endCxn id="221" idx="0"/>
          </p:cNvCxnSpPr>
          <p:nvPr/>
        </p:nvCxnSpPr>
        <p:spPr>
          <a:xfrm>
            <a:off x="6540900" y="3075075"/>
            <a:ext cx="0" cy="1257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32"/>
          <p:cNvCxnSpPr>
            <a:stCxn id="222" idx="7"/>
            <a:endCxn id="223" idx="3"/>
          </p:cNvCxnSpPr>
          <p:nvPr/>
        </p:nvCxnSpPr>
        <p:spPr>
          <a:xfrm flipH="1" rot="10800000">
            <a:off x="2073282" y="2387868"/>
            <a:ext cx="1010400" cy="467400"/>
          </a:xfrm>
          <a:prstGeom prst="straightConnector1">
            <a:avLst/>
          </a:prstGeom>
          <a:noFill/>
          <a:ln cap="flat" cmpd="sng" w="9525">
            <a:solidFill>
              <a:srgbClr val="A4C2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32"/>
          <p:cNvCxnSpPr>
            <a:stCxn id="223" idx="5"/>
            <a:endCxn id="224" idx="1"/>
          </p:cNvCxnSpPr>
          <p:nvPr/>
        </p:nvCxnSpPr>
        <p:spPr>
          <a:xfrm>
            <a:off x="3205407" y="2387782"/>
            <a:ext cx="1010400" cy="953700"/>
          </a:xfrm>
          <a:prstGeom prst="straightConnector1">
            <a:avLst/>
          </a:prstGeom>
          <a:noFill/>
          <a:ln cap="flat" cmpd="sng" w="9525">
            <a:solidFill>
              <a:srgbClr val="A4C2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32"/>
          <p:cNvCxnSpPr>
            <a:stCxn id="224" idx="7"/>
            <a:endCxn id="225" idx="3"/>
          </p:cNvCxnSpPr>
          <p:nvPr/>
        </p:nvCxnSpPr>
        <p:spPr>
          <a:xfrm flipH="1" rot="10800000">
            <a:off x="4337532" y="2728093"/>
            <a:ext cx="1010400" cy="613500"/>
          </a:xfrm>
          <a:prstGeom prst="straightConnector1">
            <a:avLst/>
          </a:prstGeom>
          <a:noFill/>
          <a:ln cap="flat" cmpd="sng" w="9525">
            <a:solidFill>
              <a:srgbClr val="A4C2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32"/>
          <p:cNvCxnSpPr>
            <a:stCxn id="225" idx="5"/>
            <a:endCxn id="226" idx="2"/>
          </p:cNvCxnSpPr>
          <p:nvPr/>
        </p:nvCxnSpPr>
        <p:spPr>
          <a:xfrm>
            <a:off x="5469657" y="2728207"/>
            <a:ext cx="985200" cy="260700"/>
          </a:xfrm>
          <a:prstGeom prst="straightConnector1">
            <a:avLst/>
          </a:prstGeom>
          <a:noFill/>
          <a:ln cap="flat" cmpd="sng" w="9525">
            <a:solidFill>
              <a:srgbClr val="A4C2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32"/>
          <p:cNvCxnSpPr>
            <a:stCxn id="217" idx="7"/>
            <a:endCxn id="218" idx="3"/>
          </p:cNvCxnSpPr>
          <p:nvPr/>
        </p:nvCxnSpPr>
        <p:spPr>
          <a:xfrm flipH="1" rot="10800000">
            <a:off x="2073282" y="2728093"/>
            <a:ext cx="1010400" cy="78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32"/>
          <p:cNvCxnSpPr>
            <a:stCxn id="218" idx="6"/>
            <a:endCxn id="219" idx="2"/>
          </p:cNvCxnSpPr>
          <p:nvPr/>
        </p:nvCxnSpPr>
        <p:spPr>
          <a:xfrm>
            <a:off x="3230625" y="2667325"/>
            <a:ext cx="960000" cy="44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32"/>
          <p:cNvCxnSpPr>
            <a:stCxn id="219" idx="5"/>
            <a:endCxn id="220" idx="2"/>
          </p:cNvCxnSpPr>
          <p:nvPr/>
        </p:nvCxnSpPr>
        <p:spPr>
          <a:xfrm>
            <a:off x="4337532" y="3175457"/>
            <a:ext cx="985200" cy="64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32"/>
          <p:cNvCxnSpPr>
            <a:stCxn id="220" idx="6"/>
            <a:endCxn id="221" idx="2"/>
          </p:cNvCxnSpPr>
          <p:nvPr/>
        </p:nvCxnSpPr>
        <p:spPr>
          <a:xfrm flipH="1" rot="10800000">
            <a:off x="5494875" y="3286775"/>
            <a:ext cx="960000" cy="53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" name="Google Shape;241;p32"/>
          <p:cNvSpPr txBox="1"/>
          <p:nvPr/>
        </p:nvSpPr>
        <p:spPr>
          <a:xfrm>
            <a:off x="6718975" y="3086675"/>
            <a:ext cx="218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Actual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2" name="Google Shape;242;p32"/>
          <p:cNvSpPr txBox="1"/>
          <p:nvPr/>
        </p:nvSpPr>
        <p:spPr>
          <a:xfrm>
            <a:off x="6718975" y="2788875"/>
            <a:ext cx="218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D9EEB"/>
                </a:solidFill>
                <a:latin typeface="Nunito"/>
                <a:ea typeface="Nunito"/>
                <a:cs typeface="Nunito"/>
                <a:sym typeface="Nunito"/>
              </a:rPr>
              <a:t>Predicted</a:t>
            </a:r>
            <a:endParaRPr>
              <a:solidFill>
                <a:srgbClr val="6D9EE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3" name="Google Shape;243;p32"/>
          <p:cNvSpPr txBox="1"/>
          <p:nvPr/>
        </p:nvSpPr>
        <p:spPr>
          <a:xfrm>
            <a:off x="1939575" y="4282950"/>
            <a:ext cx="381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MAE is the average of all errors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44" name="Google Shape;244;p32"/>
          <p:cNvCxnSpPr/>
          <p:nvPr/>
        </p:nvCxnSpPr>
        <p:spPr>
          <a:xfrm>
            <a:off x="4706625" y="4257900"/>
            <a:ext cx="0" cy="450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3088" y="4150125"/>
            <a:ext cx="798331" cy="5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- Root Mean Squared Error (RMSE)</a:t>
            </a:r>
            <a:endParaRPr/>
          </a:p>
        </p:txBody>
      </p:sp>
      <p:sp>
        <p:nvSpPr>
          <p:cNvPr id="251" name="Google Shape;251;p33"/>
          <p:cNvSpPr/>
          <p:nvPr/>
        </p:nvSpPr>
        <p:spPr>
          <a:xfrm>
            <a:off x="1926300" y="3488575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3"/>
          <p:cNvSpPr/>
          <p:nvPr/>
        </p:nvSpPr>
        <p:spPr>
          <a:xfrm>
            <a:off x="3058425" y="2581225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3"/>
          <p:cNvSpPr/>
          <p:nvPr/>
        </p:nvSpPr>
        <p:spPr>
          <a:xfrm>
            <a:off x="4190550" y="3028475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3"/>
          <p:cNvSpPr/>
          <p:nvPr/>
        </p:nvSpPr>
        <p:spPr>
          <a:xfrm>
            <a:off x="5322675" y="3736775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3"/>
          <p:cNvSpPr/>
          <p:nvPr/>
        </p:nvSpPr>
        <p:spPr>
          <a:xfrm>
            <a:off x="6454800" y="3200675"/>
            <a:ext cx="172200" cy="17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3"/>
          <p:cNvSpPr/>
          <p:nvPr/>
        </p:nvSpPr>
        <p:spPr>
          <a:xfrm>
            <a:off x="1926300" y="2830050"/>
            <a:ext cx="172200" cy="172200"/>
          </a:xfrm>
          <a:prstGeom prst="ellipse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3"/>
          <p:cNvSpPr/>
          <p:nvPr/>
        </p:nvSpPr>
        <p:spPr>
          <a:xfrm>
            <a:off x="3058425" y="2240800"/>
            <a:ext cx="172200" cy="172200"/>
          </a:xfrm>
          <a:prstGeom prst="ellipse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3"/>
          <p:cNvSpPr/>
          <p:nvPr/>
        </p:nvSpPr>
        <p:spPr>
          <a:xfrm>
            <a:off x="4190550" y="3316375"/>
            <a:ext cx="172200" cy="172200"/>
          </a:xfrm>
          <a:prstGeom prst="ellipse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3"/>
          <p:cNvSpPr/>
          <p:nvPr/>
        </p:nvSpPr>
        <p:spPr>
          <a:xfrm>
            <a:off x="5322675" y="2581225"/>
            <a:ext cx="172200" cy="172200"/>
          </a:xfrm>
          <a:prstGeom prst="ellipse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3"/>
          <p:cNvSpPr/>
          <p:nvPr/>
        </p:nvSpPr>
        <p:spPr>
          <a:xfrm>
            <a:off x="6454800" y="2902875"/>
            <a:ext cx="172200" cy="172200"/>
          </a:xfrm>
          <a:prstGeom prst="ellipse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1" name="Google Shape;261;p33"/>
          <p:cNvCxnSpPr>
            <a:stCxn id="256" idx="4"/>
            <a:endCxn id="251" idx="0"/>
          </p:cNvCxnSpPr>
          <p:nvPr/>
        </p:nvCxnSpPr>
        <p:spPr>
          <a:xfrm>
            <a:off x="2012400" y="3002250"/>
            <a:ext cx="0" cy="486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33"/>
          <p:cNvCxnSpPr>
            <a:stCxn id="257" idx="4"/>
            <a:endCxn id="257" idx="4"/>
          </p:cNvCxnSpPr>
          <p:nvPr/>
        </p:nvCxnSpPr>
        <p:spPr>
          <a:xfrm>
            <a:off x="3144525" y="24130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33"/>
          <p:cNvCxnSpPr>
            <a:stCxn id="257" idx="4"/>
            <a:endCxn id="252" idx="0"/>
          </p:cNvCxnSpPr>
          <p:nvPr/>
        </p:nvCxnSpPr>
        <p:spPr>
          <a:xfrm>
            <a:off x="3144525" y="2413000"/>
            <a:ext cx="0" cy="168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33"/>
          <p:cNvCxnSpPr>
            <a:stCxn id="253" idx="4"/>
            <a:endCxn id="258" idx="0"/>
          </p:cNvCxnSpPr>
          <p:nvPr/>
        </p:nvCxnSpPr>
        <p:spPr>
          <a:xfrm>
            <a:off x="4276650" y="3200675"/>
            <a:ext cx="0" cy="1158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33"/>
          <p:cNvCxnSpPr>
            <a:stCxn id="259" idx="4"/>
            <a:endCxn id="254" idx="0"/>
          </p:cNvCxnSpPr>
          <p:nvPr/>
        </p:nvCxnSpPr>
        <p:spPr>
          <a:xfrm>
            <a:off x="5408775" y="2753425"/>
            <a:ext cx="0" cy="983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33"/>
          <p:cNvCxnSpPr>
            <a:stCxn id="260" idx="4"/>
            <a:endCxn id="255" idx="0"/>
          </p:cNvCxnSpPr>
          <p:nvPr/>
        </p:nvCxnSpPr>
        <p:spPr>
          <a:xfrm>
            <a:off x="6540900" y="3075075"/>
            <a:ext cx="0" cy="1257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33"/>
          <p:cNvCxnSpPr>
            <a:stCxn id="256" idx="7"/>
            <a:endCxn id="257" idx="3"/>
          </p:cNvCxnSpPr>
          <p:nvPr/>
        </p:nvCxnSpPr>
        <p:spPr>
          <a:xfrm flipH="1" rot="10800000">
            <a:off x="2073282" y="2387868"/>
            <a:ext cx="1010400" cy="467400"/>
          </a:xfrm>
          <a:prstGeom prst="straightConnector1">
            <a:avLst/>
          </a:prstGeom>
          <a:noFill/>
          <a:ln cap="flat" cmpd="sng" w="9525">
            <a:solidFill>
              <a:srgbClr val="A4C2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33"/>
          <p:cNvCxnSpPr>
            <a:stCxn id="257" idx="5"/>
            <a:endCxn id="258" idx="1"/>
          </p:cNvCxnSpPr>
          <p:nvPr/>
        </p:nvCxnSpPr>
        <p:spPr>
          <a:xfrm>
            <a:off x="3205407" y="2387782"/>
            <a:ext cx="1010400" cy="953700"/>
          </a:xfrm>
          <a:prstGeom prst="straightConnector1">
            <a:avLst/>
          </a:prstGeom>
          <a:noFill/>
          <a:ln cap="flat" cmpd="sng" w="9525">
            <a:solidFill>
              <a:srgbClr val="A4C2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33"/>
          <p:cNvCxnSpPr>
            <a:stCxn id="258" idx="7"/>
            <a:endCxn id="259" idx="3"/>
          </p:cNvCxnSpPr>
          <p:nvPr/>
        </p:nvCxnSpPr>
        <p:spPr>
          <a:xfrm flipH="1" rot="10800000">
            <a:off x="4337532" y="2728093"/>
            <a:ext cx="1010400" cy="613500"/>
          </a:xfrm>
          <a:prstGeom prst="straightConnector1">
            <a:avLst/>
          </a:prstGeom>
          <a:noFill/>
          <a:ln cap="flat" cmpd="sng" w="9525">
            <a:solidFill>
              <a:srgbClr val="A4C2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33"/>
          <p:cNvCxnSpPr>
            <a:stCxn id="259" idx="5"/>
            <a:endCxn id="260" idx="2"/>
          </p:cNvCxnSpPr>
          <p:nvPr/>
        </p:nvCxnSpPr>
        <p:spPr>
          <a:xfrm>
            <a:off x="5469657" y="2728207"/>
            <a:ext cx="985200" cy="260700"/>
          </a:xfrm>
          <a:prstGeom prst="straightConnector1">
            <a:avLst/>
          </a:prstGeom>
          <a:noFill/>
          <a:ln cap="flat" cmpd="sng" w="9525">
            <a:solidFill>
              <a:srgbClr val="A4C2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33"/>
          <p:cNvCxnSpPr>
            <a:stCxn id="251" idx="7"/>
            <a:endCxn id="252" idx="3"/>
          </p:cNvCxnSpPr>
          <p:nvPr/>
        </p:nvCxnSpPr>
        <p:spPr>
          <a:xfrm flipH="1" rot="10800000">
            <a:off x="2073282" y="2728093"/>
            <a:ext cx="1010400" cy="78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" name="Google Shape;272;p33"/>
          <p:cNvCxnSpPr>
            <a:stCxn id="252" idx="6"/>
            <a:endCxn id="253" idx="2"/>
          </p:cNvCxnSpPr>
          <p:nvPr/>
        </p:nvCxnSpPr>
        <p:spPr>
          <a:xfrm>
            <a:off x="3230625" y="2667325"/>
            <a:ext cx="960000" cy="44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33"/>
          <p:cNvCxnSpPr>
            <a:stCxn id="253" idx="5"/>
            <a:endCxn id="254" idx="2"/>
          </p:cNvCxnSpPr>
          <p:nvPr/>
        </p:nvCxnSpPr>
        <p:spPr>
          <a:xfrm>
            <a:off x="4337532" y="3175457"/>
            <a:ext cx="985200" cy="64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33"/>
          <p:cNvCxnSpPr>
            <a:stCxn id="254" idx="6"/>
            <a:endCxn id="255" idx="2"/>
          </p:cNvCxnSpPr>
          <p:nvPr/>
        </p:nvCxnSpPr>
        <p:spPr>
          <a:xfrm flipH="1" rot="10800000">
            <a:off x="5494875" y="3286775"/>
            <a:ext cx="960000" cy="53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" name="Google Shape;275;p33"/>
          <p:cNvSpPr txBox="1"/>
          <p:nvPr/>
        </p:nvSpPr>
        <p:spPr>
          <a:xfrm>
            <a:off x="6718975" y="3086675"/>
            <a:ext cx="218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Actual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6" name="Google Shape;276;p33"/>
          <p:cNvSpPr txBox="1"/>
          <p:nvPr/>
        </p:nvSpPr>
        <p:spPr>
          <a:xfrm>
            <a:off x="6718975" y="2788875"/>
            <a:ext cx="218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D9EEB"/>
                </a:solidFill>
                <a:latin typeface="Nunito"/>
                <a:ea typeface="Nunito"/>
                <a:cs typeface="Nunito"/>
                <a:sym typeface="Nunito"/>
              </a:rPr>
              <a:t>Predicted</a:t>
            </a:r>
            <a:endParaRPr>
              <a:solidFill>
                <a:srgbClr val="6D9EE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7" name="Google Shape;277;p33"/>
          <p:cNvSpPr txBox="1"/>
          <p:nvPr/>
        </p:nvSpPr>
        <p:spPr>
          <a:xfrm>
            <a:off x="1939575" y="4282950"/>
            <a:ext cx="346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RMSE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is the average of all squared errors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78" name="Google Shape;278;p33"/>
          <p:cNvCxnSpPr/>
          <p:nvPr/>
        </p:nvCxnSpPr>
        <p:spPr>
          <a:xfrm>
            <a:off x="6097250" y="4358050"/>
            <a:ext cx="0" cy="2235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79" name="Google Shape;279;p33"/>
          <p:cNvSpPr txBox="1"/>
          <p:nvPr/>
        </p:nvSpPr>
        <p:spPr>
          <a:xfrm>
            <a:off x="6063800" y="4193575"/>
            <a:ext cx="244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Nunito"/>
                <a:ea typeface="Nunito"/>
                <a:cs typeface="Nunito"/>
                <a:sym typeface="Nunito"/>
              </a:rPr>
              <a:t>2</a:t>
            </a:r>
            <a:endParaRPr sz="9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0" name="Google Shape;280;p33"/>
          <p:cNvSpPr txBox="1"/>
          <p:nvPr/>
        </p:nvSpPr>
        <p:spPr>
          <a:xfrm>
            <a:off x="5696850" y="4308250"/>
            <a:ext cx="88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Nunito"/>
                <a:ea typeface="Nunito"/>
                <a:cs typeface="Nunito"/>
                <a:sym typeface="Nunito"/>
              </a:rPr>
              <a:t>avg(           )</a:t>
            </a:r>
            <a:endParaRPr sz="9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- Mean Absolute Scaled Error (MASE)</a:t>
            </a:r>
            <a:endParaRPr/>
          </a:p>
        </p:txBody>
      </p:sp>
      <p:sp>
        <p:nvSpPr>
          <p:cNvPr id="286" name="Google Shape;286;p34"/>
          <p:cNvSpPr txBox="1"/>
          <p:nvPr>
            <p:ph idx="1" type="body"/>
          </p:nvPr>
        </p:nvSpPr>
        <p:spPr>
          <a:xfrm>
            <a:off x="1303800" y="1990050"/>
            <a:ext cx="7030500" cy="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MASE = MAE of real prediction / MAE of naive prediction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MASE is a measurement of how much better is our model compared to the naive model.</a:t>
            </a:r>
            <a:endParaRPr/>
          </a:p>
        </p:txBody>
      </p:sp>
      <p:sp>
        <p:nvSpPr>
          <p:cNvPr id="287" name="Google Shape;287;p34"/>
          <p:cNvSpPr/>
          <p:nvPr/>
        </p:nvSpPr>
        <p:spPr>
          <a:xfrm>
            <a:off x="231650" y="3803724"/>
            <a:ext cx="121800" cy="121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4"/>
          <p:cNvSpPr/>
          <p:nvPr/>
        </p:nvSpPr>
        <p:spPr>
          <a:xfrm>
            <a:off x="1031997" y="3162275"/>
            <a:ext cx="121800" cy="121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4"/>
          <p:cNvSpPr/>
          <p:nvPr/>
        </p:nvSpPr>
        <p:spPr>
          <a:xfrm>
            <a:off x="1832345" y="3478457"/>
            <a:ext cx="121800" cy="121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4"/>
          <p:cNvSpPr/>
          <p:nvPr/>
        </p:nvSpPr>
        <p:spPr>
          <a:xfrm>
            <a:off x="2632692" y="3979189"/>
            <a:ext cx="121800" cy="121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4"/>
          <p:cNvSpPr/>
          <p:nvPr/>
        </p:nvSpPr>
        <p:spPr>
          <a:xfrm>
            <a:off x="3433039" y="3600194"/>
            <a:ext cx="121800" cy="121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2" name="Google Shape;292;p34"/>
          <p:cNvCxnSpPr>
            <a:stCxn id="287" idx="7"/>
            <a:endCxn id="288" idx="3"/>
          </p:cNvCxnSpPr>
          <p:nvPr/>
        </p:nvCxnSpPr>
        <p:spPr>
          <a:xfrm flipH="1" rot="10800000">
            <a:off x="335613" y="3266261"/>
            <a:ext cx="714300" cy="55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34"/>
          <p:cNvCxnSpPr>
            <a:stCxn id="288" idx="6"/>
            <a:endCxn id="289" idx="2"/>
          </p:cNvCxnSpPr>
          <p:nvPr/>
        </p:nvCxnSpPr>
        <p:spPr>
          <a:xfrm>
            <a:off x="1153797" y="3223175"/>
            <a:ext cx="678600" cy="31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34"/>
          <p:cNvCxnSpPr>
            <a:stCxn id="289" idx="5"/>
            <a:endCxn id="290" idx="2"/>
          </p:cNvCxnSpPr>
          <p:nvPr/>
        </p:nvCxnSpPr>
        <p:spPr>
          <a:xfrm>
            <a:off x="1936308" y="3582420"/>
            <a:ext cx="696300" cy="45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34"/>
          <p:cNvCxnSpPr>
            <a:stCxn id="290" idx="6"/>
            <a:endCxn id="291" idx="2"/>
          </p:cNvCxnSpPr>
          <p:nvPr/>
        </p:nvCxnSpPr>
        <p:spPr>
          <a:xfrm flipH="1" rot="10800000">
            <a:off x="2754492" y="3661189"/>
            <a:ext cx="678600" cy="37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34"/>
          <p:cNvSpPr/>
          <p:nvPr/>
        </p:nvSpPr>
        <p:spPr>
          <a:xfrm>
            <a:off x="1032000" y="3803712"/>
            <a:ext cx="121800" cy="121800"/>
          </a:xfrm>
          <a:prstGeom prst="ellipse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A4C2F4"/>
              </a:highlight>
            </a:endParaRPr>
          </a:p>
        </p:txBody>
      </p:sp>
      <p:sp>
        <p:nvSpPr>
          <p:cNvPr id="297" name="Google Shape;297;p34"/>
          <p:cNvSpPr/>
          <p:nvPr/>
        </p:nvSpPr>
        <p:spPr>
          <a:xfrm>
            <a:off x="1832347" y="3162263"/>
            <a:ext cx="121800" cy="121800"/>
          </a:xfrm>
          <a:prstGeom prst="ellipse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A4C2F4"/>
              </a:highlight>
            </a:endParaRPr>
          </a:p>
        </p:txBody>
      </p:sp>
      <p:sp>
        <p:nvSpPr>
          <p:cNvPr id="298" name="Google Shape;298;p34"/>
          <p:cNvSpPr/>
          <p:nvPr/>
        </p:nvSpPr>
        <p:spPr>
          <a:xfrm>
            <a:off x="2632695" y="3478445"/>
            <a:ext cx="121800" cy="121800"/>
          </a:xfrm>
          <a:prstGeom prst="ellipse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A4C2F4"/>
              </a:highlight>
            </a:endParaRPr>
          </a:p>
        </p:txBody>
      </p:sp>
      <p:sp>
        <p:nvSpPr>
          <p:cNvPr id="299" name="Google Shape;299;p34"/>
          <p:cNvSpPr/>
          <p:nvPr/>
        </p:nvSpPr>
        <p:spPr>
          <a:xfrm>
            <a:off x="3433042" y="3979176"/>
            <a:ext cx="121800" cy="121800"/>
          </a:xfrm>
          <a:prstGeom prst="ellipse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A4C2F4"/>
              </a:highlight>
            </a:endParaRPr>
          </a:p>
        </p:txBody>
      </p:sp>
      <p:sp>
        <p:nvSpPr>
          <p:cNvPr id="300" name="Google Shape;300;p34"/>
          <p:cNvSpPr/>
          <p:nvPr/>
        </p:nvSpPr>
        <p:spPr>
          <a:xfrm>
            <a:off x="4233389" y="3600181"/>
            <a:ext cx="121800" cy="121800"/>
          </a:xfrm>
          <a:prstGeom prst="ellipse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A4C2F4"/>
              </a:highlight>
            </a:endParaRPr>
          </a:p>
        </p:txBody>
      </p:sp>
      <p:cxnSp>
        <p:nvCxnSpPr>
          <p:cNvPr id="301" name="Google Shape;301;p34"/>
          <p:cNvCxnSpPr>
            <a:stCxn id="296" idx="7"/>
            <a:endCxn id="297" idx="3"/>
          </p:cNvCxnSpPr>
          <p:nvPr/>
        </p:nvCxnSpPr>
        <p:spPr>
          <a:xfrm flipH="1" rot="10800000">
            <a:off x="1135963" y="3266249"/>
            <a:ext cx="714300" cy="555300"/>
          </a:xfrm>
          <a:prstGeom prst="straightConnector1">
            <a:avLst/>
          </a:prstGeom>
          <a:noFill/>
          <a:ln cap="flat" cmpd="sng" w="9525">
            <a:solidFill>
              <a:srgbClr val="5488C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34"/>
          <p:cNvCxnSpPr>
            <a:stCxn id="297" idx="6"/>
            <a:endCxn id="298" idx="2"/>
          </p:cNvCxnSpPr>
          <p:nvPr/>
        </p:nvCxnSpPr>
        <p:spPr>
          <a:xfrm>
            <a:off x="1954147" y="3223163"/>
            <a:ext cx="678600" cy="316200"/>
          </a:xfrm>
          <a:prstGeom prst="straightConnector1">
            <a:avLst/>
          </a:prstGeom>
          <a:noFill/>
          <a:ln cap="flat" cmpd="sng" w="9525">
            <a:solidFill>
              <a:srgbClr val="5488C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34"/>
          <p:cNvCxnSpPr>
            <a:stCxn id="298" idx="5"/>
            <a:endCxn id="299" idx="2"/>
          </p:cNvCxnSpPr>
          <p:nvPr/>
        </p:nvCxnSpPr>
        <p:spPr>
          <a:xfrm>
            <a:off x="2736658" y="3582408"/>
            <a:ext cx="696300" cy="457800"/>
          </a:xfrm>
          <a:prstGeom prst="straightConnector1">
            <a:avLst/>
          </a:prstGeom>
          <a:noFill/>
          <a:ln cap="flat" cmpd="sng" w="9525">
            <a:solidFill>
              <a:srgbClr val="5488C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34"/>
          <p:cNvCxnSpPr>
            <a:stCxn id="299" idx="6"/>
            <a:endCxn id="300" idx="2"/>
          </p:cNvCxnSpPr>
          <p:nvPr/>
        </p:nvCxnSpPr>
        <p:spPr>
          <a:xfrm flipH="1" rot="10800000">
            <a:off x="3554842" y="3661176"/>
            <a:ext cx="678600" cy="378900"/>
          </a:xfrm>
          <a:prstGeom prst="straightConnector1">
            <a:avLst/>
          </a:prstGeom>
          <a:noFill/>
          <a:ln cap="flat" cmpd="sng" w="9525">
            <a:solidFill>
              <a:srgbClr val="5488C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34"/>
          <p:cNvSpPr txBox="1"/>
          <p:nvPr/>
        </p:nvSpPr>
        <p:spPr>
          <a:xfrm>
            <a:off x="386950" y="4479950"/>
            <a:ext cx="381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Naive Prediction - Predict with previous value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6" name="Google Shape;306;p34"/>
          <p:cNvSpPr/>
          <p:nvPr/>
        </p:nvSpPr>
        <p:spPr>
          <a:xfrm>
            <a:off x="4865575" y="3803737"/>
            <a:ext cx="121800" cy="121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4"/>
          <p:cNvSpPr/>
          <p:nvPr/>
        </p:nvSpPr>
        <p:spPr>
          <a:xfrm>
            <a:off x="5665922" y="3162288"/>
            <a:ext cx="121800" cy="121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4"/>
          <p:cNvSpPr/>
          <p:nvPr/>
        </p:nvSpPr>
        <p:spPr>
          <a:xfrm>
            <a:off x="6466270" y="3478470"/>
            <a:ext cx="121800" cy="121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4"/>
          <p:cNvSpPr/>
          <p:nvPr/>
        </p:nvSpPr>
        <p:spPr>
          <a:xfrm>
            <a:off x="7266617" y="3979201"/>
            <a:ext cx="121800" cy="121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4"/>
          <p:cNvSpPr/>
          <p:nvPr/>
        </p:nvSpPr>
        <p:spPr>
          <a:xfrm>
            <a:off x="8066964" y="3600206"/>
            <a:ext cx="121800" cy="121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1" name="Google Shape;311;p34"/>
          <p:cNvCxnSpPr>
            <a:stCxn id="306" idx="7"/>
            <a:endCxn id="307" idx="3"/>
          </p:cNvCxnSpPr>
          <p:nvPr/>
        </p:nvCxnSpPr>
        <p:spPr>
          <a:xfrm flipH="1" rot="10800000">
            <a:off x="4969538" y="3266274"/>
            <a:ext cx="714300" cy="55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34"/>
          <p:cNvCxnSpPr>
            <a:stCxn id="307" idx="6"/>
            <a:endCxn id="308" idx="2"/>
          </p:cNvCxnSpPr>
          <p:nvPr/>
        </p:nvCxnSpPr>
        <p:spPr>
          <a:xfrm>
            <a:off x="5787722" y="3223188"/>
            <a:ext cx="678600" cy="31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34"/>
          <p:cNvCxnSpPr>
            <a:stCxn id="308" idx="5"/>
            <a:endCxn id="309" idx="2"/>
          </p:cNvCxnSpPr>
          <p:nvPr/>
        </p:nvCxnSpPr>
        <p:spPr>
          <a:xfrm>
            <a:off x="6570233" y="3582433"/>
            <a:ext cx="696300" cy="45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34"/>
          <p:cNvCxnSpPr>
            <a:stCxn id="309" idx="6"/>
            <a:endCxn id="310" idx="2"/>
          </p:cNvCxnSpPr>
          <p:nvPr/>
        </p:nvCxnSpPr>
        <p:spPr>
          <a:xfrm flipH="1" rot="10800000">
            <a:off x="7388417" y="3661201"/>
            <a:ext cx="678600" cy="37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5" name="Google Shape;315;p34"/>
          <p:cNvSpPr/>
          <p:nvPr/>
        </p:nvSpPr>
        <p:spPr>
          <a:xfrm>
            <a:off x="5665925" y="3403012"/>
            <a:ext cx="121800" cy="121800"/>
          </a:xfrm>
          <a:prstGeom prst="ellipse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A4C2F4"/>
              </a:highlight>
            </a:endParaRPr>
          </a:p>
        </p:txBody>
      </p:sp>
      <p:sp>
        <p:nvSpPr>
          <p:cNvPr id="316" name="Google Shape;316;p34"/>
          <p:cNvSpPr/>
          <p:nvPr/>
        </p:nvSpPr>
        <p:spPr>
          <a:xfrm>
            <a:off x="6466272" y="3245025"/>
            <a:ext cx="121800" cy="121800"/>
          </a:xfrm>
          <a:prstGeom prst="ellipse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A4C2F4"/>
              </a:highlight>
            </a:endParaRPr>
          </a:p>
        </p:txBody>
      </p:sp>
      <p:sp>
        <p:nvSpPr>
          <p:cNvPr id="317" name="Google Shape;317;p34"/>
          <p:cNvSpPr/>
          <p:nvPr/>
        </p:nvSpPr>
        <p:spPr>
          <a:xfrm>
            <a:off x="7266620" y="3750432"/>
            <a:ext cx="121800" cy="121800"/>
          </a:xfrm>
          <a:prstGeom prst="ellipse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A4C2F4"/>
              </a:highlight>
            </a:endParaRPr>
          </a:p>
        </p:txBody>
      </p:sp>
      <p:sp>
        <p:nvSpPr>
          <p:cNvPr id="318" name="Google Shape;318;p34"/>
          <p:cNvSpPr/>
          <p:nvPr/>
        </p:nvSpPr>
        <p:spPr>
          <a:xfrm>
            <a:off x="8066967" y="3891439"/>
            <a:ext cx="121800" cy="121800"/>
          </a:xfrm>
          <a:prstGeom prst="ellipse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A4C2F4"/>
              </a:highlight>
            </a:endParaRPr>
          </a:p>
        </p:txBody>
      </p:sp>
      <p:sp>
        <p:nvSpPr>
          <p:cNvPr id="319" name="Google Shape;319;p34"/>
          <p:cNvSpPr/>
          <p:nvPr/>
        </p:nvSpPr>
        <p:spPr>
          <a:xfrm>
            <a:off x="8867314" y="3600194"/>
            <a:ext cx="121800" cy="121800"/>
          </a:xfrm>
          <a:prstGeom prst="ellipse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A4C2F4"/>
              </a:highlight>
            </a:endParaRPr>
          </a:p>
        </p:txBody>
      </p:sp>
      <p:cxnSp>
        <p:nvCxnSpPr>
          <p:cNvPr id="320" name="Google Shape;320;p34"/>
          <p:cNvCxnSpPr>
            <a:stCxn id="315" idx="6"/>
            <a:endCxn id="316" idx="2"/>
          </p:cNvCxnSpPr>
          <p:nvPr/>
        </p:nvCxnSpPr>
        <p:spPr>
          <a:xfrm flipH="1" rot="10800000">
            <a:off x="5787725" y="3305812"/>
            <a:ext cx="678600" cy="158100"/>
          </a:xfrm>
          <a:prstGeom prst="straightConnector1">
            <a:avLst/>
          </a:prstGeom>
          <a:noFill/>
          <a:ln cap="flat" cmpd="sng" w="9525">
            <a:solidFill>
              <a:srgbClr val="5488C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34"/>
          <p:cNvCxnSpPr>
            <a:stCxn id="316" idx="6"/>
            <a:endCxn id="317" idx="2"/>
          </p:cNvCxnSpPr>
          <p:nvPr/>
        </p:nvCxnSpPr>
        <p:spPr>
          <a:xfrm>
            <a:off x="6588072" y="3305925"/>
            <a:ext cx="678600" cy="505500"/>
          </a:xfrm>
          <a:prstGeom prst="straightConnector1">
            <a:avLst/>
          </a:prstGeom>
          <a:noFill/>
          <a:ln cap="flat" cmpd="sng" w="9525">
            <a:solidFill>
              <a:srgbClr val="5488C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34"/>
          <p:cNvCxnSpPr>
            <a:stCxn id="317" idx="6"/>
            <a:endCxn id="318" idx="2"/>
          </p:cNvCxnSpPr>
          <p:nvPr/>
        </p:nvCxnSpPr>
        <p:spPr>
          <a:xfrm>
            <a:off x="7388420" y="3811332"/>
            <a:ext cx="678600" cy="141000"/>
          </a:xfrm>
          <a:prstGeom prst="straightConnector1">
            <a:avLst/>
          </a:prstGeom>
          <a:noFill/>
          <a:ln cap="flat" cmpd="sng" w="9525">
            <a:solidFill>
              <a:srgbClr val="5488C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34"/>
          <p:cNvCxnSpPr>
            <a:stCxn id="318" idx="6"/>
            <a:endCxn id="319" idx="2"/>
          </p:cNvCxnSpPr>
          <p:nvPr/>
        </p:nvCxnSpPr>
        <p:spPr>
          <a:xfrm flipH="1" rot="10800000">
            <a:off x="8188767" y="3661039"/>
            <a:ext cx="678600" cy="291300"/>
          </a:xfrm>
          <a:prstGeom prst="straightConnector1">
            <a:avLst/>
          </a:prstGeom>
          <a:noFill/>
          <a:ln cap="flat" cmpd="sng" w="9525">
            <a:solidFill>
              <a:srgbClr val="5488C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" name="Google Shape;324;p34"/>
          <p:cNvSpPr txBox="1"/>
          <p:nvPr/>
        </p:nvSpPr>
        <p:spPr>
          <a:xfrm>
            <a:off x="5020875" y="4479963"/>
            <a:ext cx="381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Real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Prediction - Predict with model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25" name="Google Shape;325;p34"/>
          <p:cNvCxnSpPr>
            <a:stCxn id="288" idx="4"/>
            <a:endCxn id="296" idx="0"/>
          </p:cNvCxnSpPr>
          <p:nvPr/>
        </p:nvCxnSpPr>
        <p:spPr>
          <a:xfrm>
            <a:off x="1092897" y="3284075"/>
            <a:ext cx="0" cy="519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34"/>
          <p:cNvCxnSpPr>
            <a:stCxn id="297" idx="4"/>
            <a:endCxn id="289" idx="0"/>
          </p:cNvCxnSpPr>
          <p:nvPr/>
        </p:nvCxnSpPr>
        <p:spPr>
          <a:xfrm>
            <a:off x="1893247" y="3284063"/>
            <a:ext cx="0" cy="194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4"/>
          <p:cNvCxnSpPr>
            <a:stCxn id="298" idx="4"/>
            <a:endCxn id="290" idx="0"/>
          </p:cNvCxnSpPr>
          <p:nvPr/>
        </p:nvCxnSpPr>
        <p:spPr>
          <a:xfrm>
            <a:off x="2693595" y="3600245"/>
            <a:ext cx="0" cy="3789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34"/>
          <p:cNvCxnSpPr>
            <a:stCxn id="291" idx="4"/>
            <a:endCxn id="299" idx="0"/>
          </p:cNvCxnSpPr>
          <p:nvPr/>
        </p:nvCxnSpPr>
        <p:spPr>
          <a:xfrm>
            <a:off x="3493939" y="3721994"/>
            <a:ext cx="0" cy="2571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34"/>
          <p:cNvCxnSpPr>
            <a:endCxn id="315" idx="0"/>
          </p:cNvCxnSpPr>
          <p:nvPr/>
        </p:nvCxnSpPr>
        <p:spPr>
          <a:xfrm>
            <a:off x="5726825" y="3284212"/>
            <a:ext cx="0" cy="1188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34"/>
          <p:cNvCxnSpPr>
            <a:stCxn id="316" idx="4"/>
            <a:endCxn id="316" idx="4"/>
          </p:cNvCxnSpPr>
          <p:nvPr/>
        </p:nvCxnSpPr>
        <p:spPr>
          <a:xfrm>
            <a:off x="6527172" y="3366825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34"/>
          <p:cNvCxnSpPr>
            <a:stCxn id="316" idx="4"/>
            <a:endCxn id="308" idx="0"/>
          </p:cNvCxnSpPr>
          <p:nvPr/>
        </p:nvCxnSpPr>
        <p:spPr>
          <a:xfrm>
            <a:off x="6527172" y="3366825"/>
            <a:ext cx="0" cy="111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34"/>
          <p:cNvCxnSpPr>
            <a:stCxn id="317" idx="4"/>
            <a:endCxn id="309" idx="0"/>
          </p:cNvCxnSpPr>
          <p:nvPr/>
        </p:nvCxnSpPr>
        <p:spPr>
          <a:xfrm>
            <a:off x="7327520" y="3872232"/>
            <a:ext cx="0" cy="1071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34"/>
          <p:cNvCxnSpPr>
            <a:stCxn id="310" idx="4"/>
            <a:endCxn id="318" idx="0"/>
          </p:cNvCxnSpPr>
          <p:nvPr/>
        </p:nvCxnSpPr>
        <p:spPr>
          <a:xfrm>
            <a:off x="8127864" y="3722006"/>
            <a:ext cx="0" cy="1695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MASE vs R</a:t>
            </a:r>
            <a:r>
              <a:rPr baseline="30000" lang="en"/>
              <a:t>2</a:t>
            </a:r>
            <a:endParaRPr baseline="30000"/>
          </a:p>
        </p:txBody>
      </p:sp>
      <p:sp>
        <p:nvSpPr>
          <p:cNvPr id="339" name="Google Shape;339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Both MASE and R</a:t>
            </a:r>
            <a:r>
              <a:rPr baseline="30000" lang="en"/>
              <a:t>2</a:t>
            </a:r>
            <a:r>
              <a:rPr lang="en"/>
              <a:t> compare the prediction with a baseline prediction.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</a:t>
            </a:r>
            <a:r>
              <a:rPr lang="en"/>
              <a:t>R</a:t>
            </a:r>
            <a:r>
              <a:rPr baseline="30000" lang="en"/>
              <a:t>2</a:t>
            </a:r>
            <a:r>
              <a:rPr lang="en"/>
              <a:t>, the baseline prediction is the </a:t>
            </a:r>
            <a:r>
              <a:rPr lang="en" u="sng"/>
              <a:t>average value of all labels</a:t>
            </a:r>
            <a:r>
              <a:rPr lang="en"/>
              <a:t>. Applicable to general regression task.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 MASE, the baseline prediction is the </a:t>
            </a:r>
            <a:r>
              <a:rPr lang="en" u="sng"/>
              <a:t>previous value of the time series</a:t>
            </a:r>
            <a:r>
              <a:rPr lang="en"/>
              <a:t>. Applicable to regression of time series.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