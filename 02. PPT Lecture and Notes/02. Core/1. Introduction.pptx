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Lora" panose="020B0604020202020204" charset="0"/>
      <p:regular r:id="rId18"/>
      <p:bold r:id="rId19"/>
      <p:italic r:id="rId20"/>
      <p:boldItalic r:id="rId21"/>
    </p:embeddedFont>
    <p:embeddedFont>
      <p:font typeface="Nunit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4E0F46-FECE-46C5-BD25-01B76A53F00E}">
  <a:tblStyle styleId="{204E0F46-FECE-46C5-BD25-01B76A53F0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20" y="8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60646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05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753ac9c172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753ac9c172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63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321386369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321386369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140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32138636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32138636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0554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53ac9c172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53ac9c172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4134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5e8d4810d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5e8d4810d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795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32138636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632138636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213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32138636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32138636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985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db902e99b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7db902e99b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87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db902e99b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7db902e99b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574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db902e99b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db902e99b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959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e8d4810d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e8d4810de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745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ad514220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aad514220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861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aad514220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aad514220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7924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4300"/>
              <a:buFont typeface="Lora"/>
              <a:buNone/>
              <a:defRPr sz="4300" b="1">
                <a:solidFill>
                  <a:srgbClr val="00287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0895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t="32807" b="38007"/>
          <a:stretch/>
        </p:blipFill>
        <p:spPr>
          <a:xfrm>
            <a:off x="0" y="3362225"/>
            <a:ext cx="9144003" cy="178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400"/>
              <a:buNone/>
              <a:defRPr sz="2400"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4800"/>
              <a:buFont typeface="Lora"/>
              <a:buNone/>
              <a:defRPr sz="4800" b="1">
                <a:solidFill>
                  <a:srgbClr val="00287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3800"/>
              <a:buFont typeface="Lora"/>
              <a:buNone/>
              <a:defRPr sz="3800" b="1">
                <a:solidFill>
                  <a:srgbClr val="00287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None/>
              <a:defRPr i="1">
                <a:latin typeface="Lora"/>
                <a:ea typeface="Lora"/>
                <a:cs typeface="Lora"/>
                <a:sym typeface="Lora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ora"/>
              <a:buNone/>
              <a:defRPr sz="12000" b="1"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sz="2800"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forecasting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time series?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over time.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 include: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Temperature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Amount of traffic on street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Stock price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Interval between time</a:t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311700" y="1208000"/>
          <a:ext cx="8520600" cy="2230625"/>
        </p:xfrm>
        <a:graphic>
          <a:graphicData uri="http://schemas.openxmlformats.org/drawingml/2006/table">
            <a:tbl>
              <a:tblPr>
                <a:noFill/>
                <a:tableStyleId>{204E0F46-FECE-46C5-BD25-01B76A53F00E}</a:tableStyleId>
              </a:tblPr>
              <a:tblGrid>
                <a:gridCol w="4260300"/>
                <a:gridCol w="4260300"/>
              </a:tblGrid>
              <a:tr h="409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Regular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Irregular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182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1998-04-23    23°C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1998-04-24    24°C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1998-04-25    23°C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1998-04-26    25°C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1998-04-27    26°C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1998-04-28    25°C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1998-04-23 3:00    23°C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1998-04-23 4:00    24°C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1998-04-23 4:12    23°C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1998-04-26 5:44    25°C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1998-04-27 9:48    26°C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1998-04-28 9:49    25°C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69" name="Google Shape;69;p15"/>
          <p:cNvSpPr txBox="1"/>
          <p:nvPr/>
        </p:nvSpPr>
        <p:spPr>
          <a:xfrm>
            <a:off x="323825" y="365995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time series analysis, converting data into a regular time interval is often necessary.  This can be achieved using .resample() function from pandas.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values</a:t>
            </a:r>
            <a:endParaRPr/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311700" y="1208000"/>
          <a:ext cx="4260300" cy="2230625"/>
        </p:xfrm>
        <a:graphic>
          <a:graphicData uri="http://schemas.openxmlformats.org/drawingml/2006/table">
            <a:tbl>
              <a:tblPr>
                <a:noFill/>
                <a:tableStyleId>{204E0F46-FECE-46C5-BD25-01B76A53F00E}</a:tableStyleId>
              </a:tblPr>
              <a:tblGrid>
                <a:gridCol w="2130150"/>
                <a:gridCol w="2130150"/>
              </a:tblGrid>
              <a:tr h="409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Temperature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182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1998-04-23    23°C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1998-04-24    24°C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1998-04-26    25°C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1998-04-27    26°C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1998-04-28    25°C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 1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 2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 4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 5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 6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76" name="Google Shape;76;p16"/>
          <p:cNvSpPr txBox="1"/>
          <p:nvPr/>
        </p:nvSpPr>
        <p:spPr>
          <a:xfrm>
            <a:off x="4872400" y="1208000"/>
            <a:ext cx="40740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In time series analysis, it is acceptable to have missing values. In case of missing values, we need to be cautious during the feature engineering stage.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In this example, we need to be aware that 26/4 is day 4 instead of day 3.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In case we want to fill null for 25/4, we may use .resample() and .interpolate() function from pandas.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and prediction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Modeling: Explain the observations in the past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Prediction: Base on the explanation, predict the future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difficulty of the prediction depends on 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much randomness exists in the time series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many factors contributes to the observation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 effects of the factors intervene each other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(Easy) Elevator consumption per hour on working days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(Difficult)  Bitcoin/usd price</a:t>
            </a:r>
            <a:endParaRPr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903" y="-904530"/>
            <a:ext cx="9119367" cy="51435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6477640" y="3849701"/>
            <a:ext cx="59186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Trend and seasonality may be not independent</a:t>
            </a:r>
          </a:p>
          <a:p>
            <a:endParaRPr lang="en-US" dirty="0"/>
          </a:p>
          <a:p>
            <a:r>
              <a:rPr lang="en-US" dirty="0" smtClean="0"/>
              <a:t>The larger the trend, the larger the </a:t>
            </a:r>
            <a:r>
              <a:rPr lang="en-US" dirty="0" err="1" smtClean="0"/>
              <a:t>seasonlality</a:t>
            </a:r>
            <a:r>
              <a:rPr lang="en-US" dirty="0" smtClean="0"/>
              <a:t> , then the larger the error</a:t>
            </a:r>
            <a:endParaRPr lang="en-GB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74151" y="4733365"/>
            <a:ext cx="6288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Some factors need to multiply them together rather than adding them together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the next value in a time series is a </a:t>
            </a:r>
            <a:r>
              <a:rPr lang="en" u="sng"/>
              <a:t>regression</a:t>
            </a:r>
            <a:r>
              <a:rPr lang="en"/>
              <a:t> task</a:t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1139863" y="31260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2271988" y="221865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3404113" y="26659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4536238" y="33742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5668363" y="28381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" name="Google Shape;93;p18"/>
          <p:cNvCxnSpPr/>
          <p:nvPr/>
        </p:nvCxnSpPr>
        <p:spPr>
          <a:xfrm>
            <a:off x="2358088" y="205042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8"/>
          <p:cNvCxnSpPr>
            <a:stCxn id="88" idx="7"/>
            <a:endCxn id="89" idx="3"/>
          </p:cNvCxnSpPr>
          <p:nvPr/>
        </p:nvCxnSpPr>
        <p:spPr>
          <a:xfrm rot="10800000" flipH="1">
            <a:off x="1286844" y="2365518"/>
            <a:ext cx="1010400" cy="7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8"/>
          <p:cNvCxnSpPr>
            <a:stCxn id="89" idx="6"/>
            <a:endCxn id="90" idx="2"/>
          </p:cNvCxnSpPr>
          <p:nvPr/>
        </p:nvCxnSpPr>
        <p:spPr>
          <a:xfrm>
            <a:off x="2444188" y="2304750"/>
            <a:ext cx="960000" cy="4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Google Shape;96;p18"/>
          <p:cNvCxnSpPr>
            <a:stCxn id="90" idx="5"/>
            <a:endCxn id="91" idx="2"/>
          </p:cNvCxnSpPr>
          <p:nvPr/>
        </p:nvCxnSpPr>
        <p:spPr>
          <a:xfrm>
            <a:off x="3551094" y="2812882"/>
            <a:ext cx="985200" cy="64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8"/>
          <p:cNvCxnSpPr>
            <a:stCxn id="91" idx="6"/>
            <a:endCxn id="92" idx="2"/>
          </p:cNvCxnSpPr>
          <p:nvPr/>
        </p:nvCxnSpPr>
        <p:spPr>
          <a:xfrm rot="10800000" flipH="1">
            <a:off x="4708438" y="2924200"/>
            <a:ext cx="960000" cy="53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" name="Google Shape;98;p18"/>
          <p:cNvSpPr txBox="1"/>
          <p:nvPr/>
        </p:nvSpPr>
        <p:spPr>
          <a:xfrm>
            <a:off x="2397913" y="3804150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Observations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825738" y="2304738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0" name="Google Shape;100;p18"/>
          <p:cNvCxnSpPr>
            <a:endCxn id="99" idx="3"/>
          </p:cNvCxnSpPr>
          <p:nvPr/>
        </p:nvCxnSpPr>
        <p:spPr>
          <a:xfrm rot="10800000" flipH="1">
            <a:off x="5840556" y="2451719"/>
            <a:ext cx="1010400" cy="4674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101;p18"/>
          <p:cNvSpPr txBox="1"/>
          <p:nvPr/>
        </p:nvSpPr>
        <p:spPr>
          <a:xfrm>
            <a:off x="5819538" y="3771550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Prediction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2" name="Google Shape;102;p18"/>
          <p:cNvCxnSpPr/>
          <p:nvPr/>
        </p:nvCxnSpPr>
        <p:spPr>
          <a:xfrm>
            <a:off x="5754463" y="1493550"/>
            <a:ext cx="0" cy="3060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Regression model</a:t>
            </a:r>
            <a:endParaRPr/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311700" y="1549250"/>
          <a:ext cx="6256250" cy="2390325"/>
        </p:xfrm>
        <a:graphic>
          <a:graphicData uri="http://schemas.openxmlformats.org/drawingml/2006/table">
            <a:tbl>
              <a:tblPr>
                <a:noFill/>
                <a:tableStyleId>{204E0F46-FECE-46C5-BD25-01B76A53F00E}</a:tableStyleId>
              </a:tblPr>
              <a:tblGrid>
                <a:gridCol w="1109900"/>
                <a:gridCol w="5146350"/>
              </a:tblGrid>
              <a:tr h="40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9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1975-11-03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9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9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9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9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graphicFrame>
        <p:nvGraphicFramePr>
          <p:cNvPr id="109" name="Google Shape;109;p19"/>
          <p:cNvGraphicFramePr/>
          <p:nvPr/>
        </p:nvGraphicFramePr>
        <p:xfrm>
          <a:off x="7693225" y="1549300"/>
          <a:ext cx="755025" cy="2377260"/>
        </p:xfrm>
        <a:graphic>
          <a:graphicData uri="http://schemas.openxmlformats.org/drawingml/2006/table">
            <a:tbl>
              <a:tblPr>
                <a:noFill/>
                <a:tableStyleId>{204E0F46-FECE-46C5-BD25-01B76A53F00E}</a:tableStyleId>
              </a:tblPr>
              <a:tblGrid>
                <a:gridCol w="755025"/>
              </a:tblGrid>
              <a:tr h="383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Label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3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104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3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321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3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232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3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551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3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133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10" name="Google Shape;110;p19"/>
          <p:cNvSpPr txBox="1"/>
          <p:nvPr/>
        </p:nvSpPr>
        <p:spPr>
          <a:xfrm>
            <a:off x="311700" y="4096750"/>
            <a:ext cx="813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Recall that we need to prepare features (X) and label (y) for training a regression model.  Now the question become - what is the X?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43" y="970209"/>
            <a:ext cx="9144000" cy="3626162"/>
          </a:xfrm>
          <a:prstGeom prst="rect">
            <a:avLst/>
          </a:prstGeom>
        </p:spPr>
      </p:pic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0" y="0"/>
            <a:ext cx="8520600" cy="3416400"/>
          </a:xfrm>
        </p:spPr>
        <p:txBody>
          <a:bodyPr/>
          <a:lstStyle/>
          <a:p>
            <a:r>
              <a:rPr lang="en-US" dirty="0" smtClean="0"/>
              <a:t>We add things linearly in the model. The points may be affected by other components as well.</a:t>
            </a:r>
          </a:p>
          <a:p>
            <a:endParaRPr lang="en-US" dirty="0"/>
          </a:p>
          <a:p>
            <a:r>
              <a:rPr lang="en-US" dirty="0" smtClean="0"/>
              <a:t>If 3D, instead of best-fit line, we do best-fit sheet, so it’s still linear regression.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20" y="3033124"/>
            <a:ext cx="9144000" cy="4134928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9956800" y="1463413"/>
            <a:ext cx="49119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matter it’s </a:t>
            </a:r>
            <a:r>
              <a:rPr lang="en-US" dirty="0" err="1" smtClean="0"/>
              <a:t>x,y,z</a:t>
            </a:r>
            <a:r>
              <a:rPr lang="en-US" dirty="0" smtClean="0"/>
              <a:t>, it’s only one way direction for each axis.</a:t>
            </a:r>
            <a:br>
              <a:rPr lang="en-US" dirty="0" smtClean="0"/>
            </a:br>
            <a:r>
              <a:rPr lang="en-US" dirty="0" smtClean="0"/>
              <a:t>Should not be bent!</a:t>
            </a:r>
          </a:p>
          <a:p>
            <a:endParaRPr lang="en-GB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594" y="-4326467"/>
            <a:ext cx="5818680" cy="51435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223" y="-5393267"/>
            <a:ext cx="60444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2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- Mean Absolute Error (MAE)</a:t>
            </a: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1926300" y="34885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3058425" y="258122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4190550" y="30284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5322675" y="37367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6454800" y="32006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1926300" y="283005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3058425" y="224080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4190550" y="33163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5322675" y="258122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6454800" y="29028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" name="Google Shape;131;p21"/>
          <p:cNvCxnSpPr>
            <a:stCxn id="126" idx="4"/>
            <a:endCxn id="121" idx="0"/>
          </p:cNvCxnSpPr>
          <p:nvPr/>
        </p:nvCxnSpPr>
        <p:spPr>
          <a:xfrm>
            <a:off x="2012400" y="3002250"/>
            <a:ext cx="0" cy="486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21"/>
          <p:cNvCxnSpPr>
            <a:stCxn id="127" idx="4"/>
            <a:endCxn id="127" idx="4"/>
          </p:cNvCxnSpPr>
          <p:nvPr/>
        </p:nvCxnSpPr>
        <p:spPr>
          <a:xfrm>
            <a:off x="3144525" y="24130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21"/>
          <p:cNvCxnSpPr>
            <a:stCxn id="127" idx="4"/>
            <a:endCxn id="122" idx="0"/>
          </p:cNvCxnSpPr>
          <p:nvPr/>
        </p:nvCxnSpPr>
        <p:spPr>
          <a:xfrm>
            <a:off x="3144525" y="2413000"/>
            <a:ext cx="0" cy="168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21"/>
          <p:cNvCxnSpPr>
            <a:stCxn id="123" idx="4"/>
            <a:endCxn id="128" idx="0"/>
          </p:cNvCxnSpPr>
          <p:nvPr/>
        </p:nvCxnSpPr>
        <p:spPr>
          <a:xfrm>
            <a:off x="4276650" y="3200675"/>
            <a:ext cx="0" cy="115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21"/>
          <p:cNvCxnSpPr>
            <a:stCxn id="129" idx="4"/>
            <a:endCxn id="124" idx="0"/>
          </p:cNvCxnSpPr>
          <p:nvPr/>
        </p:nvCxnSpPr>
        <p:spPr>
          <a:xfrm>
            <a:off x="5408775" y="2753425"/>
            <a:ext cx="0" cy="983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21"/>
          <p:cNvCxnSpPr>
            <a:stCxn id="130" idx="4"/>
            <a:endCxn id="125" idx="0"/>
          </p:cNvCxnSpPr>
          <p:nvPr/>
        </p:nvCxnSpPr>
        <p:spPr>
          <a:xfrm>
            <a:off x="6540900" y="3075075"/>
            <a:ext cx="0" cy="1257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21"/>
          <p:cNvCxnSpPr>
            <a:stCxn id="126" idx="7"/>
            <a:endCxn id="127" idx="3"/>
          </p:cNvCxnSpPr>
          <p:nvPr/>
        </p:nvCxnSpPr>
        <p:spPr>
          <a:xfrm rot="10800000" flipH="1">
            <a:off x="2073282" y="2387868"/>
            <a:ext cx="1010400" cy="4674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21"/>
          <p:cNvCxnSpPr>
            <a:stCxn id="127" idx="5"/>
            <a:endCxn id="128" idx="1"/>
          </p:cNvCxnSpPr>
          <p:nvPr/>
        </p:nvCxnSpPr>
        <p:spPr>
          <a:xfrm>
            <a:off x="3205407" y="2387782"/>
            <a:ext cx="1010400" cy="9537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21"/>
          <p:cNvCxnSpPr>
            <a:stCxn id="128" idx="7"/>
            <a:endCxn id="129" idx="3"/>
          </p:cNvCxnSpPr>
          <p:nvPr/>
        </p:nvCxnSpPr>
        <p:spPr>
          <a:xfrm rot="10800000" flipH="1">
            <a:off x="4337532" y="2728093"/>
            <a:ext cx="1010400" cy="6135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" name="Google Shape;140;p21"/>
          <p:cNvCxnSpPr>
            <a:stCxn id="129" idx="5"/>
            <a:endCxn id="130" idx="2"/>
          </p:cNvCxnSpPr>
          <p:nvPr/>
        </p:nvCxnSpPr>
        <p:spPr>
          <a:xfrm>
            <a:off x="5469657" y="2728207"/>
            <a:ext cx="985200" cy="2607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21"/>
          <p:cNvCxnSpPr>
            <a:stCxn id="121" idx="7"/>
            <a:endCxn id="122" idx="3"/>
          </p:cNvCxnSpPr>
          <p:nvPr/>
        </p:nvCxnSpPr>
        <p:spPr>
          <a:xfrm rot="10800000" flipH="1">
            <a:off x="2073282" y="2728093"/>
            <a:ext cx="1010400" cy="7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21"/>
          <p:cNvCxnSpPr>
            <a:stCxn id="122" idx="6"/>
            <a:endCxn id="123" idx="2"/>
          </p:cNvCxnSpPr>
          <p:nvPr/>
        </p:nvCxnSpPr>
        <p:spPr>
          <a:xfrm>
            <a:off x="3230625" y="2667325"/>
            <a:ext cx="960000" cy="4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21"/>
          <p:cNvCxnSpPr>
            <a:stCxn id="123" idx="5"/>
            <a:endCxn id="124" idx="2"/>
          </p:cNvCxnSpPr>
          <p:nvPr/>
        </p:nvCxnSpPr>
        <p:spPr>
          <a:xfrm>
            <a:off x="4337532" y="3175457"/>
            <a:ext cx="985200" cy="64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21"/>
          <p:cNvCxnSpPr>
            <a:stCxn id="124" idx="6"/>
            <a:endCxn id="125" idx="2"/>
          </p:cNvCxnSpPr>
          <p:nvPr/>
        </p:nvCxnSpPr>
        <p:spPr>
          <a:xfrm rot="10800000" flipH="1">
            <a:off x="5494875" y="3286775"/>
            <a:ext cx="960000" cy="53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21"/>
          <p:cNvSpPr txBox="1"/>
          <p:nvPr/>
        </p:nvSpPr>
        <p:spPr>
          <a:xfrm>
            <a:off x="6718975" y="30866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Actual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6718975" y="27888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D9EEB"/>
                </a:solidFill>
                <a:latin typeface="Nunito"/>
                <a:ea typeface="Nunito"/>
                <a:cs typeface="Nunito"/>
                <a:sym typeface="Nunito"/>
              </a:rPr>
              <a:t>Predicted</a:t>
            </a:r>
            <a:endParaRPr>
              <a:solidFill>
                <a:srgbClr val="6D9EE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939575" y="4282950"/>
            <a:ext cx="38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MAE is the average of all errors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8" name="Google Shape;148;p21"/>
          <p:cNvCxnSpPr/>
          <p:nvPr/>
        </p:nvCxnSpPr>
        <p:spPr>
          <a:xfrm>
            <a:off x="4706625" y="4257900"/>
            <a:ext cx="0" cy="450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088" y="4150125"/>
            <a:ext cx="798331" cy="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- Root Mean Squared Error (RMSE)</a:t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1926300" y="34885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3058425" y="258122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4190550" y="30284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5322675" y="37367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6454800" y="32006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1926300" y="283005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058425" y="224080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4190550" y="33163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5322675" y="258122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6454800" y="29028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5" name="Google Shape;165;p22"/>
          <p:cNvCxnSpPr>
            <a:stCxn id="160" idx="4"/>
            <a:endCxn id="155" idx="0"/>
          </p:cNvCxnSpPr>
          <p:nvPr/>
        </p:nvCxnSpPr>
        <p:spPr>
          <a:xfrm>
            <a:off x="2012400" y="3002250"/>
            <a:ext cx="0" cy="486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2"/>
          <p:cNvCxnSpPr>
            <a:stCxn id="161" idx="4"/>
            <a:endCxn id="161" idx="4"/>
          </p:cNvCxnSpPr>
          <p:nvPr/>
        </p:nvCxnSpPr>
        <p:spPr>
          <a:xfrm>
            <a:off x="3144525" y="24130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2"/>
          <p:cNvCxnSpPr>
            <a:stCxn id="161" idx="4"/>
            <a:endCxn id="156" idx="0"/>
          </p:cNvCxnSpPr>
          <p:nvPr/>
        </p:nvCxnSpPr>
        <p:spPr>
          <a:xfrm>
            <a:off x="3144525" y="2413000"/>
            <a:ext cx="0" cy="168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2"/>
          <p:cNvCxnSpPr>
            <a:stCxn id="157" idx="4"/>
            <a:endCxn id="162" idx="0"/>
          </p:cNvCxnSpPr>
          <p:nvPr/>
        </p:nvCxnSpPr>
        <p:spPr>
          <a:xfrm>
            <a:off x="4276650" y="3200675"/>
            <a:ext cx="0" cy="115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2"/>
          <p:cNvCxnSpPr>
            <a:stCxn id="163" idx="4"/>
            <a:endCxn id="158" idx="0"/>
          </p:cNvCxnSpPr>
          <p:nvPr/>
        </p:nvCxnSpPr>
        <p:spPr>
          <a:xfrm>
            <a:off x="5408775" y="2753425"/>
            <a:ext cx="0" cy="983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2"/>
          <p:cNvCxnSpPr>
            <a:stCxn id="164" idx="4"/>
            <a:endCxn id="159" idx="0"/>
          </p:cNvCxnSpPr>
          <p:nvPr/>
        </p:nvCxnSpPr>
        <p:spPr>
          <a:xfrm>
            <a:off x="6540900" y="3075075"/>
            <a:ext cx="0" cy="1257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2"/>
          <p:cNvCxnSpPr>
            <a:stCxn id="160" idx="7"/>
            <a:endCxn id="161" idx="3"/>
          </p:cNvCxnSpPr>
          <p:nvPr/>
        </p:nvCxnSpPr>
        <p:spPr>
          <a:xfrm rot="10800000" flipH="1">
            <a:off x="2073282" y="2387868"/>
            <a:ext cx="1010400" cy="4674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" name="Google Shape;172;p22"/>
          <p:cNvCxnSpPr>
            <a:stCxn id="161" idx="5"/>
            <a:endCxn id="162" idx="1"/>
          </p:cNvCxnSpPr>
          <p:nvPr/>
        </p:nvCxnSpPr>
        <p:spPr>
          <a:xfrm>
            <a:off x="3205407" y="2387782"/>
            <a:ext cx="1010400" cy="9537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" name="Google Shape;173;p22"/>
          <p:cNvCxnSpPr>
            <a:stCxn id="162" idx="7"/>
            <a:endCxn id="163" idx="3"/>
          </p:cNvCxnSpPr>
          <p:nvPr/>
        </p:nvCxnSpPr>
        <p:spPr>
          <a:xfrm rot="10800000" flipH="1">
            <a:off x="4337532" y="2728093"/>
            <a:ext cx="1010400" cy="6135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2"/>
          <p:cNvCxnSpPr>
            <a:stCxn id="163" idx="5"/>
            <a:endCxn id="164" idx="2"/>
          </p:cNvCxnSpPr>
          <p:nvPr/>
        </p:nvCxnSpPr>
        <p:spPr>
          <a:xfrm>
            <a:off x="5469657" y="2728207"/>
            <a:ext cx="985200" cy="260700"/>
          </a:xfrm>
          <a:prstGeom prst="straightConnector1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2"/>
          <p:cNvCxnSpPr>
            <a:stCxn id="155" idx="7"/>
            <a:endCxn id="156" idx="3"/>
          </p:cNvCxnSpPr>
          <p:nvPr/>
        </p:nvCxnSpPr>
        <p:spPr>
          <a:xfrm rot="10800000" flipH="1">
            <a:off x="2073282" y="2728093"/>
            <a:ext cx="1010400" cy="7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2"/>
          <p:cNvCxnSpPr>
            <a:stCxn id="156" idx="6"/>
            <a:endCxn id="157" idx="2"/>
          </p:cNvCxnSpPr>
          <p:nvPr/>
        </p:nvCxnSpPr>
        <p:spPr>
          <a:xfrm>
            <a:off x="3230625" y="2667325"/>
            <a:ext cx="960000" cy="4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2"/>
          <p:cNvCxnSpPr>
            <a:stCxn id="157" idx="5"/>
            <a:endCxn id="158" idx="2"/>
          </p:cNvCxnSpPr>
          <p:nvPr/>
        </p:nvCxnSpPr>
        <p:spPr>
          <a:xfrm>
            <a:off x="4337532" y="3175457"/>
            <a:ext cx="985200" cy="64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2"/>
          <p:cNvCxnSpPr>
            <a:stCxn id="158" idx="6"/>
            <a:endCxn id="159" idx="2"/>
          </p:cNvCxnSpPr>
          <p:nvPr/>
        </p:nvCxnSpPr>
        <p:spPr>
          <a:xfrm rot="10800000" flipH="1">
            <a:off x="5494875" y="3286775"/>
            <a:ext cx="960000" cy="53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2"/>
          <p:cNvSpPr txBox="1"/>
          <p:nvPr/>
        </p:nvSpPr>
        <p:spPr>
          <a:xfrm>
            <a:off x="6718975" y="30866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Actual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718975" y="27888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D9EEB"/>
                </a:solidFill>
                <a:latin typeface="Nunito"/>
                <a:ea typeface="Nunito"/>
                <a:cs typeface="Nunito"/>
                <a:sym typeface="Nunito"/>
              </a:rPr>
              <a:t>Predicted</a:t>
            </a:r>
            <a:endParaRPr>
              <a:solidFill>
                <a:srgbClr val="6D9EE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1939575" y="4282950"/>
            <a:ext cx="346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RMSE is the average of all squared errors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82" name="Google Shape;182;p22"/>
          <p:cNvCxnSpPr/>
          <p:nvPr/>
        </p:nvCxnSpPr>
        <p:spPr>
          <a:xfrm>
            <a:off x="6097250" y="4358050"/>
            <a:ext cx="0" cy="223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3" name="Google Shape;183;p22"/>
          <p:cNvSpPr txBox="1"/>
          <p:nvPr/>
        </p:nvSpPr>
        <p:spPr>
          <a:xfrm>
            <a:off x="6063800" y="4193575"/>
            <a:ext cx="24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Nunito"/>
                <a:ea typeface="Nunito"/>
                <a:cs typeface="Nunito"/>
                <a:sym typeface="Nunito"/>
              </a:rPr>
              <a:t>2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696850" y="4308250"/>
            <a:ext cx="88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Nunito"/>
                <a:ea typeface="Nunito"/>
                <a:cs typeface="Nunito"/>
                <a:sym typeface="Nunito"/>
              </a:rPr>
              <a:t>avg(           )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- Mean Absolute Scaled Error (MASE)</a:t>
            </a:r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7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MASE = MAE of real prediction / MAE of naive prediction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MASE is a measurement of how much better is our model compared to the naive model.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231650" y="3803724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3"/>
          <p:cNvSpPr/>
          <p:nvPr/>
        </p:nvSpPr>
        <p:spPr>
          <a:xfrm>
            <a:off x="1031997" y="3162275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1832345" y="3478457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2632692" y="3979189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3433039" y="3600194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6" name="Google Shape;196;p23"/>
          <p:cNvCxnSpPr>
            <a:stCxn id="191" idx="7"/>
            <a:endCxn id="192" idx="3"/>
          </p:cNvCxnSpPr>
          <p:nvPr/>
        </p:nvCxnSpPr>
        <p:spPr>
          <a:xfrm rot="10800000" flipH="1">
            <a:off x="335613" y="3266261"/>
            <a:ext cx="714300" cy="55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3"/>
          <p:cNvCxnSpPr>
            <a:stCxn id="192" idx="6"/>
            <a:endCxn id="193" idx="2"/>
          </p:cNvCxnSpPr>
          <p:nvPr/>
        </p:nvCxnSpPr>
        <p:spPr>
          <a:xfrm>
            <a:off x="1153797" y="3223175"/>
            <a:ext cx="678600" cy="3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3"/>
          <p:cNvCxnSpPr>
            <a:stCxn id="193" idx="5"/>
            <a:endCxn id="194" idx="2"/>
          </p:cNvCxnSpPr>
          <p:nvPr/>
        </p:nvCxnSpPr>
        <p:spPr>
          <a:xfrm>
            <a:off x="1936308" y="3582420"/>
            <a:ext cx="696300" cy="45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3"/>
          <p:cNvCxnSpPr>
            <a:stCxn id="194" idx="6"/>
            <a:endCxn id="195" idx="2"/>
          </p:cNvCxnSpPr>
          <p:nvPr/>
        </p:nvCxnSpPr>
        <p:spPr>
          <a:xfrm rot="10800000" flipH="1">
            <a:off x="2754492" y="3661189"/>
            <a:ext cx="678600" cy="37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p23"/>
          <p:cNvSpPr/>
          <p:nvPr/>
        </p:nvSpPr>
        <p:spPr>
          <a:xfrm>
            <a:off x="1032000" y="3803712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1832347" y="3162263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2632695" y="3478445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433042" y="3979176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233389" y="3600181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cxnSp>
        <p:nvCxnSpPr>
          <p:cNvPr id="205" name="Google Shape;205;p23"/>
          <p:cNvCxnSpPr>
            <a:stCxn id="200" idx="7"/>
            <a:endCxn id="201" idx="3"/>
          </p:cNvCxnSpPr>
          <p:nvPr/>
        </p:nvCxnSpPr>
        <p:spPr>
          <a:xfrm rot="10800000" flipH="1">
            <a:off x="1135963" y="3266249"/>
            <a:ext cx="714300" cy="5553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3"/>
          <p:cNvCxnSpPr>
            <a:stCxn id="201" idx="6"/>
            <a:endCxn id="202" idx="2"/>
          </p:cNvCxnSpPr>
          <p:nvPr/>
        </p:nvCxnSpPr>
        <p:spPr>
          <a:xfrm>
            <a:off x="1954147" y="3223163"/>
            <a:ext cx="678600" cy="3162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3"/>
          <p:cNvCxnSpPr>
            <a:stCxn id="202" idx="5"/>
            <a:endCxn id="203" idx="2"/>
          </p:cNvCxnSpPr>
          <p:nvPr/>
        </p:nvCxnSpPr>
        <p:spPr>
          <a:xfrm>
            <a:off x="2736658" y="3582408"/>
            <a:ext cx="696300" cy="4578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3"/>
          <p:cNvCxnSpPr>
            <a:stCxn id="203" idx="6"/>
            <a:endCxn id="204" idx="2"/>
          </p:cNvCxnSpPr>
          <p:nvPr/>
        </p:nvCxnSpPr>
        <p:spPr>
          <a:xfrm rot="10800000" flipH="1">
            <a:off x="3554842" y="3661176"/>
            <a:ext cx="678600" cy="3789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3"/>
          <p:cNvSpPr txBox="1"/>
          <p:nvPr/>
        </p:nvSpPr>
        <p:spPr>
          <a:xfrm>
            <a:off x="386950" y="4479950"/>
            <a:ext cx="38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Naive Prediction - Predict with previous value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4865575" y="3803737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5665922" y="3162288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6466270" y="3478470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7266617" y="3979201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8066964" y="3600206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5" name="Google Shape;215;p23"/>
          <p:cNvCxnSpPr>
            <a:stCxn id="210" idx="7"/>
            <a:endCxn id="211" idx="3"/>
          </p:cNvCxnSpPr>
          <p:nvPr/>
        </p:nvCxnSpPr>
        <p:spPr>
          <a:xfrm rot="10800000" flipH="1">
            <a:off x="4969538" y="3266274"/>
            <a:ext cx="714300" cy="55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3"/>
          <p:cNvCxnSpPr>
            <a:stCxn id="211" idx="6"/>
            <a:endCxn id="212" idx="2"/>
          </p:cNvCxnSpPr>
          <p:nvPr/>
        </p:nvCxnSpPr>
        <p:spPr>
          <a:xfrm>
            <a:off x="5787722" y="3223188"/>
            <a:ext cx="678600" cy="3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3"/>
          <p:cNvCxnSpPr>
            <a:stCxn id="212" idx="5"/>
            <a:endCxn id="213" idx="2"/>
          </p:cNvCxnSpPr>
          <p:nvPr/>
        </p:nvCxnSpPr>
        <p:spPr>
          <a:xfrm>
            <a:off x="6570233" y="3582433"/>
            <a:ext cx="696300" cy="45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3"/>
          <p:cNvCxnSpPr>
            <a:stCxn id="213" idx="6"/>
            <a:endCxn id="214" idx="2"/>
          </p:cNvCxnSpPr>
          <p:nvPr/>
        </p:nvCxnSpPr>
        <p:spPr>
          <a:xfrm rot="10800000" flipH="1">
            <a:off x="7388417" y="3661201"/>
            <a:ext cx="678600" cy="37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3"/>
          <p:cNvSpPr/>
          <p:nvPr/>
        </p:nvSpPr>
        <p:spPr>
          <a:xfrm>
            <a:off x="5665925" y="3403012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6466272" y="3245025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266620" y="3750432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066967" y="3891439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8867314" y="3600194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A4C2F4"/>
              </a:highlight>
            </a:endParaRPr>
          </a:p>
        </p:txBody>
      </p:sp>
      <p:cxnSp>
        <p:nvCxnSpPr>
          <p:cNvPr id="224" name="Google Shape;224;p23"/>
          <p:cNvCxnSpPr>
            <a:stCxn id="219" idx="6"/>
            <a:endCxn id="220" idx="2"/>
          </p:cNvCxnSpPr>
          <p:nvPr/>
        </p:nvCxnSpPr>
        <p:spPr>
          <a:xfrm rot="10800000" flipH="1">
            <a:off x="5787725" y="3305812"/>
            <a:ext cx="678600" cy="1581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3"/>
          <p:cNvCxnSpPr>
            <a:stCxn id="220" idx="6"/>
            <a:endCxn id="221" idx="2"/>
          </p:cNvCxnSpPr>
          <p:nvPr/>
        </p:nvCxnSpPr>
        <p:spPr>
          <a:xfrm>
            <a:off x="6588072" y="3305925"/>
            <a:ext cx="678600" cy="5055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23"/>
          <p:cNvCxnSpPr>
            <a:stCxn id="221" idx="6"/>
            <a:endCxn id="222" idx="2"/>
          </p:cNvCxnSpPr>
          <p:nvPr/>
        </p:nvCxnSpPr>
        <p:spPr>
          <a:xfrm>
            <a:off x="7388420" y="3811332"/>
            <a:ext cx="678600" cy="1410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23"/>
          <p:cNvCxnSpPr>
            <a:stCxn id="222" idx="6"/>
            <a:endCxn id="223" idx="2"/>
          </p:cNvCxnSpPr>
          <p:nvPr/>
        </p:nvCxnSpPr>
        <p:spPr>
          <a:xfrm rot="10800000" flipH="1">
            <a:off x="8188767" y="3661039"/>
            <a:ext cx="678600" cy="291300"/>
          </a:xfrm>
          <a:prstGeom prst="straightConnector1">
            <a:avLst/>
          </a:prstGeom>
          <a:noFill/>
          <a:ln w="9525" cap="flat" cmpd="sng">
            <a:solidFill>
              <a:srgbClr val="5488C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228;p23"/>
          <p:cNvSpPr txBox="1"/>
          <p:nvPr/>
        </p:nvSpPr>
        <p:spPr>
          <a:xfrm>
            <a:off x="5020875" y="4479963"/>
            <a:ext cx="38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Real Prediction - Predict with model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9" name="Google Shape;229;p23"/>
          <p:cNvCxnSpPr>
            <a:stCxn id="192" idx="4"/>
            <a:endCxn id="200" idx="0"/>
          </p:cNvCxnSpPr>
          <p:nvPr/>
        </p:nvCxnSpPr>
        <p:spPr>
          <a:xfrm>
            <a:off x="1092897" y="3284075"/>
            <a:ext cx="0" cy="519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3"/>
          <p:cNvCxnSpPr>
            <a:stCxn id="201" idx="4"/>
            <a:endCxn id="193" idx="0"/>
          </p:cNvCxnSpPr>
          <p:nvPr/>
        </p:nvCxnSpPr>
        <p:spPr>
          <a:xfrm>
            <a:off x="1893247" y="3284063"/>
            <a:ext cx="0" cy="194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23"/>
          <p:cNvCxnSpPr>
            <a:stCxn id="202" idx="4"/>
            <a:endCxn id="194" idx="0"/>
          </p:cNvCxnSpPr>
          <p:nvPr/>
        </p:nvCxnSpPr>
        <p:spPr>
          <a:xfrm>
            <a:off x="2693595" y="3600245"/>
            <a:ext cx="0" cy="378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3"/>
          <p:cNvCxnSpPr>
            <a:stCxn id="195" idx="4"/>
            <a:endCxn id="203" idx="0"/>
          </p:cNvCxnSpPr>
          <p:nvPr/>
        </p:nvCxnSpPr>
        <p:spPr>
          <a:xfrm>
            <a:off x="3493939" y="3721994"/>
            <a:ext cx="0" cy="257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3"/>
          <p:cNvCxnSpPr>
            <a:endCxn id="219" idx="0"/>
          </p:cNvCxnSpPr>
          <p:nvPr/>
        </p:nvCxnSpPr>
        <p:spPr>
          <a:xfrm>
            <a:off x="5726825" y="3284212"/>
            <a:ext cx="0" cy="118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3"/>
          <p:cNvCxnSpPr>
            <a:stCxn id="220" idx="4"/>
            <a:endCxn id="220" idx="4"/>
          </p:cNvCxnSpPr>
          <p:nvPr/>
        </p:nvCxnSpPr>
        <p:spPr>
          <a:xfrm>
            <a:off x="6527172" y="336682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3"/>
          <p:cNvCxnSpPr>
            <a:stCxn id="220" idx="4"/>
            <a:endCxn id="212" idx="0"/>
          </p:cNvCxnSpPr>
          <p:nvPr/>
        </p:nvCxnSpPr>
        <p:spPr>
          <a:xfrm>
            <a:off x="6527172" y="3366825"/>
            <a:ext cx="0" cy="111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3"/>
          <p:cNvCxnSpPr>
            <a:stCxn id="221" idx="4"/>
            <a:endCxn id="213" idx="0"/>
          </p:cNvCxnSpPr>
          <p:nvPr/>
        </p:nvCxnSpPr>
        <p:spPr>
          <a:xfrm>
            <a:off x="7327520" y="3872232"/>
            <a:ext cx="0" cy="107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3"/>
          <p:cNvCxnSpPr>
            <a:stCxn id="214" idx="4"/>
            <a:endCxn id="222" idx="0"/>
          </p:cNvCxnSpPr>
          <p:nvPr/>
        </p:nvCxnSpPr>
        <p:spPr>
          <a:xfrm>
            <a:off x="8127864" y="3722006"/>
            <a:ext cx="0" cy="169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64" y="-2571750"/>
            <a:ext cx="7124901" cy="51435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44457" y="1222084"/>
            <a:ext cx="6739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 have to beat this approach. We have to beat this baseline model (one time lag)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MASE vs R</a:t>
            </a:r>
            <a:r>
              <a:rPr lang="en" baseline="30000"/>
              <a:t>2</a:t>
            </a:r>
            <a:endParaRPr baseline="30000"/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MASE and R</a:t>
            </a:r>
            <a:r>
              <a:rPr lang="en" baseline="30000"/>
              <a:t>2</a:t>
            </a:r>
            <a:r>
              <a:rPr lang="en"/>
              <a:t> compare the prediction with a baseline prediction.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R</a:t>
            </a:r>
            <a:r>
              <a:rPr lang="en" baseline="30000"/>
              <a:t>2</a:t>
            </a:r>
            <a:r>
              <a:rPr lang="en"/>
              <a:t>, the baseline prediction is the </a:t>
            </a:r>
            <a:r>
              <a:rPr lang="en" u="sng"/>
              <a:t>average value of all labels</a:t>
            </a:r>
            <a:r>
              <a:rPr lang="en"/>
              <a:t>. Applicable to general regression task.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MASE, the baseline prediction is the </a:t>
            </a:r>
            <a:r>
              <a:rPr lang="en" u="sng"/>
              <a:t>previous value of the time series</a:t>
            </a:r>
            <a:r>
              <a:rPr lang="en"/>
              <a:t>. Applicable to regression of time series.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time series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 ways to model TS</a:t>
            </a:r>
            <a:endParaRPr baseline="30000"/>
          </a:p>
        </p:txBody>
      </p:sp>
      <p:sp>
        <p:nvSpPr>
          <p:cNvPr id="254" name="Google Shape;2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365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way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 Regressive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Moving Average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ARIMA</a:t>
            </a:r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body" idx="1"/>
          </p:nvPr>
        </p:nvSpPr>
        <p:spPr>
          <a:xfrm>
            <a:off x="4753225" y="1152475"/>
            <a:ext cx="3736500" cy="17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way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Component decomposition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Linear regression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Tree based regression</a:t>
            </a:r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body" idx="1"/>
          </p:nvPr>
        </p:nvSpPr>
        <p:spPr>
          <a:xfrm>
            <a:off x="311700" y="4101050"/>
            <a:ext cx="81780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streams will be discussed in upcoming lectures.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601</Words>
  <Application>Microsoft Office PowerPoint</Application>
  <PresentationFormat>如螢幕大小 (16:9)</PresentationFormat>
  <Paragraphs>112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Lora</vt:lpstr>
      <vt:lpstr>Arial</vt:lpstr>
      <vt:lpstr>Nunito</vt:lpstr>
      <vt:lpstr>DG</vt:lpstr>
      <vt:lpstr>Time series forecasting</vt:lpstr>
      <vt:lpstr>What is a time series?</vt:lpstr>
      <vt:lpstr>Interval between time</vt:lpstr>
      <vt:lpstr>Missing values</vt:lpstr>
      <vt:lpstr>Modeling and prediction</vt:lpstr>
      <vt:lpstr>Predicting the next value in a time series is a regression task</vt:lpstr>
      <vt:lpstr>Recall: Regression model</vt:lpstr>
      <vt:lpstr>PowerPoint 簡報</vt:lpstr>
      <vt:lpstr>Model evaluation</vt:lpstr>
      <vt:lpstr>Evaluation - Mean Absolute Error (MAE)</vt:lpstr>
      <vt:lpstr>Evaluation - Root Mean Squared Error (RMSE)</vt:lpstr>
      <vt:lpstr>Evaluation - Mean Absolute Scaled Error (MASE)</vt:lpstr>
      <vt:lpstr>MASE vs R2</vt:lpstr>
      <vt:lpstr>Model time series</vt:lpstr>
      <vt:lpstr>Popular ways to model 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forecasting</dc:title>
  <cp:lastModifiedBy>Microsoft 帳戶</cp:lastModifiedBy>
  <cp:revision>9</cp:revision>
  <dcterms:modified xsi:type="dcterms:W3CDTF">2024-04-20T10:29:07Z</dcterms:modified>
</cp:coreProperties>
</file>