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embeddedFontLst>
    <p:embeddedFont>
      <p:font typeface="Source Code Pro" panose="020B0604020202020204" charset="0"/>
      <p:regular r:id="rId29"/>
      <p:bold r:id="rId30"/>
      <p:italic r:id="rId31"/>
      <p:bold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Amatic SC" panose="020B0604020202020204" charset="-79"/>
      <p:regular r:id="rId37"/>
      <p:bold r:id="rId38"/>
    </p:embeddedFont>
    <p:embeddedFont>
      <p:font typeface="Lora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jxQ+r4o7TQ0EyGNVT7KglQQRz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59" autoAdjust="0"/>
  </p:normalViewPr>
  <p:slideViewPr>
    <p:cSldViewPr snapToGrid="0">
      <p:cViewPr varScale="1">
        <p:scale>
          <a:sx n="91" d="100"/>
          <a:sy n="91" d="100"/>
        </p:scale>
        <p:origin x="13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9226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6ab5d7443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266ab5d7443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461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6828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Repository </a:t>
            </a:r>
            <a:r>
              <a:rPr lang="en-US" dirty="0" smtClean="0">
                <a:sym typeface="Wingdings" panose="05000000000000000000" pitchFamily="2" charset="2"/>
              </a:rPr>
              <a:t> think it as a folder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They also charge</a:t>
            </a:r>
            <a:r>
              <a:rPr lang="en-US" baseline="0" dirty="0" smtClean="0"/>
              <a:t> you from </a:t>
            </a:r>
            <a:r>
              <a:rPr lang="en-US" baseline="0" dirty="0" err="1" smtClean="0"/>
              <a:t>cicd</a:t>
            </a:r>
            <a:endParaRPr lang="en-US" baseline="0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1483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6ab5d7443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66ab5d7443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968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What is a branch </a:t>
            </a:r>
            <a:r>
              <a:rPr lang="en-US" dirty="0" smtClean="0">
                <a:sym typeface="Wingdings" panose="05000000000000000000" pitchFamily="2" charset="2"/>
              </a:rPr>
              <a:t> it is like a pointer</a:t>
            </a:r>
            <a:endParaRPr dirty="0"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7878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2531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 smtClean="0"/>
              <a:t>Usaully</a:t>
            </a:r>
            <a:r>
              <a:rPr lang="en-US" dirty="0" smtClean="0"/>
              <a:t> developers</a:t>
            </a:r>
            <a:r>
              <a:rPr lang="en-US" baseline="0" dirty="0" smtClean="0"/>
              <a:t> directly work in </a:t>
            </a:r>
            <a:r>
              <a:rPr lang="en-US" baseline="0" dirty="0" err="1" smtClean="0"/>
              <a:t>git</a:t>
            </a:r>
            <a:r>
              <a:rPr lang="en-US" baseline="0" smtClean="0"/>
              <a:t> folders.</a:t>
            </a: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3520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1995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3591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6079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0493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670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4179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8885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504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6ab5d744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266ab5d7443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4389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3665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31471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9010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6853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5998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1157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2464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8318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441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66ab5d7443_0_133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266ab5d7443_0_133"/>
          <p:cNvSpPr txBox="1">
            <a:spLocks noGrp="1"/>
          </p:cNvSpPr>
          <p:nvPr>
            <p:ph type="ctrTitle"/>
          </p:nvPr>
        </p:nvSpPr>
        <p:spPr>
          <a:xfrm>
            <a:off x="415600" y="522867"/>
            <a:ext cx="11360700" cy="3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endParaRPr/>
          </a:p>
        </p:txBody>
      </p:sp>
      <p:sp>
        <p:nvSpPr>
          <p:cNvPr id="16" name="Google Shape;16;g266ab5d7443_0_133"/>
          <p:cNvSpPr txBox="1">
            <a:spLocks noGrp="1"/>
          </p:cNvSpPr>
          <p:nvPr>
            <p:ph type="subTitle" idx="1"/>
          </p:nvPr>
        </p:nvSpPr>
        <p:spPr>
          <a:xfrm>
            <a:off x="415600" y="5187200"/>
            <a:ext cx="113607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g266ab5d7443_0_1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66ab5d7443_0_13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66ab5d7443_0_140"/>
          <p:cNvSpPr txBox="1">
            <a:spLocks noGrp="1"/>
          </p:cNvSpPr>
          <p:nvPr>
            <p:ph type="title"/>
          </p:nvPr>
        </p:nvSpPr>
        <p:spPr>
          <a:xfrm>
            <a:off x="415600" y="390467"/>
            <a:ext cx="11360700" cy="1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266ab5d7443_0_140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53331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266ab5d7443_0_140"/>
          <p:cNvSpPr txBox="1">
            <a:spLocks noGrp="1"/>
          </p:cNvSpPr>
          <p:nvPr>
            <p:ph type="body" idx="2"/>
          </p:nvPr>
        </p:nvSpPr>
        <p:spPr>
          <a:xfrm>
            <a:off x="6443200" y="1638233"/>
            <a:ext cx="53331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g266ab5d7443_0_14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66ab5d7443_0_145"/>
          <p:cNvSpPr txBox="1">
            <a:spLocks noGrp="1"/>
          </p:cNvSpPr>
          <p:nvPr>
            <p:ph type="title"/>
          </p:nvPr>
        </p:nvSpPr>
        <p:spPr>
          <a:xfrm>
            <a:off x="415600" y="390467"/>
            <a:ext cx="11360700" cy="1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266ab5d7443_0_145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7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g266ab5d7443_0_1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66ab5d7443_0_149"/>
          <p:cNvSpPr txBox="1">
            <a:spLocks noGrp="1"/>
          </p:cNvSpPr>
          <p:nvPr>
            <p:ph type="title"/>
          </p:nvPr>
        </p:nvSpPr>
        <p:spPr>
          <a:xfrm>
            <a:off x="3737000" y="1070000"/>
            <a:ext cx="4718100" cy="471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g266ab5d7443_0_1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66ab5d7443_0_152"/>
          <p:cNvSpPr txBox="1">
            <a:spLocks noGrp="1"/>
          </p:cNvSpPr>
          <p:nvPr>
            <p:ph type="title"/>
          </p:nvPr>
        </p:nvSpPr>
        <p:spPr>
          <a:xfrm>
            <a:off x="406400" y="412467"/>
            <a:ext cx="113835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34" name="Google Shape;34;g266ab5d7443_0_15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66ab5d7443_0_15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7" name="Google Shape;37;g266ab5d7443_0_15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g266ab5d7443_0_15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66ab5d7443_0_159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g266ab5d7443_0_15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66ab5d7443_0_162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266ab5d7443_0_162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g266ab5d7443_0_162"/>
          <p:cNvSpPr txBox="1">
            <a:spLocks noGrp="1"/>
          </p:cNvSpPr>
          <p:nvPr>
            <p:ph type="title"/>
          </p:nvPr>
        </p:nvSpPr>
        <p:spPr>
          <a:xfrm>
            <a:off x="354000" y="1441867"/>
            <a:ext cx="5393700" cy="22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46" name="Google Shape;46;g266ab5d7443_0_162"/>
          <p:cNvSpPr txBox="1">
            <a:spLocks noGrp="1"/>
          </p:cNvSpPr>
          <p:nvPr>
            <p:ph type="subTitle" idx="1"/>
          </p:nvPr>
        </p:nvSpPr>
        <p:spPr>
          <a:xfrm>
            <a:off x="354000" y="379363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g266ab5d7443_0_162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8" name="Google Shape;48;g266ab5d7443_0_16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6ab5d7443_0_169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matic SC"/>
              <a:buNone/>
              <a:defRPr sz="3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51" name="Google Shape;51;g266ab5d7443_0_16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66ab5d7443_0_172"/>
          <p:cNvSpPr txBox="1">
            <a:spLocks noGrp="1"/>
          </p:cNvSpPr>
          <p:nvPr>
            <p:ph type="title" hasCustomPrompt="1"/>
          </p:nvPr>
        </p:nvSpPr>
        <p:spPr>
          <a:xfrm>
            <a:off x="415600" y="1653700"/>
            <a:ext cx="11360700" cy="2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g266ab5d7443_0_172"/>
          <p:cNvSpPr txBox="1">
            <a:spLocks noGrp="1"/>
          </p:cNvSpPr>
          <p:nvPr>
            <p:ph type="body" idx="1"/>
          </p:nvPr>
        </p:nvSpPr>
        <p:spPr>
          <a:xfrm>
            <a:off x="415600" y="44061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4925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55" name="Google Shape;55;g266ab5d7443_0_1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6ab5d7443_0_17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66ab5d7443_0_176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g266ab5d7443_0_176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g266ab5d7443_0_1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g266ab5d7443_0_176"/>
          <p:cNvSpPr txBox="1"/>
          <p:nvPr/>
        </p:nvSpPr>
        <p:spPr>
          <a:xfrm>
            <a:off x="415713" y="1603587"/>
            <a:ext cx="11359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4" name="Google Shape;114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5" name="Google Shape;11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7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7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66ab5d7443_0_129"/>
          <p:cNvSpPr txBox="1">
            <a:spLocks noGrp="1"/>
          </p:cNvSpPr>
          <p:nvPr>
            <p:ph type="title"/>
          </p:nvPr>
        </p:nvSpPr>
        <p:spPr>
          <a:xfrm>
            <a:off x="415600" y="390467"/>
            <a:ext cx="11360700" cy="1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sz="56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1" name="Google Shape;11;g266ab5d7443_0_129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7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Code Pro"/>
              <a:buChar char="●"/>
              <a:defRPr sz="2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12" name="Google Shape;12;g266ab5d7443_0_1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66ab5d7443_0_124"/>
          <p:cNvSpPr txBox="1">
            <a:spLocks noGrp="1"/>
          </p:cNvSpPr>
          <p:nvPr>
            <p:ph type="ctrTitle"/>
          </p:nvPr>
        </p:nvSpPr>
        <p:spPr>
          <a:xfrm>
            <a:off x="8" y="1904583"/>
            <a:ext cx="121920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0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+ Git Flow</a:t>
            </a:r>
            <a:endParaRPr sz="4000" b="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2" name="Google Shape;142;g266ab5d7443_0_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git?</a:t>
            </a:r>
            <a:endParaRPr/>
          </a:p>
        </p:txBody>
      </p:sp>
      <p:sp>
        <p:nvSpPr>
          <p:cNvPr id="148" name="Google Shape;148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Save all your code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Allow working on the same piece of code by multiple developers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49" name="Google Shape;14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Terms</a:t>
            </a:r>
            <a:endParaRPr/>
          </a:p>
        </p:txBody>
      </p:sp>
      <p:sp>
        <p:nvSpPr>
          <p:cNvPr id="155" name="Google Shape;15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– The name of the software, divided into git server and git client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Server – Where you host your code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Client – Which you use to talk to server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Repository – The place you store your code, there’s one on server and one on each client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GitHub/BitBucket – The one who provide GUI to manage our server side repository.  Also the one who steal everyone’s code.* 🌚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102659" y="6127234"/>
            <a:ext cx="83554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That’s why it’s more common for corporates to set up their private git server.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6ab5d7443_0_306"/>
          <p:cNvSpPr txBox="1">
            <a:spLocks noGrp="1"/>
          </p:cNvSpPr>
          <p:nvPr>
            <p:ph type="ctrTitle"/>
          </p:nvPr>
        </p:nvSpPr>
        <p:spPr>
          <a:xfrm>
            <a:off x="8" y="1904583"/>
            <a:ext cx="121920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0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60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g266ab5d7443_0_3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</a:t>
            </a:r>
            <a:endParaRPr/>
          </a:p>
        </p:txBody>
      </p:sp>
      <p:pic>
        <p:nvPicPr>
          <p:cNvPr id="169" name="Google Shape;169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95705" y="1825625"/>
            <a:ext cx="7600590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5528281" y="1873168"/>
            <a:ext cx="1619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also  known as master branch</a:t>
            </a:r>
            <a:endParaRPr lang="en-GB" dirty="0"/>
          </a:p>
        </p:txBody>
      </p:sp>
      <p:sp>
        <p:nvSpPr>
          <p:cNvPr id="3" name="矩形 2"/>
          <p:cNvSpPr/>
          <p:nvPr/>
        </p:nvSpPr>
        <p:spPr>
          <a:xfrm>
            <a:off x="5472439" y="1570534"/>
            <a:ext cx="1745039" cy="2764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</a:t>
            </a:r>
            <a:endParaRPr/>
          </a:p>
        </p:txBody>
      </p:sp>
      <p:pic>
        <p:nvPicPr>
          <p:cNvPr id="176" name="Google Shape;176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95705" y="1825625"/>
            <a:ext cx="7600590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6655443" y="856527"/>
            <a:ext cx="26809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“Branch”?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- branches</a:t>
            </a:r>
            <a:endParaRPr/>
          </a:p>
        </p:txBody>
      </p:sp>
      <p:sp>
        <p:nvSpPr>
          <p:cNvPr id="184" name="Google Shape;18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Branch is pointer.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keep information about which is the current pointer.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New commit is grown from the current pointed commit.</a:t>
            </a:r>
            <a:endParaRPr/>
          </a:p>
        </p:txBody>
      </p:sp>
      <p:pic>
        <p:nvPicPr>
          <p:cNvPr id="185" name="Google Shape;185;p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518061"/>
            <a:ext cx="5181600" cy="2966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- Commit</a:t>
            </a:r>
            <a:endParaRPr/>
          </a:p>
        </p:txBody>
      </p:sp>
      <p:sp>
        <p:nvSpPr>
          <p:cNvPr id="192" name="Google Shape;192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 level commit involve 3 steps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Add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Stage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Commit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SourceTree, “uncommitted changes” refers to “not added or not staged or not committed”</a:t>
            </a:r>
            <a:endParaRPr/>
          </a:p>
        </p:txBody>
      </p:sp>
      <p:pic>
        <p:nvPicPr>
          <p:cNvPr id="193" name="Google Shape;193;p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2709" t="4227"/>
          <a:stretch/>
        </p:blipFill>
        <p:spPr>
          <a:xfrm>
            <a:off x="6741041" y="2009553"/>
            <a:ext cx="4159789" cy="41674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8"/>
          <p:cNvCxnSpPr/>
          <p:nvPr/>
        </p:nvCxnSpPr>
        <p:spPr>
          <a:xfrm rot="10800000">
            <a:off x="8793126" y="5433237"/>
            <a:ext cx="0" cy="988828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5" name="Google Shape;19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- Commit</a:t>
            </a:r>
            <a:endParaRPr/>
          </a:p>
        </p:txBody>
      </p:sp>
      <p:sp>
        <p:nvSpPr>
          <p:cNvPr id="201" name="Google Shape;20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 level commit involve 3 steps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Add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Stage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Commit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SourceTree, “uncommitted changes” refers to “not added or not staged or not committed”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command line, add and commit are separated</a:t>
            </a:r>
            <a:endParaRPr/>
          </a:p>
        </p:txBody>
      </p:sp>
      <p:pic>
        <p:nvPicPr>
          <p:cNvPr id="202" name="Google Shape;202;p9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635236"/>
            <a:ext cx="5181600" cy="273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- commit</a:t>
            </a:r>
            <a:endParaRPr/>
          </a:p>
        </p:txBody>
      </p:sp>
      <p:pic>
        <p:nvPicPr>
          <p:cNvPr id="209" name="Google Shape;209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21000" y="1988344"/>
            <a:ext cx="6350000" cy="40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– Pull/Merge</a:t>
            </a:r>
            <a:endParaRPr/>
          </a:p>
        </p:txBody>
      </p:sp>
      <p:pic>
        <p:nvPicPr>
          <p:cNvPr id="216" name="Google Shape;216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1843152"/>
            <a:ext cx="5181600" cy="4316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58209" y="2426088"/>
            <a:ext cx="5181600" cy="315041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 txBox="1"/>
          <p:nvPr/>
        </p:nvSpPr>
        <p:spPr>
          <a:xfrm>
            <a:off x="6172199" y="1027906"/>
            <a:ext cx="51816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“Commit” is generated once you pulled and merged.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– Pull/Merge</a:t>
            </a:r>
            <a:endParaRPr/>
          </a:p>
        </p:txBody>
      </p:sp>
      <p:pic>
        <p:nvPicPr>
          <p:cNvPr id="225" name="Google Shape;225;p1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209" y="2426088"/>
            <a:ext cx="5181600" cy="315041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 txBox="1">
            <a:spLocks noGrp="1"/>
          </p:cNvSpPr>
          <p:nvPr>
            <p:ph type="body" idx="1"/>
          </p:nvPr>
        </p:nvSpPr>
        <p:spPr>
          <a:xfrm>
            <a:off x="6377763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about the merge failed?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 current working copy, I put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username = "jimmy"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but developer B put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urier"/>
                <a:ea typeface="Courier"/>
                <a:cs typeface="Courier"/>
                <a:sym typeface="Courier"/>
              </a:rPr>
              <a:t>username = "michael"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at the same line in the same piece of code.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merged piece of code will be kept uncommitted. (Just like when you have uncommitted changes)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4189224" y="3537568"/>
            <a:ext cx="1616149" cy="1616149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2"/>
          <p:cNvCxnSpPr/>
          <p:nvPr/>
        </p:nvCxnSpPr>
        <p:spPr>
          <a:xfrm rot="10800000" flipH="1">
            <a:off x="5497033" y="2232839"/>
            <a:ext cx="880730" cy="130472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9" name="Google Shape;22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– In case of conflict</a:t>
            </a:r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# After the merge,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# In the code we have: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&lt;&lt;&lt;&lt;&lt;&lt;&lt;&lt; HEAD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username = "jimmy"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========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username = "michael"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&gt;&gt;&gt;&gt;&gt;&gt;&gt;&gt; origin/master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6" name="Google Shape;2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resolve, we can: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Open the file with text editor, edit the code to that you believe to be correct.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Use some third party diff tool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In SourceTree, press “use mine” or “use theirs”</a:t>
            </a:r>
            <a:endParaRPr/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– Push</a:t>
            </a:r>
            <a:endParaRPr/>
          </a:p>
        </p:txBody>
      </p:sp>
      <p:sp>
        <p:nvSpPr>
          <p:cNvPr id="243" name="Google Shape;24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Push mean to upload the commits that exist on your local repository but not on the remote one.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After commit, you must pull/merge to ensure you are ahead of the version on server, otherwise your push request will be rejected.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45" name="Google Shape;24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468079"/>
            <a:ext cx="5181600" cy="3150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14"/>
          <p:cNvCxnSpPr/>
          <p:nvPr/>
        </p:nvCxnSpPr>
        <p:spPr>
          <a:xfrm>
            <a:off x="4699591" y="4001294"/>
            <a:ext cx="0" cy="227191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47" name="Google Shape;247;p14"/>
          <p:cNvSpPr txBox="1"/>
          <p:nvPr/>
        </p:nvSpPr>
        <p:spPr>
          <a:xfrm>
            <a:off x="5194899" y="4295553"/>
            <a:ext cx="3358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Cannot directly push at this stage.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14"/>
          <p:cNvCxnSpPr>
            <a:stCxn id="247" idx="1"/>
          </p:cNvCxnSpPr>
          <p:nvPr/>
        </p:nvCxnSpPr>
        <p:spPr>
          <a:xfrm rot="10800000">
            <a:off x="4795299" y="4480219"/>
            <a:ext cx="3996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49" name="Google Shape;24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– Push</a:t>
            </a:r>
            <a:endParaRPr/>
          </a:p>
        </p:txBody>
      </p:sp>
      <p:pic>
        <p:nvPicPr>
          <p:cNvPr id="255" name="Google Shape;255;p1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426088"/>
            <a:ext cx="5181600" cy="315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426088"/>
            <a:ext cx="5181600" cy="315041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5"/>
          <p:cNvSpPr txBox="1"/>
          <p:nvPr/>
        </p:nvSpPr>
        <p:spPr>
          <a:xfrm>
            <a:off x="3397101" y="1690688"/>
            <a:ext cx="803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8763000" y="1690688"/>
            <a:ext cx="6582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5"/>
          <p:cNvPicPr preferRelativeResize="0"/>
          <p:nvPr/>
        </p:nvPicPr>
        <p:blipFill rotWithShape="1">
          <a:blip r:embed="rId4">
            <a:alphaModFix/>
          </a:blip>
          <a:srcRect b="59998"/>
          <a:stretch/>
        </p:blipFill>
        <p:spPr>
          <a:xfrm>
            <a:off x="3050363" y="3793166"/>
            <a:ext cx="2797544" cy="111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6ab5d7443_0_322"/>
          <p:cNvSpPr txBox="1">
            <a:spLocks noGrp="1"/>
          </p:cNvSpPr>
          <p:nvPr>
            <p:ph type="ctrTitle"/>
          </p:nvPr>
        </p:nvSpPr>
        <p:spPr>
          <a:xfrm>
            <a:off x="48258" y="1916633"/>
            <a:ext cx="121920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0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Flow</a:t>
            </a:r>
            <a:endParaRPr sz="60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g266ab5d7443_0_3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66ab5d7443_0_322"/>
          <p:cNvSpPr txBox="1">
            <a:spLocks noGrp="1"/>
          </p:cNvSpPr>
          <p:nvPr>
            <p:ph type="subTitle" idx="1"/>
          </p:nvPr>
        </p:nvSpPr>
        <p:spPr>
          <a:xfrm>
            <a:off x="1524000" y="33729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 working standard on top of Git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7"/>
          <p:cNvPicPr preferRelativeResize="0"/>
          <p:nvPr/>
        </p:nvPicPr>
        <p:blipFill rotWithShape="1">
          <a:blip r:embed="rId3">
            <a:alphaModFix/>
          </a:blip>
          <a:srcRect r="73929"/>
          <a:stretch/>
        </p:blipFill>
        <p:spPr>
          <a:xfrm>
            <a:off x="513907" y="0"/>
            <a:ext cx="291061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7"/>
          <p:cNvSpPr/>
          <p:nvPr/>
        </p:nvSpPr>
        <p:spPr>
          <a:xfrm>
            <a:off x="2868706" y="1048871"/>
            <a:ext cx="681318" cy="2232211"/>
          </a:xfrm>
          <a:custGeom>
            <a:avLst/>
            <a:gdLst/>
            <a:ahLst/>
            <a:cxnLst/>
            <a:rect l="l" t="t" r="r" b="b"/>
            <a:pathLst>
              <a:path w="681318" h="2232211" extrusionOk="0">
                <a:moveTo>
                  <a:pt x="349623" y="0"/>
                </a:moveTo>
                <a:lnTo>
                  <a:pt x="322729" y="358588"/>
                </a:lnTo>
                <a:lnTo>
                  <a:pt x="98612" y="555811"/>
                </a:lnTo>
                <a:lnTo>
                  <a:pt x="0" y="582705"/>
                </a:lnTo>
                <a:lnTo>
                  <a:pt x="0" y="2232211"/>
                </a:lnTo>
                <a:lnTo>
                  <a:pt x="681318" y="2232211"/>
                </a:lnTo>
                <a:lnTo>
                  <a:pt x="627529" y="17929"/>
                </a:lnTo>
                <a:lnTo>
                  <a:pt x="34962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07" y="0"/>
            <a:ext cx="111641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/>
          <p:nvPr/>
        </p:nvSpPr>
        <p:spPr>
          <a:xfrm>
            <a:off x="3056965" y="35859"/>
            <a:ext cx="8552329" cy="6741459"/>
          </a:xfrm>
          <a:custGeom>
            <a:avLst/>
            <a:gdLst/>
            <a:ahLst/>
            <a:cxnLst/>
            <a:rect l="l" t="t" r="r" b="b"/>
            <a:pathLst>
              <a:path w="8552329" h="6741459" extrusionOk="0">
                <a:moveTo>
                  <a:pt x="215153" y="959223"/>
                </a:moveTo>
                <a:lnTo>
                  <a:pt x="134470" y="1344706"/>
                </a:lnTo>
                <a:lnTo>
                  <a:pt x="0" y="1497106"/>
                </a:lnTo>
                <a:lnTo>
                  <a:pt x="1201270" y="4069976"/>
                </a:lnTo>
                <a:lnTo>
                  <a:pt x="2008094" y="3953435"/>
                </a:lnTo>
                <a:lnTo>
                  <a:pt x="2160494" y="4096870"/>
                </a:lnTo>
                <a:lnTo>
                  <a:pt x="2205317" y="4428565"/>
                </a:lnTo>
                <a:lnTo>
                  <a:pt x="1972235" y="4688541"/>
                </a:lnTo>
                <a:lnTo>
                  <a:pt x="726141" y="4625788"/>
                </a:lnTo>
                <a:lnTo>
                  <a:pt x="421341" y="6598023"/>
                </a:lnTo>
                <a:lnTo>
                  <a:pt x="609600" y="6741459"/>
                </a:lnTo>
                <a:lnTo>
                  <a:pt x="8552329" y="6714565"/>
                </a:lnTo>
                <a:lnTo>
                  <a:pt x="8453717" y="35859"/>
                </a:lnTo>
                <a:lnTo>
                  <a:pt x="896470" y="0"/>
                </a:lnTo>
                <a:lnTo>
                  <a:pt x="215153" y="95922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07" y="0"/>
            <a:ext cx="111641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/>
          <p:nvPr/>
        </p:nvSpPr>
        <p:spPr>
          <a:xfrm>
            <a:off x="3083859" y="1389529"/>
            <a:ext cx="2832847" cy="2805953"/>
          </a:xfrm>
          <a:custGeom>
            <a:avLst/>
            <a:gdLst/>
            <a:ahLst/>
            <a:cxnLst/>
            <a:rect l="l" t="t" r="r" b="b"/>
            <a:pathLst>
              <a:path w="2832847" h="2805953" extrusionOk="0">
                <a:moveTo>
                  <a:pt x="206188" y="0"/>
                </a:moveTo>
                <a:lnTo>
                  <a:pt x="0" y="125506"/>
                </a:lnTo>
                <a:lnTo>
                  <a:pt x="645459" y="2079812"/>
                </a:lnTo>
                <a:lnTo>
                  <a:pt x="2357717" y="2779059"/>
                </a:lnTo>
                <a:lnTo>
                  <a:pt x="2545976" y="2805953"/>
                </a:lnTo>
                <a:lnTo>
                  <a:pt x="2832847" y="2635624"/>
                </a:lnTo>
                <a:lnTo>
                  <a:pt x="1837765" y="421342"/>
                </a:lnTo>
                <a:lnTo>
                  <a:pt x="1559859" y="26895"/>
                </a:lnTo>
                <a:lnTo>
                  <a:pt x="941294" y="152400"/>
                </a:lnTo>
                <a:lnTo>
                  <a:pt x="20618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3272118" y="4509247"/>
            <a:ext cx="8193741" cy="2241177"/>
          </a:xfrm>
          <a:custGeom>
            <a:avLst/>
            <a:gdLst/>
            <a:ahLst/>
            <a:cxnLst/>
            <a:rect l="l" t="t" r="r" b="b"/>
            <a:pathLst>
              <a:path w="8193741" h="2241177" extrusionOk="0">
                <a:moveTo>
                  <a:pt x="457200" y="170329"/>
                </a:moveTo>
                <a:lnTo>
                  <a:pt x="1030941" y="152400"/>
                </a:lnTo>
                <a:lnTo>
                  <a:pt x="1443317" y="295835"/>
                </a:lnTo>
                <a:lnTo>
                  <a:pt x="1981200" y="17929"/>
                </a:lnTo>
                <a:lnTo>
                  <a:pt x="3209364" y="358588"/>
                </a:lnTo>
                <a:lnTo>
                  <a:pt x="4392706" y="0"/>
                </a:lnTo>
                <a:lnTo>
                  <a:pt x="4742329" y="179294"/>
                </a:lnTo>
                <a:lnTo>
                  <a:pt x="8014447" y="681318"/>
                </a:lnTo>
                <a:lnTo>
                  <a:pt x="8193741" y="2223247"/>
                </a:lnTo>
                <a:lnTo>
                  <a:pt x="0" y="2241177"/>
                </a:lnTo>
                <a:lnTo>
                  <a:pt x="457200" y="170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8328212" y="1586753"/>
            <a:ext cx="3415553" cy="3182471"/>
          </a:xfrm>
          <a:custGeom>
            <a:avLst/>
            <a:gdLst/>
            <a:ahLst/>
            <a:cxnLst/>
            <a:rect l="l" t="t" r="r" b="b"/>
            <a:pathLst>
              <a:path w="3415553" h="3182471" extrusionOk="0">
                <a:moveTo>
                  <a:pt x="1147482" y="0"/>
                </a:moveTo>
                <a:lnTo>
                  <a:pt x="2330823" y="35859"/>
                </a:lnTo>
                <a:lnTo>
                  <a:pt x="3415553" y="3128682"/>
                </a:lnTo>
                <a:lnTo>
                  <a:pt x="251012" y="3182471"/>
                </a:lnTo>
                <a:lnTo>
                  <a:pt x="0" y="2913529"/>
                </a:lnTo>
                <a:lnTo>
                  <a:pt x="26894" y="2662518"/>
                </a:lnTo>
                <a:lnTo>
                  <a:pt x="896470" y="2106706"/>
                </a:lnTo>
                <a:lnTo>
                  <a:pt x="1102659" y="1568823"/>
                </a:lnTo>
                <a:lnTo>
                  <a:pt x="11474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4356847" y="44824"/>
            <a:ext cx="1174377" cy="1577788"/>
          </a:xfrm>
          <a:custGeom>
            <a:avLst/>
            <a:gdLst/>
            <a:ahLst/>
            <a:cxnLst/>
            <a:rect l="l" t="t" r="r" b="b"/>
            <a:pathLst>
              <a:path w="1174377" h="1577788" extrusionOk="0">
                <a:moveTo>
                  <a:pt x="0" y="0"/>
                </a:moveTo>
                <a:lnTo>
                  <a:pt x="268941" y="1066800"/>
                </a:lnTo>
                <a:lnTo>
                  <a:pt x="251012" y="1577788"/>
                </a:lnTo>
                <a:lnTo>
                  <a:pt x="851647" y="1577788"/>
                </a:lnTo>
                <a:lnTo>
                  <a:pt x="932329" y="1075764"/>
                </a:lnTo>
                <a:lnTo>
                  <a:pt x="1174377" y="4482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4204447" y="770965"/>
            <a:ext cx="690282" cy="4840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285129" y="1317812"/>
            <a:ext cx="510989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3209365" y="71718"/>
            <a:ext cx="8122023" cy="1622611"/>
          </a:xfrm>
          <a:custGeom>
            <a:avLst/>
            <a:gdLst/>
            <a:ahLst/>
            <a:cxnLst/>
            <a:rect l="l" t="t" r="r" b="b"/>
            <a:pathLst>
              <a:path w="8122023" h="1622611" extrusionOk="0">
                <a:moveTo>
                  <a:pt x="0" y="1013011"/>
                </a:moveTo>
                <a:lnTo>
                  <a:pt x="17929" y="1452282"/>
                </a:lnTo>
                <a:lnTo>
                  <a:pt x="8041341" y="1622611"/>
                </a:lnTo>
                <a:lnTo>
                  <a:pt x="8122023" y="0"/>
                </a:lnTo>
                <a:lnTo>
                  <a:pt x="636494" y="8964"/>
                </a:lnTo>
                <a:lnTo>
                  <a:pt x="0" y="10130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07" y="0"/>
            <a:ext cx="111641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3083859" y="1389529"/>
            <a:ext cx="2832847" cy="2805953"/>
          </a:xfrm>
          <a:custGeom>
            <a:avLst/>
            <a:gdLst/>
            <a:ahLst/>
            <a:cxnLst/>
            <a:rect l="l" t="t" r="r" b="b"/>
            <a:pathLst>
              <a:path w="2832847" h="2805953" extrusionOk="0">
                <a:moveTo>
                  <a:pt x="206188" y="0"/>
                </a:moveTo>
                <a:lnTo>
                  <a:pt x="0" y="125506"/>
                </a:lnTo>
                <a:lnTo>
                  <a:pt x="645459" y="2079812"/>
                </a:lnTo>
                <a:lnTo>
                  <a:pt x="2357717" y="2779059"/>
                </a:lnTo>
                <a:lnTo>
                  <a:pt x="2545976" y="2805953"/>
                </a:lnTo>
                <a:lnTo>
                  <a:pt x="2832847" y="2635624"/>
                </a:lnTo>
                <a:lnTo>
                  <a:pt x="1837765" y="421342"/>
                </a:lnTo>
                <a:lnTo>
                  <a:pt x="1559859" y="26895"/>
                </a:lnTo>
                <a:lnTo>
                  <a:pt x="941294" y="152400"/>
                </a:lnTo>
                <a:lnTo>
                  <a:pt x="20618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3272118" y="4509247"/>
            <a:ext cx="8193741" cy="2241177"/>
          </a:xfrm>
          <a:custGeom>
            <a:avLst/>
            <a:gdLst/>
            <a:ahLst/>
            <a:cxnLst/>
            <a:rect l="l" t="t" r="r" b="b"/>
            <a:pathLst>
              <a:path w="8193741" h="2241177" extrusionOk="0">
                <a:moveTo>
                  <a:pt x="457200" y="170329"/>
                </a:moveTo>
                <a:lnTo>
                  <a:pt x="1030941" y="152400"/>
                </a:lnTo>
                <a:lnTo>
                  <a:pt x="1443317" y="295835"/>
                </a:lnTo>
                <a:lnTo>
                  <a:pt x="1981200" y="17929"/>
                </a:lnTo>
                <a:lnTo>
                  <a:pt x="3209364" y="358588"/>
                </a:lnTo>
                <a:lnTo>
                  <a:pt x="4392706" y="0"/>
                </a:lnTo>
                <a:lnTo>
                  <a:pt x="4742329" y="179294"/>
                </a:lnTo>
                <a:lnTo>
                  <a:pt x="8014447" y="681318"/>
                </a:lnTo>
                <a:lnTo>
                  <a:pt x="8193741" y="2223247"/>
                </a:lnTo>
                <a:lnTo>
                  <a:pt x="0" y="2241177"/>
                </a:lnTo>
                <a:lnTo>
                  <a:pt x="457200" y="170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356847" y="44824"/>
            <a:ext cx="1174377" cy="1577788"/>
          </a:xfrm>
          <a:custGeom>
            <a:avLst/>
            <a:gdLst/>
            <a:ahLst/>
            <a:cxnLst/>
            <a:rect l="l" t="t" r="r" b="b"/>
            <a:pathLst>
              <a:path w="1174377" h="1577788" extrusionOk="0">
                <a:moveTo>
                  <a:pt x="0" y="0"/>
                </a:moveTo>
                <a:lnTo>
                  <a:pt x="268941" y="1066800"/>
                </a:lnTo>
                <a:lnTo>
                  <a:pt x="251012" y="1577788"/>
                </a:lnTo>
                <a:lnTo>
                  <a:pt x="851647" y="1577788"/>
                </a:lnTo>
                <a:lnTo>
                  <a:pt x="932329" y="1075764"/>
                </a:lnTo>
                <a:lnTo>
                  <a:pt x="1174377" y="4482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204447" y="770965"/>
            <a:ext cx="690282" cy="4840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285129" y="1317812"/>
            <a:ext cx="510989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20"/>
          <p:cNvCxnSpPr/>
          <p:nvPr/>
        </p:nvCxnSpPr>
        <p:spPr>
          <a:xfrm>
            <a:off x="4204447" y="1281954"/>
            <a:ext cx="1326777" cy="0"/>
          </a:xfrm>
          <a:prstGeom prst="straightConnector1">
            <a:avLst/>
          </a:prstGeom>
          <a:noFill/>
          <a:ln w="57150" cap="flat" cmpd="sng">
            <a:solidFill>
              <a:srgbClr val="75707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6" name="Google Shape;306;p20"/>
          <p:cNvSpPr/>
          <p:nvPr/>
        </p:nvSpPr>
        <p:spPr>
          <a:xfrm>
            <a:off x="10165976" y="3496235"/>
            <a:ext cx="1380565" cy="2052918"/>
          </a:xfrm>
          <a:prstGeom prst="snip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8319247" y="4195482"/>
            <a:ext cx="1909482" cy="3137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07" y="0"/>
            <a:ext cx="111641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>
            <a:off x="3612776" y="4518212"/>
            <a:ext cx="7826189" cy="2250141"/>
          </a:xfrm>
          <a:custGeom>
            <a:avLst/>
            <a:gdLst/>
            <a:ahLst/>
            <a:cxnLst/>
            <a:rect l="l" t="t" r="r" b="b"/>
            <a:pathLst>
              <a:path w="7826189" h="2250141" extrusionOk="0">
                <a:moveTo>
                  <a:pt x="35859" y="134470"/>
                </a:moveTo>
                <a:lnTo>
                  <a:pt x="1084730" y="206188"/>
                </a:lnTo>
                <a:lnTo>
                  <a:pt x="1389530" y="206188"/>
                </a:lnTo>
                <a:lnTo>
                  <a:pt x="1604683" y="0"/>
                </a:lnTo>
                <a:lnTo>
                  <a:pt x="1828800" y="116541"/>
                </a:lnTo>
                <a:lnTo>
                  <a:pt x="3630706" y="188259"/>
                </a:lnTo>
                <a:lnTo>
                  <a:pt x="3845859" y="26894"/>
                </a:lnTo>
                <a:lnTo>
                  <a:pt x="4105836" y="8964"/>
                </a:lnTo>
                <a:lnTo>
                  <a:pt x="4365812" y="197223"/>
                </a:lnTo>
                <a:lnTo>
                  <a:pt x="7673789" y="618564"/>
                </a:lnTo>
                <a:lnTo>
                  <a:pt x="7826189" y="2250141"/>
                </a:lnTo>
                <a:lnTo>
                  <a:pt x="0" y="2214282"/>
                </a:lnTo>
                <a:lnTo>
                  <a:pt x="35859" y="13447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8337176" y="4034118"/>
            <a:ext cx="3272118" cy="654423"/>
          </a:xfrm>
          <a:custGeom>
            <a:avLst/>
            <a:gdLst/>
            <a:ahLst/>
            <a:cxnLst/>
            <a:rect l="l" t="t" r="r" b="b"/>
            <a:pathLst>
              <a:path w="3272118" h="654423" extrusionOk="0">
                <a:moveTo>
                  <a:pt x="0" y="215153"/>
                </a:moveTo>
                <a:lnTo>
                  <a:pt x="0" y="636494"/>
                </a:lnTo>
                <a:lnTo>
                  <a:pt x="3272118" y="654423"/>
                </a:lnTo>
                <a:lnTo>
                  <a:pt x="3218330" y="0"/>
                </a:lnTo>
                <a:lnTo>
                  <a:pt x="2617695" y="0"/>
                </a:lnTo>
                <a:lnTo>
                  <a:pt x="2519083" y="161364"/>
                </a:lnTo>
                <a:lnTo>
                  <a:pt x="2115671" y="125506"/>
                </a:lnTo>
                <a:lnTo>
                  <a:pt x="0" y="21515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10192871" y="3451412"/>
            <a:ext cx="1246094" cy="1515035"/>
          </a:xfrm>
          <a:prstGeom prst="snip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07" y="0"/>
            <a:ext cx="111641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2"/>
          <p:cNvSpPr/>
          <p:nvPr/>
        </p:nvSpPr>
        <p:spPr>
          <a:xfrm>
            <a:off x="10228729" y="3424518"/>
            <a:ext cx="1449364" cy="2097741"/>
          </a:xfrm>
          <a:prstGeom prst="snip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8319247" y="4258235"/>
            <a:ext cx="1972235" cy="2151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07" y="0"/>
            <a:ext cx="1116418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Flow in SourceTree</a:t>
            </a:r>
            <a:endParaRPr/>
          </a:p>
        </p:txBody>
      </p:sp>
      <p:pic>
        <p:nvPicPr>
          <p:cNvPr id="337" name="Google Shape;337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94434" y="1825625"/>
            <a:ext cx="4669132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does not have any support about Git Flow.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 Flow is purely enforced by SourceTree.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need to initialize git flow at every SourceTree environment.</a:t>
            </a:r>
            <a:endParaRPr/>
          </a:p>
        </p:txBody>
      </p:sp>
      <p:pic>
        <p:nvPicPr>
          <p:cNvPr id="339" name="Google Shape;33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Git command line cheatsheet</a:t>
            </a:r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https://education.github.com/git-cheat-sheet-education.pdf</a:t>
            </a:r>
            <a:endParaRPr/>
          </a:p>
        </p:txBody>
      </p:sp>
      <p:pic>
        <p:nvPicPr>
          <p:cNvPr id="346" name="Google Shape;34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398" y="226000"/>
            <a:ext cx="1391600" cy="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525</Words>
  <Application>Microsoft Office PowerPoint</Application>
  <PresentationFormat>寬螢幕</PresentationFormat>
  <Paragraphs>80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Wingdings</vt:lpstr>
      <vt:lpstr>Source Code Pro</vt:lpstr>
      <vt:lpstr>Calibri</vt:lpstr>
      <vt:lpstr>Courier</vt:lpstr>
      <vt:lpstr>Amatic SC</vt:lpstr>
      <vt:lpstr>Lora</vt:lpstr>
      <vt:lpstr>Arial</vt:lpstr>
      <vt:lpstr>Beach Day</vt:lpstr>
      <vt:lpstr>Office Theme</vt:lpstr>
      <vt:lpstr>Git + Git Flow</vt:lpstr>
      <vt:lpstr>Why git?</vt:lpstr>
      <vt:lpstr>Terms</vt:lpstr>
      <vt:lpstr>Git</vt:lpstr>
      <vt:lpstr>Git</vt:lpstr>
      <vt:lpstr>Git</vt:lpstr>
      <vt:lpstr>Git - branches</vt:lpstr>
      <vt:lpstr>Git - Commit</vt:lpstr>
      <vt:lpstr>Git - Commit</vt:lpstr>
      <vt:lpstr>Git - commit</vt:lpstr>
      <vt:lpstr>Git – Pull/Merge</vt:lpstr>
      <vt:lpstr>Git – Pull/Merge</vt:lpstr>
      <vt:lpstr>Git – In case of conflict</vt:lpstr>
      <vt:lpstr>Git – Push</vt:lpstr>
      <vt:lpstr>Git – Push</vt:lpstr>
      <vt:lpstr>Git Flow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Git Flow in SourceTree</vt:lpstr>
      <vt:lpstr>Git command line cheatsheet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Git Flow</dc:title>
  <dc:creator>Jason Tsang (NMG)</dc:creator>
  <cp:lastModifiedBy>Microsoft 帳戶</cp:lastModifiedBy>
  <cp:revision>4</cp:revision>
  <dcterms:created xsi:type="dcterms:W3CDTF">2018-08-09T08:34:08Z</dcterms:created>
  <dcterms:modified xsi:type="dcterms:W3CDTF">2024-01-28T10:44:45Z</dcterms:modified>
</cp:coreProperties>
</file>