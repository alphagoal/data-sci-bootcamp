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Maven Pro" panose="020B0604020202020204" charset="0"/>
      <p:regular r:id="rId9"/>
      <p:bold r:id="rId10"/>
    </p:embeddedFont>
    <p:embeddedFont>
      <p:font typeface="Amatic SC" panose="020B0604020202020204" charset="-79"/>
      <p:regular r:id="rId11"/>
      <p:bold r:id="rId12"/>
    </p:embeddedFont>
    <p:embeddedFont>
      <p:font typeface="Nunito" panose="020B0604020202020204" charset="0"/>
      <p:regular r:id="rId13"/>
      <p:bold r:id="rId14"/>
      <p:italic r:id="rId15"/>
      <p:boldItalic r:id="rId16"/>
    </p:embeddedFont>
    <p:embeddedFont>
      <p:font typeface="Roboto" panose="020B0604020202020204" charset="0"/>
      <p:regular r:id="rId17"/>
      <p:bold r:id="rId18"/>
      <p:italic r:id="rId19"/>
      <p:boldItalic r:id="rId20"/>
    </p:embeddedFont>
    <p:embeddedFont>
      <p:font typeface="Source Code Pro" panose="020B0604020202020204" charset="0"/>
      <p:regular r:id="rId21"/>
      <p:bold r:id="rId22"/>
      <p:italic r:id="rId23"/>
      <p:boldItalic r:id="rId24"/>
    </p:embeddedFont>
    <p:embeddedFont>
      <p:font typeface="Lora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R5jCNCplPBhC/DSvizPWnWGXC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36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5" Type="http://schemas.openxmlformats.org/officeDocument/2006/relationships/theme" Target="theme/theme1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53529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2894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aec03a7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aec03a7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452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aec03a7c9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aec03a7c9b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7377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ec03a7c9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ec03a7c9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0150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ec03a7c9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aec03a7c9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177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ec03a7c9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ec03a7c9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747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0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2" name="Google Shape;12;p50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" name="Google Shape;17;p51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2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8" name="Google Shape;28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1" name="Google Shape;31;p5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7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5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57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0" name="Google Shape;40;p57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5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2" name="Google Shape;42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8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9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59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49" name="Google Shape;49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4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 sz="14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8" name="Google Shape;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r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xfrm>
            <a:off x="1446600" y="1032275"/>
            <a:ext cx="62508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2800">
                <a:solidFill>
                  <a:srgbClr val="0D0D0D"/>
                </a:solidFill>
                <a:latin typeface="Maven Pro"/>
                <a:ea typeface="Maven Pro"/>
                <a:cs typeface="Maven Pro"/>
                <a:sym typeface="Maven Pro"/>
              </a:rPr>
              <a:t>Regular Expression</a:t>
            </a:r>
            <a:endParaRPr sz="2800" b="0">
              <a:solidFill>
                <a:srgbClr val="0D0D0D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body" idx="4294967295"/>
          </p:nvPr>
        </p:nvSpPr>
        <p:spPr>
          <a:xfrm>
            <a:off x="0" y="0"/>
            <a:ext cx="12837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Version: 13012024</a:t>
            </a:r>
            <a:endParaRPr sz="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ec03a7c9b_0_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Text extraction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" name="Google Shape;64;g2aec03a7c9b_0_0"/>
          <p:cNvSpPr txBox="1">
            <a:spLocks noGrp="1"/>
          </p:cNvSpPr>
          <p:nvPr>
            <p:ph type="body" idx="1"/>
          </p:nvPr>
        </p:nvSpPr>
        <p:spPr>
          <a:xfrm>
            <a:off x="410650" y="985200"/>
            <a:ext cx="4440900" cy="11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 am Harvey. My HKID number is AB123456(7).</a:t>
            </a:r>
            <a:endParaRPr sz="1050" b="1" dirty="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My phone number is 91234888.</a:t>
            </a:r>
            <a:endParaRPr sz="1050" b="1" dirty="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Here is my portfolio website: https://harvey.me/portfolio/#section1.</a:t>
            </a:r>
            <a:endParaRPr sz="1050" b="1" dirty="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chemeClr val="accent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Please feel free to contact me if needed.</a:t>
            </a:r>
            <a:endParaRPr sz="1050" b="1" dirty="0">
              <a:solidFill>
                <a:schemeClr val="accent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5" name="Google Shape;65;g2aec03a7c9b_0_0"/>
          <p:cNvSpPr txBox="1">
            <a:spLocks noGrp="1"/>
          </p:cNvSpPr>
          <p:nvPr>
            <p:ph type="body" idx="1"/>
          </p:nvPr>
        </p:nvSpPr>
        <p:spPr>
          <a:xfrm>
            <a:off x="410650" y="2394475"/>
            <a:ext cx="4440900" cy="18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Hi I am interested in the position.</a:t>
            </a:r>
            <a:endParaRPr sz="1050" b="1" dirty="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Please visit http://jason-portfolio.com?cv=1 to see my previous works.</a:t>
            </a:r>
            <a:endParaRPr sz="1050" b="1" dirty="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Below is my information.</a:t>
            </a:r>
            <a:endParaRPr sz="1050" b="1" dirty="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Name: Jason</a:t>
            </a:r>
            <a:endParaRPr sz="1050" b="1" dirty="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Tel: +85299243321</a:t>
            </a:r>
            <a:endParaRPr sz="1050" b="1" dirty="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Id card number: D922118(1)</a:t>
            </a:r>
            <a:endParaRPr sz="1050" b="1" dirty="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dirty="0">
                <a:solidFill>
                  <a:srgbClr val="A31515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Reference number : 203476912746</a:t>
            </a:r>
            <a:endParaRPr sz="1050" b="1" dirty="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dirty="0">
              <a:solidFill>
                <a:srgbClr val="A31515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" name="Google Shape;66;g2aec03a7c9b_0_0"/>
          <p:cNvSpPr txBox="1"/>
          <p:nvPr/>
        </p:nvSpPr>
        <p:spPr>
          <a:xfrm>
            <a:off x="4798500" y="1012425"/>
            <a:ext cx="39768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Nunito"/>
                <a:ea typeface="Nunito"/>
                <a:cs typeface="Nunito"/>
                <a:sym typeface="Nunito"/>
              </a:rPr>
              <a:t>We wish to extract the following information.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 dirty="0">
                <a:latin typeface="Nunito"/>
                <a:ea typeface="Nunito"/>
                <a:cs typeface="Nunito"/>
                <a:sym typeface="Nunito"/>
              </a:rPr>
              <a:t>Name (difficult)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 dirty="0">
                <a:latin typeface="Nunito"/>
                <a:ea typeface="Nunito"/>
                <a:cs typeface="Nunito"/>
                <a:sym typeface="Nunito"/>
              </a:rPr>
              <a:t>HKID Number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 dirty="0">
                <a:latin typeface="Nunito"/>
                <a:ea typeface="Nunito"/>
                <a:cs typeface="Nunito"/>
                <a:sym typeface="Nunito"/>
              </a:rPr>
              <a:t>Phone Number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 dirty="0">
                <a:latin typeface="Nunito"/>
                <a:ea typeface="Nunito"/>
                <a:cs typeface="Nunito"/>
                <a:sym typeface="Nunito"/>
              </a:rPr>
              <a:t>Website link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7" name="Google Shape;67;g2aec03a7c9b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/>
          <p:cNvSpPr txBox="1"/>
          <p:nvPr/>
        </p:nvSpPr>
        <p:spPr>
          <a:xfrm>
            <a:off x="4851550" y="2840168"/>
            <a:ext cx="42255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HKID </a:t>
            </a:r>
            <a:r>
              <a:rPr lang="en-US" dirty="0"/>
              <a:t>Number: </a:t>
            </a:r>
            <a:r>
              <a:rPr lang="en-US" dirty="0" smtClean="0"/>
              <a:t> \</a:t>
            </a:r>
            <a:r>
              <a:rPr lang="en-US" dirty="0"/>
              <a:t>w(\d{6})(\(\d</a:t>
            </a:r>
            <a:r>
              <a:rPr lang="en-US" dirty="0" smtClean="0"/>
              <a:t>\))</a:t>
            </a:r>
          </a:p>
          <a:p>
            <a:r>
              <a:rPr lang="en-US" dirty="0" smtClean="0"/>
              <a:t>Phone Number</a:t>
            </a:r>
            <a:r>
              <a:rPr lang="en-US" dirty="0"/>
              <a:t>: (\+852|\b)+(\d{8})\</a:t>
            </a:r>
            <a:r>
              <a:rPr lang="en-US" dirty="0" smtClean="0"/>
              <a:t>b</a:t>
            </a:r>
          </a:p>
          <a:p>
            <a:r>
              <a:rPr lang="en-US" dirty="0" smtClean="0"/>
              <a:t>Website link</a:t>
            </a:r>
            <a:r>
              <a:rPr lang="en-US" dirty="0"/>
              <a:t>: (http)(s)?(://).[^\s]{1</a:t>
            </a:r>
            <a:r>
              <a:rPr lang="en-US" dirty="0" smtClean="0"/>
              <a:t>,}</a:t>
            </a:r>
          </a:p>
          <a:p>
            <a:endParaRPr lang="en-US" dirty="0"/>
          </a:p>
          <a:p>
            <a:r>
              <a:rPr lang="en-GB" dirty="0" smtClean="0"/>
              <a:t>regex</a:t>
            </a:r>
            <a:endParaRPr lang="en-GB" dirty="0"/>
          </a:p>
          <a:p>
            <a:r>
              <a:rPr lang="en-GB" dirty="0"/>
              <a:t>(?&lt;=I am\s)\</a:t>
            </a:r>
            <a:r>
              <a:rPr lang="en-GB"/>
              <a:t>w</a:t>
            </a:r>
            <a:r>
              <a:rPr lang="en-GB" smtClean="0"/>
              <a:t>+</a:t>
            </a: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ec03a7c9b_0_7"/>
          <p:cNvSpPr txBox="1">
            <a:spLocks noGrp="1"/>
          </p:cNvSpPr>
          <p:nvPr>
            <p:ph type="body" idx="1"/>
          </p:nvPr>
        </p:nvSpPr>
        <p:spPr>
          <a:xfrm>
            <a:off x="4393050" y="1484625"/>
            <a:ext cx="30648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2. Check for each token if it contains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Consecutive numbers?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Starts with http?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g2aec03a7c9b_0_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Idea 1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4" name="Google Shape;74;g2aec03a7c9b_0_7"/>
          <p:cNvSpPr txBox="1">
            <a:spLocks noGrp="1"/>
          </p:cNvSpPr>
          <p:nvPr>
            <p:ph type="body" idx="1"/>
          </p:nvPr>
        </p:nvSpPr>
        <p:spPr>
          <a:xfrm>
            <a:off x="1686150" y="1484625"/>
            <a:ext cx="19410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AutoNum type="arabicPeriod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Split the strings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I </a:t>
            </a:r>
            <a:endParaRPr sz="1400" b="1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am </a:t>
            </a:r>
            <a:endParaRPr sz="1400" b="1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Harvey</a:t>
            </a:r>
            <a:endParaRPr sz="1400" b="1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My </a:t>
            </a:r>
            <a:endParaRPr sz="1400" b="1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HKID </a:t>
            </a:r>
            <a:endParaRPr sz="1400" b="1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number</a:t>
            </a:r>
            <a:endParaRPr sz="1400" b="1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is</a:t>
            </a:r>
            <a:endParaRPr sz="1400" b="1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AB123456(7)</a:t>
            </a:r>
            <a:endParaRPr sz="1400" b="1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rgbClr val="0D0D0D"/>
                </a:solidFill>
                <a:highlight>
                  <a:srgbClr val="F7F7F7"/>
                </a:highlight>
                <a:latin typeface="Nunito"/>
                <a:ea typeface="Nunito"/>
                <a:cs typeface="Nunito"/>
                <a:sym typeface="Nunito"/>
              </a:rPr>
              <a:t>...</a:t>
            </a:r>
            <a:endParaRPr sz="1400" b="1">
              <a:solidFill>
                <a:srgbClr val="0D0D0D"/>
              </a:solidFill>
              <a:highlight>
                <a:srgbClr val="F7F7F7"/>
              </a:highlight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5" name="Google Shape;75;g2aec03a7c9b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aec03a7c9b_0_1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Idea 2 (To find HKID)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81" name="Google Shape;81;g2aec03a7c9b_0_13"/>
          <p:cNvSpPr txBox="1">
            <a:spLocks noGrp="1"/>
          </p:cNvSpPr>
          <p:nvPr>
            <p:ph type="body" idx="1"/>
          </p:nvPr>
        </p:nvSpPr>
        <p:spPr>
          <a:xfrm>
            <a:off x="596200" y="1093850"/>
            <a:ext cx="52896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Search the whole string character-by-character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One character followed by consecutive numbers, then bracket of one digit inside.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-"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Nothing in front, and nothing behind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But …. How to implement this logic?</a:t>
            </a:r>
            <a:endParaRPr sz="140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2" name="Google Shape;82;g2aec03a7c9b_0_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aec03a7c9b_0_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Regular expression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88" name="Google Shape;88;g2aec03a7c9b_0_1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A standardized expression (instruction) to match text.  The logic is implemented in almost every programming languages.</a:t>
            </a: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Learn RegEx: </a:t>
            </a:r>
            <a:r>
              <a:rPr lang="en" sz="1400" u="sng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https://regexr.com/</a:t>
            </a: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With the help of the cheatsheet, extract information from the text in slide 1.</a:t>
            </a: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HKID Number</a:t>
            </a: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Phone Number</a:t>
            </a: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400"/>
              <a:buFont typeface="Nunito"/>
              <a:buChar char="●"/>
            </a:pPr>
            <a:r>
              <a:rPr lang="en" sz="1400" dirty="0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Website link</a:t>
            </a:r>
            <a:endParaRPr sz="1400" dirty="0">
              <a:solidFill>
                <a:srgbClr val="0D0D0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9" name="Google Shape;89;g2aec03a7c9b_0_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ec03a7c9b_0_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aven Pro"/>
                <a:ea typeface="Maven Pro"/>
                <a:cs typeface="Maven Pro"/>
                <a:sym typeface="Maven Pro"/>
              </a:rPr>
              <a:t>Where can we use RegEx?</a:t>
            </a:r>
            <a:endParaRPr sz="2800"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5" name="Google Shape;95;g2aec03a7c9b_0_23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✅ RegEx can be used in almost all modern programming languages (e.g. Python, JS etc.).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✅ Most modern databases (e.g. Postgres, MySQL etc.) support RegEx.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✅ Most modern data warehouse (e.g. BigQuery, Spark etc.) support RegEx.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✅ Most BI tools (e.g. Tableau, PowerBI etc.) support RegEx.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❌ However, Excel does not support RegEx.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6" name="Google Shape;96;g2aec03a7c9b_0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575" y="121850"/>
            <a:ext cx="448200" cy="4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346</Words>
  <Application>Microsoft Office PowerPoint</Application>
  <PresentationFormat>如螢幕大小 (16:9)</PresentationFormat>
  <Paragraphs>63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Maven Pro</vt:lpstr>
      <vt:lpstr>Arial</vt:lpstr>
      <vt:lpstr>Amatic SC</vt:lpstr>
      <vt:lpstr>Nunito</vt:lpstr>
      <vt:lpstr>Roboto</vt:lpstr>
      <vt:lpstr>Source Code Pro</vt:lpstr>
      <vt:lpstr>Lora</vt:lpstr>
      <vt:lpstr>Courier New</vt:lpstr>
      <vt:lpstr>Beach Day</vt:lpstr>
      <vt:lpstr>Regular Expression</vt:lpstr>
      <vt:lpstr>Text extraction</vt:lpstr>
      <vt:lpstr>Idea 1</vt:lpstr>
      <vt:lpstr>Idea 2 (To find HKID)</vt:lpstr>
      <vt:lpstr>Regular expression</vt:lpstr>
      <vt:lpstr>Where can we use RegEx?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</dc:title>
  <cp:lastModifiedBy>Microsoft 帳戶</cp:lastModifiedBy>
  <cp:revision>5</cp:revision>
  <dcterms:modified xsi:type="dcterms:W3CDTF">2024-01-14T10:34:31Z</dcterms:modified>
</cp:coreProperties>
</file>