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Nunito"/>
      <p:regular r:id="rId43"/>
      <p:bold r:id="rId44"/>
      <p:italic r:id="rId45"/>
      <p:boldItalic r:id="rId46"/>
    </p:embeddedFont>
    <p:embeddedFont>
      <p:font typeface="Maven Pro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AC811E-7E8A-43AB-AEEB-469E5BADF34E}">
  <a:tblStyle styleId="{D0AC811E-7E8A-43AB-AEEB-469E5BADF3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Nunito-bold.fntdata"/><Relationship Id="rId21" Type="http://schemas.openxmlformats.org/officeDocument/2006/relationships/slide" Target="slides/slide15.xml"/><Relationship Id="rId43" Type="http://schemas.openxmlformats.org/officeDocument/2006/relationships/font" Target="fonts/Nunito-regular.fntdata"/><Relationship Id="rId24" Type="http://schemas.openxmlformats.org/officeDocument/2006/relationships/slide" Target="slides/slide18.xml"/><Relationship Id="rId46" Type="http://schemas.openxmlformats.org/officeDocument/2006/relationships/font" Target="fonts/Nunito-boldItalic.fntdata"/><Relationship Id="rId23" Type="http://schemas.openxmlformats.org/officeDocument/2006/relationships/slide" Target="slides/slide17.xml"/><Relationship Id="rId45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MavenPro-bold.fntdata"/><Relationship Id="rId25" Type="http://schemas.openxmlformats.org/officeDocument/2006/relationships/slide" Target="slides/slide19.xml"/><Relationship Id="rId47" Type="http://schemas.openxmlformats.org/officeDocument/2006/relationships/font" Target="fonts/MavenPr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ff023f33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ff023f33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ff023f33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ff023f33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30c35318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30c35318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30c35318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30c35318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cfd26db65e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cfd26db65e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cfd26db65e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cfd26db65e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cfd26db65e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cfd26db65e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cfd26db65e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cfd26db65e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cfd26db65e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cfd26db65e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0ca29d47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0ca29d47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fd26db65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fd26db65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cfd26db65e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cfd26db65e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0ca29d47f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0ca29d47f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0ca29d47f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0ca29d47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0ca29d47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0ca29d47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0ca29d47f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0ca29d47f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0ca29d47f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0ca29d47f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cfd26db65e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cfd26db65e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0ca29d47f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0ca29d47f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cfd26db65e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cfd26db65e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23dccb9e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23dccb9e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cfd26db65e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cfd26db65e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0ca29d47f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0ca29d47f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0ca29d47f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0ca29d47f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0ca29d47f2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0ca29d47f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0ca29d47f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0ca29d47f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0ca29d47f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0ca29d47f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0ca29d47f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0ca29d47f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0ca29d47f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0ca29d47f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0ca29d47f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0ca29d47f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0ca29d47f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0ca29d47f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cfd26db65e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cfd26db65e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d26db65e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d26db65e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d26db65e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d26db65e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cfd26db65e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cfd26db65e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kubernetes.io/docs/tasks/tools/#kubect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kubernetes.io/docs/reference/kubectl/cheatsheet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way of software deployment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plan to host your project on the cloud?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kind of problems did you faced or think it is important?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Kubernetes about?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Container Orchestration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Everything else after you build the container image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Provisioning &amp; Deployment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Load Balancing &amp; Traffic Routing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Autoscaling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kubectl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https://kubernetes.io/docs/tasks/tools/#kubectl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Provision a GKE cluster on Google Cloud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GKE Autopilot!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Grant permission for the cluster to get the service account token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gcloud iam service-accounts add-iam-policy-binding </a:t>
            </a: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&lt;service-account-email&gt;</a:t>
            </a: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 \</a:t>
            </a:r>
            <a:br>
              <a:rPr lang="en" sz="1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--role roles/iam.workloadIdentityUser \</a:t>
            </a:r>
            <a:br>
              <a:rPr lang="en" sz="1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--member "serviceAccount:</a:t>
            </a: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&lt;project-id&gt;</a:t>
            </a: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.svc.id.goog[default/default]"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824000" y="1613825"/>
            <a:ext cx="71487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Concepts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and node</a:t>
            </a:r>
            <a:endParaRPr/>
          </a:p>
        </p:txBody>
      </p:sp>
      <p:pic>
        <p:nvPicPr>
          <p:cNvPr id="313" name="Google Shape;3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2613" y="1597873"/>
            <a:ext cx="3898776" cy="3153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19"/>
          <p:cNvCxnSpPr>
            <a:stCxn id="315" idx="3"/>
          </p:cNvCxnSpPr>
          <p:nvPr/>
        </p:nvCxnSpPr>
        <p:spPr>
          <a:xfrm>
            <a:off x="2467250" y="2948750"/>
            <a:ext cx="1376400" cy="1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19"/>
          <p:cNvSpPr txBox="1"/>
          <p:nvPr/>
        </p:nvSpPr>
        <p:spPr>
          <a:xfrm>
            <a:off x="746750" y="2533100"/>
            <a:ext cx="172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Communicate with Kubernetes API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kubectl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</p:txBody>
      </p:sp>
      <p:sp>
        <p:nvSpPr>
          <p:cNvPr id="321" name="Google Shape;321;p20"/>
          <p:cNvSpPr txBox="1"/>
          <p:nvPr>
            <p:ph idx="1" type="body"/>
          </p:nvPr>
        </p:nvSpPr>
        <p:spPr>
          <a:xfrm>
            <a:off x="1303800" y="1697200"/>
            <a:ext cx="2686200" cy="29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Pod is a Kubernetes abstraction that represents a group of one or more application containers and some shared resources for those containers. Those resources include:</a:t>
            </a:r>
            <a:endParaRPr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84615"/>
              <a:buFont typeface="Arial"/>
              <a:buChar char="●"/>
            </a:pPr>
            <a:r>
              <a:rPr lang="en"/>
              <a:t>Shared storage, as Volumes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4615"/>
              <a:buFont typeface="Arial"/>
              <a:buChar char="●"/>
            </a:pPr>
            <a:r>
              <a:rPr lang="en"/>
              <a:t>Networking, as a unique cluster IP address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4615"/>
              <a:buFont typeface="Arial"/>
              <a:buChar char="●"/>
            </a:pPr>
            <a:r>
              <a:rPr lang="en"/>
              <a:t>Information about how to run each container, such as the container image version or specific ports to 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8625" y="1437475"/>
            <a:ext cx="4025082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sp>
        <p:nvSpPr>
          <p:cNvPr id="328" name="Google Shape;328;p21"/>
          <p:cNvSpPr txBox="1"/>
          <p:nvPr>
            <p:ph idx="1" type="body"/>
          </p:nvPr>
        </p:nvSpPr>
        <p:spPr>
          <a:xfrm>
            <a:off x="1303800" y="1990050"/>
            <a:ext cx="26862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Kubernetes Deployment checks on the health of your Pod and restarts the Pod's Container if it terminates.</a:t>
            </a:r>
            <a:endParaRPr/>
          </a:p>
        </p:txBody>
      </p:sp>
      <p:pic>
        <p:nvPicPr>
          <p:cNvPr id="329" name="Google Shape;3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750" y="1290825"/>
            <a:ext cx="4006838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</a:t>
            </a:r>
            <a:r>
              <a:rPr lang="en"/>
              <a:t> - networking</a:t>
            </a:r>
            <a:endParaRPr/>
          </a:p>
        </p:txBody>
      </p:sp>
      <p:sp>
        <p:nvSpPr>
          <p:cNvPr id="335" name="Google Shape;335;p22"/>
          <p:cNvSpPr txBox="1"/>
          <p:nvPr>
            <p:ph idx="1" type="body"/>
          </p:nvPr>
        </p:nvSpPr>
        <p:spPr>
          <a:xfrm>
            <a:off x="1303800" y="1697200"/>
            <a:ext cx="2686200" cy="29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Pods that are running inside Kubernetes are running on a private, iso</a:t>
            </a:r>
            <a:r>
              <a:rPr lang="en"/>
              <a:t>l</a:t>
            </a:r>
            <a:r>
              <a:rPr lang="en"/>
              <a:t>ated network. By default they are visible from other pods and </a:t>
            </a:r>
            <a:r>
              <a:rPr lang="en"/>
              <a:t>services</a:t>
            </a:r>
            <a:r>
              <a:rPr lang="en"/>
              <a:t> within the same kubernetes cluster, but not outside that network. </a:t>
            </a:r>
            <a:endParaRPr/>
          </a:p>
        </p:txBody>
      </p:sp>
      <p:pic>
        <p:nvPicPr>
          <p:cNvPr id="336" name="Google Shape;3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8625" y="1437475"/>
            <a:ext cx="4025082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/>
          <p:nvPr>
            <p:ph idx="1" type="body"/>
          </p:nvPr>
        </p:nvSpPr>
        <p:spPr>
          <a:xfrm>
            <a:off x="1303800" y="1990050"/>
            <a:ext cx="31281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k</a:t>
            </a:r>
            <a:r>
              <a:rPr lang="en" u="sng"/>
              <a:t>ubectl</a:t>
            </a:r>
            <a:r>
              <a:rPr lang="en"/>
              <a:t> is a client, the corresponding server is the kubernetes </a:t>
            </a:r>
            <a:r>
              <a:rPr lang="en" u="sng"/>
              <a:t>control plane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Kubectl is developed by Kubernetes, it has no knowledge about GCP.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connect the client to the server, we need to set some configurations.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GCP and kubectl</a:t>
            </a:r>
            <a:endParaRPr/>
          </a:p>
        </p:txBody>
      </p:sp>
      <p:graphicFrame>
        <p:nvGraphicFramePr>
          <p:cNvPr id="343" name="Google Shape;343;p23"/>
          <p:cNvGraphicFramePr/>
          <p:nvPr/>
        </p:nvGraphicFramePr>
        <p:xfrm>
          <a:off x="4673350" y="94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{D0AC811E-7E8A-43AB-AEEB-469E5BADF34E}</a:tableStyleId>
              </a:tblPr>
              <a:tblGrid>
                <a:gridCol w="3973200"/>
              </a:tblGrid>
              <a:tr h="57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GCP-specific way to create configuration</a:t>
                      </a:r>
                      <a:endParaRPr sz="13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700">
                <a:tc>
                  <a:txBody>
                    <a:bodyPr/>
                    <a:lstStyle/>
                    <a:p>
                      <a:pPr indent="0" lvl="0" marL="0" marR="228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gcloud components install gke-gcloud-auth-plugin</a:t>
                      </a:r>
                      <a:endParaRPr sz="105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228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gcloud components install kubectl</a:t>
                      </a:r>
                      <a:endParaRPr sz="105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Login</a:t>
                      </a:r>
                      <a:endParaRPr sz="13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gcloud init </a:t>
                      </a:r>
                      <a:endParaRPr sz="13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Download credentials and config</a:t>
                      </a:r>
                      <a:endParaRPr sz="13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gcloud container clusters get-credentials </a:t>
                      </a:r>
                      <a:r>
                        <a:rPr i="1" lang="en" sz="13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CLUSTER_NAME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--location asia-east-1</a:t>
                      </a:r>
                      <a:endParaRPr sz="13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Check the config</a:t>
                      </a:r>
                      <a:endParaRPr i="1" sz="13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config view </a:t>
                      </a:r>
                      <a:endParaRPr sz="13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kubectl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49" name="Google Shape;349;p24"/>
          <p:cNvGraphicFramePr/>
          <p:nvPr/>
        </p:nvGraphicFramePr>
        <p:xfrm>
          <a:off x="952500" y="155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{D0AC811E-7E8A-43AB-AEEB-469E5BADF34E}</a:tableStyleId>
              </a:tblPr>
              <a:tblGrid>
                <a:gridCol w="3963575"/>
                <a:gridCol w="3275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version</a:t>
                      </a:r>
                      <a:endParaRPr sz="1200">
                        <a:solidFill>
                          <a:srgbClr val="43434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cluster-info</a:t>
                      </a:r>
                      <a:endParaRPr sz="1200">
                        <a:solidFill>
                          <a:srgbClr val="43434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get [nodes|deployments|pods|services]</a:t>
                      </a:r>
                      <a:endParaRPr sz="1200">
                        <a:solidFill>
                          <a:srgbClr val="43434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describe</a:t>
                      </a:r>
                      <a:endParaRPr sz="1200">
                        <a:solidFill>
                          <a:srgbClr val="43434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logs</a:t>
                      </a:r>
                      <a:endParaRPr sz="1200">
                        <a:solidFill>
                          <a:srgbClr val="43434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exec</a:t>
                      </a:r>
                      <a:endParaRPr sz="1200">
                        <a:solidFill>
                          <a:srgbClr val="43434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scale</a:t>
                      </a:r>
                      <a:endParaRPr sz="1200">
                        <a:solidFill>
                          <a:srgbClr val="43434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delete</a:t>
                      </a:r>
                      <a:endParaRPr sz="1200">
                        <a:solidFill>
                          <a:srgbClr val="43434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3434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create deployment hello-node --image=k8s.gcr.io/echoserver:1.4</a:t>
                      </a:r>
                      <a:endParaRPr sz="1200">
                        <a:solidFill>
                          <a:srgbClr val="43434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expose deployment hello-node --type=LoadBalancer --port=8080</a:t>
                      </a:r>
                      <a:endParaRPr sz="1200">
                        <a:solidFill>
                          <a:srgbClr val="43434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0" name="Google Shape;350;p24"/>
          <p:cNvSpPr txBox="1"/>
          <p:nvPr/>
        </p:nvSpPr>
        <p:spPr>
          <a:xfrm>
            <a:off x="952500" y="4479625"/>
            <a:ext cx="74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Cheatsheet: </a:t>
            </a:r>
            <a:r>
              <a:rPr lang="en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https://kubernetes.io/docs/reference/kubectl/cheatsheet/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Pods</a:t>
            </a:r>
            <a:endParaRPr/>
          </a:p>
        </p:txBody>
      </p:sp>
      <p:sp>
        <p:nvSpPr>
          <p:cNvPr id="356" name="Google Shape;356;p2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normal docker environment, we use port-forwarding.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in kubernetes, we need to use other ways: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ubectl port-forward </a:t>
            </a:r>
            <a:r>
              <a:rPr lang="en"/>
              <a:t>(private)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Kubernetes service   (public)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 txBox="1"/>
          <p:nvPr>
            <p:ph type="title"/>
          </p:nvPr>
        </p:nvSpPr>
        <p:spPr>
          <a:xfrm>
            <a:off x="824000" y="1613825"/>
            <a:ext cx="71487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 in Kubernetes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7"/>
          <p:cNvSpPr txBox="1"/>
          <p:nvPr>
            <p:ph type="title"/>
          </p:nvPr>
        </p:nvSpPr>
        <p:spPr>
          <a:xfrm>
            <a:off x="1303800" y="598575"/>
            <a:ext cx="7030500" cy="6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 types</a:t>
            </a:r>
            <a:endParaRPr/>
          </a:p>
        </p:txBody>
      </p:sp>
      <p:graphicFrame>
        <p:nvGraphicFramePr>
          <p:cNvPr id="367" name="Google Shape;367;p27"/>
          <p:cNvGraphicFramePr/>
          <p:nvPr/>
        </p:nvGraphicFramePr>
        <p:xfrm>
          <a:off x="897900" y="139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{D0AC811E-7E8A-43AB-AEEB-469E5BADF34E}</a:tableStyleId>
              </a:tblPr>
              <a:tblGrid>
                <a:gridCol w="460500"/>
                <a:gridCol w="1563575"/>
                <a:gridCol w="5324125"/>
              </a:tblGrid>
              <a:tr h="51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Pod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 bundle of containers, networks and </a:t>
                      </a: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volumes forming an application. A pod can also consist of only a single container.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51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Deployment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 definition about how pods are managed. You can specify number of replication, auto scaling etc.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51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Service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An interface to connect from the internet/intranet to pods, networking level.  </a:t>
                      </a: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(Equivalent to load balancer (a network hardware)) (Level 4)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1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Ingress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An interface to connect from the internet to pods, application level.  (Equivalent to an Nginx, can perform routing on Path / SSL termination)  (Level 7)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3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Job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Run a single docker image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3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Cron Job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Run a single docker image rescheduled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3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Config</a:t>
                      </a: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map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Key-value pairs, the value can be a large page of config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3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Secret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Key-value pairs with encryption</a:t>
                      </a:r>
                      <a:endParaRPr sz="11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2" name="Google Shape;372;p28"/>
          <p:cNvGraphicFramePr/>
          <p:nvPr/>
        </p:nvGraphicFramePr>
        <p:xfrm>
          <a:off x="1199550" y="132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{D0AC811E-7E8A-43AB-AEEB-469E5BADF34E}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From command line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From yaml file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run -i helloworld --image=docker/getting-started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apiVersion: v1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kind: Pod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metadata: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name: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nginx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labels: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app: nginx-pod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containers: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- name: nginx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image: nginx:1.14.2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ports: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- containerPort: 80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- name: getting-started</a:t>
                      </a:r>
                      <a:endParaRPr strike="sngStrike"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image: </a:t>
                      </a:r>
                      <a:r>
                        <a:rPr lang="en" strike="sngStrike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docker/getting-started</a:t>
                      </a:r>
                      <a:endParaRPr sz="1600" strike="sngStrike"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3" name="Google Shape;373;p28"/>
          <p:cNvSpPr txBox="1"/>
          <p:nvPr>
            <p:ph type="title"/>
          </p:nvPr>
        </p:nvSpPr>
        <p:spPr>
          <a:xfrm>
            <a:off x="1303800" y="598575"/>
            <a:ext cx="70305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pod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4819050" y="410575"/>
            <a:ext cx="414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# Command to apply yaml file:</a:t>
            </a:r>
            <a:endParaRPr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ubectl apply -f xxx.yaml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" name="Google Shape;375;p28"/>
          <p:cNvSpPr txBox="1"/>
          <p:nvPr/>
        </p:nvSpPr>
        <p:spPr>
          <a:xfrm>
            <a:off x="1199550" y="3632175"/>
            <a:ext cx="361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Note: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1. Format of yaml files is sensitive to indentations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6" name="Google Shape;376;p28"/>
          <p:cNvSpPr txBox="1"/>
          <p:nvPr/>
        </p:nvSpPr>
        <p:spPr>
          <a:xfrm>
            <a:off x="0" y="0"/>
            <a:ext cx="72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After creation, verify the pod is created with: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kubectl get pods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1" name="Google Shape;381;p29"/>
          <p:cNvGraphicFramePr/>
          <p:nvPr/>
        </p:nvGraphicFramePr>
        <p:xfrm>
          <a:off x="5485250" y="41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{D0AC811E-7E8A-43AB-AEEB-469E5BADF34E}</a:tableStyleId>
              </a:tblPr>
              <a:tblGrid>
                <a:gridCol w="3619500"/>
              </a:tblGrid>
              <a:tr h="38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From yaml file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5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apiVersion: apps/v1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kind: Deployment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metadata: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name: my-nginx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labels: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app: nginx-dpt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replicas: 3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selector: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matchLabels: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app: nginx-pod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template: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metadata: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labels: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app: nginx-pod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spec: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containers: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- name: nginx-c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image: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nginx:1.14.2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ports: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 containerPort: 80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2" name="Google Shape;382;p29"/>
          <p:cNvSpPr txBox="1"/>
          <p:nvPr>
            <p:ph type="title"/>
          </p:nvPr>
        </p:nvSpPr>
        <p:spPr>
          <a:xfrm>
            <a:off x="1303800" y="598575"/>
            <a:ext cx="41814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deployment</a:t>
            </a:r>
            <a:endParaRPr/>
          </a:p>
        </p:txBody>
      </p:sp>
      <p:graphicFrame>
        <p:nvGraphicFramePr>
          <p:cNvPr id="383" name="Google Shape;383;p29"/>
          <p:cNvGraphicFramePr/>
          <p:nvPr/>
        </p:nvGraphicFramePr>
        <p:xfrm>
          <a:off x="1148550" y="1830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{D0AC811E-7E8A-43AB-AEEB-469E5BADF34E}</a:tableStyleId>
              </a:tblPr>
              <a:tblGrid>
                <a:gridCol w="3619500"/>
              </a:tblGrid>
              <a:tr h="24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From command line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4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create deployment my-nginx --image=nginx:1.14.2 --replicas=3 --port=80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4" name="Google Shape;384;p29"/>
          <p:cNvSpPr txBox="1"/>
          <p:nvPr/>
        </p:nvSpPr>
        <p:spPr>
          <a:xfrm>
            <a:off x="1148550" y="3145100"/>
            <a:ext cx="3619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Note: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We must include “template” in the deployment definition, to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define how pods will be created later.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5" name="Google Shape;385;p29"/>
          <p:cNvSpPr txBox="1"/>
          <p:nvPr/>
        </p:nvSpPr>
        <p:spPr>
          <a:xfrm>
            <a:off x="1148550" y="4270275"/>
            <a:ext cx="361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After creation, verify the deployment is created with: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kubectl get deployments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service</a:t>
            </a:r>
            <a:endParaRPr/>
          </a:p>
        </p:txBody>
      </p:sp>
      <p:graphicFrame>
        <p:nvGraphicFramePr>
          <p:cNvPr id="391" name="Google Shape;391;p30"/>
          <p:cNvGraphicFramePr/>
          <p:nvPr/>
        </p:nvGraphicFramePr>
        <p:xfrm>
          <a:off x="1148550" y="1830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{D0AC811E-7E8A-43AB-AEEB-469E5BADF34E}</a:tableStyleId>
              </a:tblPr>
              <a:tblGrid>
                <a:gridCol w="3619500"/>
              </a:tblGrid>
              <a:tr h="22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From command line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136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kubectl expose deployment my-nginx --type=LoadBalancer --port=80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92" name="Google Shape;392;p30"/>
          <p:cNvGraphicFramePr/>
          <p:nvPr/>
        </p:nvGraphicFramePr>
        <p:xfrm>
          <a:off x="5030250" y="10753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{D0AC811E-7E8A-43AB-AEEB-469E5BADF34E}</a:tableStyleId>
              </a:tblPr>
              <a:tblGrid>
                <a:gridCol w="3619500"/>
              </a:tblGrid>
              <a:tr h="3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From yaml file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8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apiVersion: v1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kind: Service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metadata: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name: my-nginx-svc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labels: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app: nginx-svc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type: LoadBalancer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ports: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- port: 80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selector: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app: nginx-pod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3" name="Google Shape;393;p30"/>
          <p:cNvSpPr txBox="1"/>
          <p:nvPr/>
        </p:nvSpPr>
        <p:spPr>
          <a:xfrm>
            <a:off x="1148550" y="3950550"/>
            <a:ext cx="361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Reference: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https://kubernetes.io/docs/concepts/cluster-administration/manage-deployment/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</a:t>
            </a:r>
            <a:endParaRPr/>
          </a:p>
        </p:txBody>
      </p:sp>
      <p:sp>
        <p:nvSpPr>
          <p:cNvPr id="399" name="Google Shape;399;p31"/>
          <p:cNvSpPr txBox="1"/>
          <p:nvPr>
            <p:ph idx="1" type="body"/>
          </p:nvPr>
        </p:nvSpPr>
        <p:spPr>
          <a:xfrm>
            <a:off x="1303800" y="1830275"/>
            <a:ext cx="7030500" cy="31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pod is tagged with labels.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Labels are key-value pairs.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Check the labels of running pods with: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kubectl get pods --show-labels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kubectl get deployments --show-labels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kubectl get services --show-labels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</a:t>
            </a:r>
            <a:endParaRPr/>
          </a:p>
        </p:txBody>
      </p:sp>
      <p:graphicFrame>
        <p:nvGraphicFramePr>
          <p:cNvPr id="405" name="Google Shape;405;p32"/>
          <p:cNvGraphicFramePr/>
          <p:nvPr/>
        </p:nvGraphicFramePr>
        <p:xfrm>
          <a:off x="952500" y="2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{D0AC811E-7E8A-43AB-AEEB-469E5BADF34E}</a:tableStyleId>
              </a:tblPr>
              <a:tblGrid>
                <a:gridCol w="4052275"/>
                <a:gridCol w="3902475"/>
              </a:tblGrid>
              <a:tr h="466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apiVersion: v1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kind: Service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metadata: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name: service-name-does-not-matter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labels: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app: service-label-does-not-matter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type: LoadBalancer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ports: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- port: 80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selector:</a:t>
                      </a:r>
                      <a:endParaRPr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app: nginx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-pod</a:t>
                      </a:r>
                      <a:endParaRPr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apiVersion: apps/v1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kind: Deployment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metadata: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name: dpt-name-does-not-matter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labels: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app: dpt-label-does-not-matter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replicas: 3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selector: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matchLabels:</a:t>
                      </a:r>
                      <a:endParaRPr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app: nginx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-pod</a:t>
                      </a:r>
                      <a:endParaRPr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template: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metadata: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</a:t>
                      </a:r>
                      <a:r>
                        <a:rPr lang="en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labels:</a:t>
                      </a:r>
                      <a:endParaRPr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app: nginx-pod</a:t>
                      </a:r>
                      <a:endParaRPr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spec: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containers: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- name: name-does-not-matter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image: nginx:1.14.2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ports: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E9E9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- containerPort: 80</a:t>
                      </a:r>
                      <a:endParaRPr>
                        <a:solidFill>
                          <a:srgbClr val="9E9E9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6" name="Google Shape;406;p32"/>
          <p:cNvSpPr txBox="1"/>
          <p:nvPr/>
        </p:nvSpPr>
        <p:spPr>
          <a:xfrm>
            <a:off x="952500" y="1376025"/>
            <a:ext cx="370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The label on pod is used by both Deployment and Service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</a:t>
            </a:r>
            <a:endParaRPr/>
          </a:p>
        </p:txBody>
      </p:sp>
      <p:sp>
        <p:nvSpPr>
          <p:cNvPr id="412" name="Google Shape;412;p33"/>
          <p:cNvSpPr txBox="1"/>
          <p:nvPr>
            <p:ph idx="1" type="body"/>
          </p:nvPr>
        </p:nvSpPr>
        <p:spPr>
          <a:xfrm>
            <a:off x="1303800" y="1383675"/>
            <a:ext cx="7030500" cy="35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in the context of Kubernetes: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way to expose a deployment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b="1" lang="en" sz="1100">
                <a:solidFill>
                  <a:srgbClr val="000000"/>
                </a:solidFill>
              </a:rPr>
              <a:t>ClusterIP</a:t>
            </a:r>
            <a:r>
              <a:rPr lang="en" sz="1100">
                <a:solidFill>
                  <a:srgbClr val="000000"/>
                </a:solidFill>
              </a:rPr>
              <a:t>: Exposes the Service on a cluster-internal IP. Choosing this value makes the Service only reachable from within the cluster. This is the default ServiceType.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b="1" lang="en" sz="1100">
                <a:solidFill>
                  <a:srgbClr val="000000"/>
                </a:solidFill>
              </a:rPr>
              <a:t>NodePort</a:t>
            </a:r>
            <a:r>
              <a:rPr lang="en" sz="1100">
                <a:solidFill>
                  <a:srgbClr val="000000"/>
                </a:solidFill>
              </a:rPr>
              <a:t>: Exposes the Service on each Node's IP at a static port (the NodePort). A ClusterIP Service, to which the NodePort Service routes, is automatically created. You'll be able to contact the NodePort Service, from outside the cluster, by requesting &lt;NodeIP&gt;:&lt;NodePort&gt;.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b="1" lang="en" sz="1100">
                <a:solidFill>
                  <a:srgbClr val="000000"/>
                </a:solidFill>
              </a:rPr>
              <a:t>LoadBalancer</a:t>
            </a:r>
            <a:r>
              <a:rPr lang="en" sz="1100">
                <a:solidFill>
                  <a:srgbClr val="000000"/>
                </a:solidFill>
              </a:rPr>
              <a:t>: Exposes the Service externally using a cloud provider's load balancer. NodePort and ClusterIP Services, to which the external load balancer routes, are automatically created.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b="1" lang="en" sz="1100">
                <a:solidFill>
                  <a:srgbClr val="000000"/>
                </a:solidFill>
              </a:rPr>
              <a:t>ExternalName</a:t>
            </a:r>
            <a:r>
              <a:rPr lang="en" sz="1100">
                <a:solidFill>
                  <a:srgbClr val="000000"/>
                </a:solidFill>
              </a:rPr>
              <a:t>: Maps the Service to the contents of the externalName field (e.g. foo.bar.example.com), by returning a CNAME record with its value. No proxying of any kind is set up.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Visit a non public service</a:t>
            </a:r>
            <a:endParaRPr/>
          </a:p>
        </p:txBody>
      </p:sp>
      <p:sp>
        <p:nvSpPr>
          <p:cNvPr id="418" name="Google Shape;418;p3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visit a ClusterIP service (not public), we can set up a port forwarding through kubectl.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kubectl port-forward "service/hello-world" 8080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Selector</a:t>
            </a:r>
            <a:endParaRPr/>
          </a:p>
        </p:txBody>
      </p:sp>
      <p:sp>
        <p:nvSpPr>
          <p:cNvPr id="424" name="Google Shape;424;p3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 services to select its target with labels.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kubectl expose deployment hello-node --type=LoadBalancer --port=8080</a:t>
            </a:r>
            <a:endParaRPr sz="1200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above command </a:t>
            </a:r>
            <a:r>
              <a:rPr lang="en"/>
              <a:t>implicitly</a:t>
            </a:r>
            <a:r>
              <a:rPr lang="en"/>
              <a:t> assumed label to be app:</a:t>
            </a:r>
            <a:r>
              <a:rPr lang="en" sz="12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hello-node.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Ingress</a:t>
            </a:r>
            <a:endParaRPr/>
          </a:p>
        </p:txBody>
      </p:sp>
      <p:pic>
        <p:nvPicPr>
          <p:cNvPr id="430" name="Google Shape;4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00" y="1312675"/>
            <a:ext cx="4852400" cy="378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1075" y="48462"/>
            <a:ext cx="2927625" cy="504657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6"/>
          <p:cNvSpPr txBox="1"/>
          <p:nvPr/>
        </p:nvSpPr>
        <p:spPr>
          <a:xfrm>
            <a:off x="499350" y="45279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https://kubernetes.io/docs/concepts/services-networking/ingress/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Jobs</a:t>
            </a:r>
            <a:endParaRPr/>
          </a:p>
        </p:txBody>
      </p:sp>
      <p:pic>
        <p:nvPicPr>
          <p:cNvPr id="438" name="Google Shape;43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7575" y="692975"/>
            <a:ext cx="4918975" cy="39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 txBox="1"/>
          <p:nvPr/>
        </p:nvSpPr>
        <p:spPr>
          <a:xfrm>
            <a:off x="765700" y="4316775"/>
            <a:ext cx="292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https://kubernetes.io/docs/concepts/workloads/controllers/job/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Cron Job</a:t>
            </a:r>
            <a:endParaRPr/>
          </a:p>
        </p:txBody>
      </p:sp>
      <p:pic>
        <p:nvPicPr>
          <p:cNvPr id="445" name="Google Shape;4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600" y="126450"/>
            <a:ext cx="5034825" cy="4889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8"/>
          <p:cNvSpPr txBox="1"/>
          <p:nvPr/>
        </p:nvSpPr>
        <p:spPr>
          <a:xfrm>
            <a:off x="765700" y="4316775"/>
            <a:ext cx="292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https://kubernetes.io/docs/concepts/workloads/controllers/cron-jobs/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1" name="Google Shape;451;p39"/>
          <p:cNvGraphicFramePr/>
          <p:nvPr/>
        </p:nvGraphicFramePr>
        <p:xfrm>
          <a:off x="4572000" y="10753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{D0AC811E-7E8A-43AB-AEEB-469E5BADF34E}</a:tableStyleId>
              </a:tblPr>
              <a:tblGrid>
                <a:gridCol w="3619500"/>
              </a:tblGrid>
              <a:tr h="3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From yaml file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8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apiVersion: v1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kind: ConfigMap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metadata: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name: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nginx-conf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ata: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nginx.conf: |-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user  nginx;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worker_processes  1;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…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…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2" name="Google Shape;452;p3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ConfigMap</a:t>
            </a:r>
            <a:endParaRPr/>
          </a:p>
        </p:txBody>
      </p:sp>
      <p:sp>
        <p:nvSpPr>
          <p:cNvPr id="453" name="Google Shape;453;p39"/>
          <p:cNvSpPr txBox="1"/>
          <p:nvPr/>
        </p:nvSpPr>
        <p:spPr>
          <a:xfrm>
            <a:off x="1353850" y="1631275"/>
            <a:ext cx="2929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One can load a config into the config map.  Such map can be used later as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eriod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Environment variable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AutoNum type="arabicPeriod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Mounted volume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8" name="Google Shape;458;p40"/>
          <p:cNvGraphicFramePr/>
          <p:nvPr/>
        </p:nvGraphicFramePr>
        <p:xfrm>
          <a:off x="4572000" y="10753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{D0AC811E-7E8A-43AB-AEEB-469E5BADF34E}</a:tableStyleId>
              </a:tblPr>
              <a:tblGrid>
                <a:gridCol w="3619500"/>
              </a:tblGrid>
              <a:tr h="3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From yaml file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8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apiVersion: v1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kind: Secret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metadata: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name: mariadb-root-password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type: Opaque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data: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password: S3ViZXJuQ==</a:t>
                      </a:r>
                      <a:endParaRPr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9" name="Google Shape;459;p40"/>
          <p:cNvSpPr txBox="1"/>
          <p:nvPr/>
        </p:nvSpPr>
        <p:spPr>
          <a:xfrm>
            <a:off x="1353850" y="1631275"/>
            <a:ext cx="2929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Secr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t is more or less the same as configmap. 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They are only different when it comes to “who can view the value”.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0" name="Google Shape;460;p4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Secret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a pod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In docker, we use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ocker exec -it </a:t>
            </a:r>
            <a:r>
              <a:rPr i="1"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CONTAINER_NAME</a:t>
            </a: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bash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In k8s, we use something similar: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kubectl exec </a:t>
            </a: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--stdin --tty </a:t>
            </a:r>
            <a:r>
              <a:rPr i="1"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POD_NAME </a:t>
            </a:r>
            <a:r>
              <a:rPr lang="en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 bash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Inter-pod linkage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pods</a:t>
            </a:r>
            <a:endParaRPr/>
          </a:p>
        </p:txBody>
      </p:sp>
      <p:sp>
        <p:nvSpPr>
          <p:cNvPr id="482" name="Google Shape;482;p44"/>
          <p:cNvSpPr txBox="1"/>
          <p:nvPr>
            <p:ph idx="1" type="body"/>
          </p:nvPr>
        </p:nvSpPr>
        <p:spPr>
          <a:xfrm>
            <a:off x="1303800" y="1801400"/>
            <a:ext cx="31572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Even within the same kubernetes environment, we need a </a:t>
            </a:r>
            <a:r>
              <a:rPr lang="en" sz="1600" u="sng"/>
              <a:t>Service</a:t>
            </a:r>
            <a:r>
              <a:rPr lang="en" sz="1600"/>
              <a:t> to make a pod available to other pods.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83" name="Google Shape;483;p44"/>
          <p:cNvSpPr txBox="1"/>
          <p:nvPr>
            <p:ph idx="1" type="body"/>
          </p:nvPr>
        </p:nvSpPr>
        <p:spPr>
          <a:xfrm>
            <a:off x="5177100" y="1231775"/>
            <a:ext cx="3157200" cy="20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the following example: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Both </a:t>
            </a:r>
            <a:r>
              <a:rPr i="1" lang="en" sz="1600">
                <a:solidFill>
                  <a:schemeClr val="accent2"/>
                </a:solidFill>
              </a:rPr>
              <a:t>m</a:t>
            </a:r>
            <a:r>
              <a:rPr i="1" lang="en" sz="1600">
                <a:solidFill>
                  <a:schemeClr val="accent2"/>
                </a:solidFill>
              </a:rPr>
              <a:t>y-nginx-svc</a:t>
            </a:r>
            <a:r>
              <a:rPr i="1" lang="en" sz="1600"/>
              <a:t> </a:t>
            </a:r>
            <a:r>
              <a:rPr lang="en" sz="1600"/>
              <a:t>and </a:t>
            </a:r>
            <a:r>
              <a:rPr i="1" lang="en" sz="1600">
                <a:solidFill>
                  <a:schemeClr val="accent2"/>
                </a:solidFill>
              </a:rPr>
              <a:t>10.8.8.104</a:t>
            </a:r>
            <a:r>
              <a:rPr lang="en" sz="1600"/>
              <a:t> can be reference within k8s internal network.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For internet, we must use </a:t>
            </a:r>
            <a:r>
              <a:rPr i="1" lang="en" sz="1600">
                <a:solidFill>
                  <a:schemeClr val="accent2"/>
                </a:solidFill>
              </a:rPr>
              <a:t>35.193.58.193</a:t>
            </a:r>
            <a:endParaRPr i="1" sz="1600">
              <a:solidFill>
                <a:schemeClr val="accent2"/>
              </a:solidFill>
            </a:endParaRPr>
          </a:p>
        </p:txBody>
      </p:sp>
      <p:pic>
        <p:nvPicPr>
          <p:cNvPr id="484" name="Google Shape;48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900" y="3636700"/>
            <a:ext cx="7172198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5"/>
          <p:cNvSpPr txBox="1"/>
          <p:nvPr>
            <p:ph type="title"/>
          </p:nvPr>
        </p:nvSpPr>
        <p:spPr>
          <a:xfrm>
            <a:off x="824000" y="1613825"/>
            <a:ext cx="71487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Docker/Kubernetes/Containerd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== Container ??</a:t>
            </a:r>
            <a:endParaRPr/>
          </a:p>
        </p:txBody>
      </p:sp>
      <p:sp>
        <p:nvSpPr>
          <p:cNvPr id="495" name="Google Shape;495;p46"/>
          <p:cNvSpPr txBox="1"/>
          <p:nvPr>
            <p:ph idx="1" type="body"/>
          </p:nvPr>
        </p:nvSpPr>
        <p:spPr>
          <a:xfrm>
            <a:off x="1303800" y="1632600"/>
            <a:ext cx="7030500" cy="28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Docker</a:t>
            </a:r>
            <a:r>
              <a:rPr lang="en" sz="1100">
                <a:solidFill>
                  <a:srgbClr val="000000"/>
                </a:solidFill>
              </a:rPr>
              <a:t> – A developer-oriented software with a high level interface that lets you easily build and run containers from your terminal. It now uses containerd as its container runtime.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Containerd</a:t>
            </a:r>
            <a:r>
              <a:rPr lang="en" sz="1100">
                <a:solidFill>
                  <a:srgbClr val="000000"/>
                </a:solidFill>
              </a:rPr>
              <a:t> – An abstraction of kernel features that provides a relatively high level container interface. Other software projects can use this to run containers and manage container images.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Kubernetes</a:t>
            </a:r>
            <a:r>
              <a:rPr lang="en" sz="1100">
                <a:solidFill>
                  <a:srgbClr val="000000"/>
                </a:solidFill>
              </a:rPr>
              <a:t> – A container orchestrator that works with multiple container runtimes, including containerd. Kubernetes is focused on deploying containers in aggregate across one or more physical “nodes.” Historically, Kubernetes was tied to Docker.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</a:rPr>
              <a:t>Source: https://www.cloudsavvyit.com/10075/what-is-containerd-and-how-does-it-relate-to-docker-and-kubernetes/</a:t>
            </a:r>
            <a:endParaRPr sz="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7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repository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Repository</a:t>
            </a:r>
            <a:endParaRPr/>
          </a:p>
        </p:txBody>
      </p:sp>
      <p:sp>
        <p:nvSpPr>
          <p:cNvPr id="506" name="Google Shape;506;p4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GCR - Container Registry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docker pull busybox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docker tag busybox gcr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.io/my-project/busybox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docker push gcr.io/my-project/busybox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https://cloud.google.com/container-registry/docs/pushing-and-pulling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