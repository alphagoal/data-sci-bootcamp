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oboto"/>
      <p:regular r:id="rId16"/>
      <p:bold r:id="rId17"/>
      <p:italic r:id="rId18"/>
      <p:boldItalic r:id="rId19"/>
    </p:embeddedFont>
    <p:embeddedFont>
      <p:font typeface="Nunito"/>
      <p:regular r:id="rId20"/>
      <p:bold r:id="rId21"/>
      <p:italic r:id="rId22"/>
      <p:boldItalic r:id="rId23"/>
    </p:embeddedFont>
    <p:embeddedFont>
      <p:font typeface="Maven Pro"/>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BE8960-4016-43C9-A2BD-74E4279D1514}">
  <a:tblStyle styleId="{8FBE8960-4016-43C9-A2BD-74E4279D151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MavenPro-regular.fntdata"/><Relationship Id="rId23"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MavenPr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f865622f14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f865622f14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499b619c1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499b619c1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a84065226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a84065226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499b619c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499b619c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a49ee678c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a49ee678c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f865622f14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f865622f14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f865622f14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f865622f14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a49ee678c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a49ee678c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thangchung/coffeeshop-modula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s://medium.com/@SoftwareDevelopmentCommunity/what-is-service-oriented-architecture-fa894d11a7ec"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aws.amazon.com/tw/microservices/"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sphereinc.com/blogs/when-to-choose-app-engine-vs-cloud-functions-or-cloud-run-in-gc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Microservices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Revision: What is a service?</a:t>
            </a:r>
            <a:endParaRPr/>
          </a:p>
        </p:txBody>
      </p:sp>
      <p:sp>
        <p:nvSpPr>
          <p:cNvPr id="283" name="Google Shape;283;p14"/>
          <p:cNvSpPr txBox="1"/>
          <p:nvPr>
            <p:ph idx="1" type="body"/>
          </p:nvPr>
        </p:nvSpPr>
        <p:spPr>
          <a:xfrm>
            <a:off x="1303800" y="1990050"/>
            <a:ext cx="7030500" cy="296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you perform a keyword search in Google, </a:t>
            </a:r>
            <a:r>
              <a:rPr lang="en"/>
              <a:t>Google gives you the result.</a:t>
            </a:r>
            <a:endParaRPr/>
          </a:p>
          <a:p>
            <a:pPr indent="0" lvl="0" marL="0" rtl="0" algn="l">
              <a:spcBef>
                <a:spcPts val="1200"/>
              </a:spcBef>
              <a:spcAft>
                <a:spcPts val="0"/>
              </a:spcAft>
              <a:buNone/>
            </a:pPr>
            <a:r>
              <a:rPr lang="en"/>
              <a:t>=&gt; Google is providing a search engine service.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When you turn on Uber, Uber show you nearby drivers.</a:t>
            </a:r>
            <a:endParaRPr/>
          </a:p>
          <a:p>
            <a:pPr indent="0" lvl="0" marL="0" rtl="0" algn="l">
              <a:spcBef>
                <a:spcPts val="1200"/>
              </a:spcBef>
              <a:spcAft>
                <a:spcPts val="0"/>
              </a:spcAft>
              <a:buNone/>
            </a:pPr>
            <a:r>
              <a:rPr lang="en"/>
              <a:t>=&gt; Uber is providing a driver location service.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 service usually means to </a:t>
            </a:r>
            <a:r>
              <a:rPr lang="en" u="sng"/>
              <a:t>perform a task upon request</a:t>
            </a:r>
            <a:r>
              <a:rPr lang="en"/>
              <a:t>.</a:t>
            </a:r>
            <a:endParaRPr/>
          </a:p>
        </p:txBody>
      </p:sp>
      <p:pic>
        <p:nvPicPr>
          <p:cNvPr id="284" name="Google Shape;284;p14"/>
          <p:cNvPicPr preferRelativeResize="0"/>
          <p:nvPr/>
        </p:nvPicPr>
        <p:blipFill>
          <a:blip r:embed="rId3">
            <a:alphaModFix/>
          </a:blip>
          <a:stretch>
            <a:fillRect/>
          </a:stretch>
        </p:blipFill>
        <p:spPr>
          <a:xfrm>
            <a:off x="5854375" y="2341450"/>
            <a:ext cx="2479924" cy="24799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is </a:t>
            </a:r>
            <a:r>
              <a:rPr lang="en"/>
              <a:t>this related to Data Engineers?</a:t>
            </a:r>
            <a:endParaRPr/>
          </a:p>
        </p:txBody>
      </p:sp>
      <p:sp>
        <p:nvSpPr>
          <p:cNvPr id="290" name="Google Shape;290;p1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Build / Use Data Exchange services</a:t>
            </a:r>
            <a:endParaRPr/>
          </a:p>
          <a:p>
            <a:pPr indent="-311150" lvl="0" marL="457200" rtl="0" algn="l">
              <a:spcBef>
                <a:spcPts val="0"/>
              </a:spcBef>
              <a:spcAft>
                <a:spcPts val="0"/>
              </a:spcAft>
              <a:buSzPts val="1300"/>
              <a:buChar char="●"/>
            </a:pPr>
            <a:r>
              <a:rPr lang="en"/>
              <a:t>Productize data products</a:t>
            </a:r>
            <a:endParaRPr/>
          </a:p>
          <a:p>
            <a:pPr indent="-311150" lvl="0" marL="457200" rtl="0" algn="l">
              <a:spcBef>
                <a:spcPts val="0"/>
              </a:spcBef>
              <a:spcAft>
                <a:spcPts val="0"/>
              </a:spcAft>
              <a:buSzPts val="1300"/>
              <a:buChar char="●"/>
            </a:pPr>
            <a:r>
              <a:rPr lang="en"/>
              <a:t>Reusable infrastructure for </a:t>
            </a:r>
            <a:r>
              <a:rPr lang="en"/>
              <a:t>internal</a:t>
            </a:r>
            <a:r>
              <a:rPr lang="en"/>
              <a:t> tools</a:t>
            </a:r>
            <a:endParaRPr/>
          </a:p>
          <a:p>
            <a:pPr indent="-311150" lvl="0" marL="457200" rtl="0" algn="l">
              <a:spcBef>
                <a:spcPts val="0"/>
              </a:spcBef>
              <a:spcAft>
                <a:spcPts val="0"/>
              </a:spcAft>
              <a:buSzPts val="1300"/>
              <a:buChar char="●"/>
            </a:pPr>
            <a:r>
              <a:rPr lang="en"/>
              <a:t>POC / Experimentation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p:nvPr/>
        </p:nvSpPr>
        <p:spPr>
          <a:xfrm>
            <a:off x="5719200" y="1540750"/>
            <a:ext cx="3300900" cy="2990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t>The Monolith Application</a:t>
            </a:r>
            <a:endParaRPr/>
          </a:p>
        </p:txBody>
      </p:sp>
      <p:sp>
        <p:nvSpPr>
          <p:cNvPr id="296" name="Google Shape;296;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Case Study - Coffee Shop Example</a:t>
            </a:r>
            <a:endParaRPr/>
          </a:p>
        </p:txBody>
      </p:sp>
      <p:sp>
        <p:nvSpPr>
          <p:cNvPr id="297" name="Google Shape;297;p16"/>
          <p:cNvSpPr txBox="1"/>
          <p:nvPr/>
        </p:nvSpPr>
        <p:spPr>
          <a:xfrm>
            <a:off x="5987300" y="4600600"/>
            <a:ext cx="31209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t>Example Credits to Thang Chung</a:t>
            </a:r>
            <a:br>
              <a:rPr lang="en" sz="1000"/>
            </a:br>
            <a:r>
              <a:rPr lang="en" sz="1000" u="sng">
                <a:solidFill>
                  <a:schemeClr val="accent5"/>
                </a:solidFill>
                <a:latin typeface="Nunito"/>
                <a:ea typeface="Nunito"/>
                <a:cs typeface="Nunito"/>
                <a:sym typeface="Nunito"/>
                <a:hlinkClick r:id="rId3">
                  <a:extLst>
                    <a:ext uri="{A12FA001-AC4F-418D-AE19-62706E023703}">
                      <ahyp:hlinkClr val="tx"/>
                    </a:ext>
                  </a:extLst>
                </a:hlinkClick>
              </a:rPr>
              <a:t>https://github.com/thangchung/coffeeshop-modular</a:t>
            </a:r>
            <a:endParaRPr sz="1000"/>
          </a:p>
        </p:txBody>
      </p:sp>
      <p:sp>
        <p:nvSpPr>
          <p:cNvPr id="298" name="Google Shape;298;p16"/>
          <p:cNvSpPr/>
          <p:nvPr/>
        </p:nvSpPr>
        <p:spPr>
          <a:xfrm>
            <a:off x="5909455" y="1758538"/>
            <a:ext cx="1447200" cy="58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Product (Menu)</a:t>
            </a:r>
            <a:endParaRPr/>
          </a:p>
        </p:txBody>
      </p:sp>
      <p:sp>
        <p:nvSpPr>
          <p:cNvPr id="299" name="Google Shape;299;p16"/>
          <p:cNvSpPr/>
          <p:nvPr/>
        </p:nvSpPr>
        <p:spPr>
          <a:xfrm>
            <a:off x="5909450" y="2478698"/>
            <a:ext cx="1447200" cy="58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Counter (Order)</a:t>
            </a:r>
            <a:endParaRPr/>
          </a:p>
        </p:txBody>
      </p:sp>
      <p:sp>
        <p:nvSpPr>
          <p:cNvPr id="300" name="Google Shape;300;p16"/>
          <p:cNvSpPr/>
          <p:nvPr/>
        </p:nvSpPr>
        <p:spPr>
          <a:xfrm>
            <a:off x="7493264" y="1758550"/>
            <a:ext cx="1447200" cy="58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Barista</a:t>
            </a:r>
            <a:endParaRPr/>
          </a:p>
        </p:txBody>
      </p:sp>
      <p:sp>
        <p:nvSpPr>
          <p:cNvPr id="301" name="Google Shape;301;p16"/>
          <p:cNvSpPr/>
          <p:nvPr/>
        </p:nvSpPr>
        <p:spPr>
          <a:xfrm>
            <a:off x="7493264" y="2478698"/>
            <a:ext cx="1447200" cy="58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Kitchen</a:t>
            </a:r>
            <a:endParaRPr/>
          </a:p>
        </p:txBody>
      </p:sp>
      <p:sp>
        <p:nvSpPr>
          <p:cNvPr id="302" name="Google Shape;302;p16"/>
          <p:cNvSpPr/>
          <p:nvPr/>
        </p:nvSpPr>
        <p:spPr>
          <a:xfrm>
            <a:off x="6765587" y="3326526"/>
            <a:ext cx="1208149" cy="765274"/>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Relational Database</a:t>
            </a:r>
            <a:endParaRPr/>
          </a:p>
        </p:txBody>
      </p:sp>
      <p:sp>
        <p:nvSpPr>
          <p:cNvPr id="303" name="Google Shape;303;p16"/>
          <p:cNvSpPr txBox="1"/>
          <p:nvPr/>
        </p:nvSpPr>
        <p:spPr>
          <a:xfrm>
            <a:off x="924450" y="1540750"/>
            <a:ext cx="4039200" cy="2770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Which component will visited frequently?</a:t>
            </a:r>
            <a:endParaRPr>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Which kind of resources (e.g. CPU, RAM, Network, Storage) is the most intensive for each component?</a:t>
            </a:r>
            <a:endParaRPr>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How about effort (SLA, Security, Update Frequency)</a:t>
            </a:r>
            <a:endParaRPr>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What happens when I add new component / new features to support business growth?</a:t>
            </a:r>
            <a:endParaRPr>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What if the Relational Database is down?</a:t>
            </a:r>
            <a:endParaRPr>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What if I want to try out new technologies?</a:t>
            </a:r>
            <a:endParaRPr>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API Mandate from Jeff Bezos</a:t>
            </a:r>
            <a:endParaRPr/>
          </a:p>
        </p:txBody>
      </p:sp>
      <p:sp>
        <p:nvSpPr>
          <p:cNvPr id="309" name="Google Shape;309;p17"/>
          <p:cNvSpPr txBox="1"/>
          <p:nvPr>
            <p:ph idx="1" type="body"/>
          </p:nvPr>
        </p:nvSpPr>
        <p:spPr>
          <a:xfrm>
            <a:off x="570050" y="1479300"/>
            <a:ext cx="8249400" cy="3362100"/>
          </a:xfrm>
          <a:prstGeom prst="rect">
            <a:avLst/>
          </a:prstGeom>
        </p:spPr>
        <p:txBody>
          <a:bodyPr anchorCtr="0" anchor="t" bIns="91425" lIns="91425" spcFirstLastPara="1" rIns="91425" wrap="square" tIns="91425">
            <a:normAutofit fontScale="85000"/>
          </a:bodyPr>
          <a:lstStyle/>
          <a:p>
            <a:pPr indent="-301466" lvl="0" marL="457200" rtl="0" algn="l">
              <a:lnSpc>
                <a:spcPct val="177777"/>
              </a:lnSpc>
              <a:spcBef>
                <a:spcPts val="0"/>
              </a:spcBef>
              <a:spcAft>
                <a:spcPts val="0"/>
              </a:spcAft>
              <a:buClr>
                <a:srgbClr val="6A6B70"/>
              </a:buClr>
              <a:buSzPct val="100000"/>
              <a:buFont typeface="Roboto"/>
              <a:buChar char="●"/>
            </a:pPr>
            <a:r>
              <a:rPr i="1" lang="en" sz="1350">
                <a:solidFill>
                  <a:srgbClr val="6A6B70"/>
                </a:solidFill>
                <a:highlight>
                  <a:srgbClr val="FFFFFF"/>
                </a:highlight>
                <a:latin typeface="Roboto"/>
                <a:ea typeface="Roboto"/>
                <a:cs typeface="Roboto"/>
                <a:sym typeface="Roboto"/>
              </a:rPr>
              <a:t>All teams will henceforth expose their data and functionality through service interfaces.</a:t>
            </a:r>
            <a:endParaRPr i="1" sz="1350">
              <a:solidFill>
                <a:srgbClr val="6A6B70"/>
              </a:solidFill>
              <a:highlight>
                <a:srgbClr val="FFFFFF"/>
              </a:highlight>
              <a:latin typeface="Roboto"/>
              <a:ea typeface="Roboto"/>
              <a:cs typeface="Roboto"/>
              <a:sym typeface="Roboto"/>
            </a:endParaRPr>
          </a:p>
          <a:p>
            <a:pPr indent="-301466" lvl="0" marL="457200" rtl="0" algn="l">
              <a:lnSpc>
                <a:spcPct val="177777"/>
              </a:lnSpc>
              <a:spcBef>
                <a:spcPts val="0"/>
              </a:spcBef>
              <a:spcAft>
                <a:spcPts val="0"/>
              </a:spcAft>
              <a:buClr>
                <a:srgbClr val="6A6B70"/>
              </a:buClr>
              <a:buSzPct val="100000"/>
              <a:buFont typeface="Roboto"/>
              <a:buChar char="●"/>
            </a:pPr>
            <a:r>
              <a:rPr i="1" lang="en" sz="1350">
                <a:solidFill>
                  <a:srgbClr val="6A6B70"/>
                </a:solidFill>
                <a:highlight>
                  <a:srgbClr val="FFFFFF"/>
                </a:highlight>
                <a:latin typeface="Roboto"/>
                <a:ea typeface="Roboto"/>
                <a:cs typeface="Roboto"/>
                <a:sym typeface="Roboto"/>
              </a:rPr>
              <a:t>Teams must communicate with each other through these interfaces.</a:t>
            </a:r>
            <a:endParaRPr i="1" sz="1350">
              <a:solidFill>
                <a:srgbClr val="6A6B70"/>
              </a:solidFill>
              <a:highlight>
                <a:srgbClr val="FFFFFF"/>
              </a:highlight>
              <a:latin typeface="Roboto"/>
              <a:ea typeface="Roboto"/>
              <a:cs typeface="Roboto"/>
              <a:sym typeface="Roboto"/>
            </a:endParaRPr>
          </a:p>
          <a:p>
            <a:pPr indent="-301466" lvl="0" marL="457200" rtl="0" algn="l">
              <a:lnSpc>
                <a:spcPct val="177777"/>
              </a:lnSpc>
              <a:spcBef>
                <a:spcPts val="0"/>
              </a:spcBef>
              <a:spcAft>
                <a:spcPts val="0"/>
              </a:spcAft>
              <a:buClr>
                <a:srgbClr val="6A6B70"/>
              </a:buClr>
              <a:buSzPct val="100000"/>
              <a:buFont typeface="Roboto"/>
              <a:buChar char="●"/>
            </a:pPr>
            <a:r>
              <a:rPr i="1" lang="en" sz="1350">
                <a:solidFill>
                  <a:srgbClr val="6A6B70"/>
                </a:solidFill>
                <a:highlight>
                  <a:srgbClr val="FFFFFF"/>
                </a:highlight>
                <a:latin typeface="Roboto"/>
                <a:ea typeface="Roboto"/>
                <a:cs typeface="Roboto"/>
                <a:sym typeface="Roboto"/>
              </a:rPr>
              <a:t>There will be no other form of interprocess communication allowed: no direct linking, no direct reads of another team’s data store, no shared-memory model, no back-doors whatsoever. The only communication allowed is via service interface calls over the network.</a:t>
            </a:r>
            <a:endParaRPr i="1" sz="1350">
              <a:solidFill>
                <a:srgbClr val="6A6B70"/>
              </a:solidFill>
              <a:highlight>
                <a:srgbClr val="FFFFFF"/>
              </a:highlight>
              <a:latin typeface="Roboto"/>
              <a:ea typeface="Roboto"/>
              <a:cs typeface="Roboto"/>
              <a:sym typeface="Roboto"/>
            </a:endParaRPr>
          </a:p>
          <a:p>
            <a:pPr indent="-301466" lvl="0" marL="457200" rtl="0" algn="l">
              <a:lnSpc>
                <a:spcPct val="177777"/>
              </a:lnSpc>
              <a:spcBef>
                <a:spcPts val="0"/>
              </a:spcBef>
              <a:spcAft>
                <a:spcPts val="0"/>
              </a:spcAft>
              <a:buClr>
                <a:srgbClr val="6A6B70"/>
              </a:buClr>
              <a:buSzPct val="100000"/>
              <a:buFont typeface="Roboto"/>
              <a:buChar char="●"/>
            </a:pPr>
            <a:r>
              <a:rPr i="1" lang="en" sz="1350">
                <a:solidFill>
                  <a:srgbClr val="6A6B70"/>
                </a:solidFill>
                <a:highlight>
                  <a:srgbClr val="FFFFFF"/>
                </a:highlight>
                <a:latin typeface="Roboto"/>
                <a:ea typeface="Roboto"/>
                <a:cs typeface="Roboto"/>
                <a:sym typeface="Roboto"/>
              </a:rPr>
              <a:t>It doesn’t matter what technology they use. HTTP, Corba, Pubsub, custom protocols — doesn’t matter. Bezos doesn’t care.</a:t>
            </a:r>
            <a:endParaRPr i="1" sz="1350">
              <a:solidFill>
                <a:srgbClr val="6A6B70"/>
              </a:solidFill>
              <a:highlight>
                <a:srgbClr val="FFFFFF"/>
              </a:highlight>
              <a:latin typeface="Roboto"/>
              <a:ea typeface="Roboto"/>
              <a:cs typeface="Roboto"/>
              <a:sym typeface="Roboto"/>
            </a:endParaRPr>
          </a:p>
          <a:p>
            <a:pPr indent="-301466" lvl="0" marL="457200" rtl="0" algn="l">
              <a:lnSpc>
                <a:spcPct val="177777"/>
              </a:lnSpc>
              <a:spcBef>
                <a:spcPts val="0"/>
              </a:spcBef>
              <a:spcAft>
                <a:spcPts val="0"/>
              </a:spcAft>
              <a:buClr>
                <a:srgbClr val="6A6B70"/>
              </a:buClr>
              <a:buSzPct val="100000"/>
              <a:buFont typeface="Roboto"/>
              <a:buChar char="●"/>
            </a:pPr>
            <a:r>
              <a:rPr i="1" lang="en" sz="1350">
                <a:solidFill>
                  <a:srgbClr val="6A6B70"/>
                </a:solidFill>
                <a:highlight>
                  <a:srgbClr val="FFFFFF"/>
                </a:highlight>
                <a:latin typeface="Roboto"/>
                <a:ea typeface="Roboto"/>
                <a:cs typeface="Roboto"/>
                <a:sym typeface="Roboto"/>
              </a:rPr>
              <a:t>All service interfaces, without exception, must be designed from the ground up to be externalizable. That is to say, the team must plan and design to be able to expose the interface to developers in the outside world. No exceptions.</a:t>
            </a:r>
            <a:endParaRPr i="1" sz="1350">
              <a:solidFill>
                <a:srgbClr val="6A6B70"/>
              </a:solidFill>
              <a:highlight>
                <a:srgbClr val="FFFFFF"/>
              </a:highlight>
              <a:latin typeface="Roboto"/>
              <a:ea typeface="Roboto"/>
              <a:cs typeface="Roboto"/>
              <a:sym typeface="Roboto"/>
            </a:endParaRPr>
          </a:p>
          <a:p>
            <a:pPr indent="-301466" lvl="0" marL="457200" rtl="0" algn="l">
              <a:lnSpc>
                <a:spcPct val="177777"/>
              </a:lnSpc>
              <a:spcBef>
                <a:spcPts val="0"/>
              </a:spcBef>
              <a:spcAft>
                <a:spcPts val="0"/>
              </a:spcAft>
              <a:buClr>
                <a:srgbClr val="6A6B70"/>
              </a:buClr>
              <a:buSzPct val="100000"/>
              <a:buFont typeface="Roboto"/>
              <a:buChar char="●"/>
            </a:pPr>
            <a:r>
              <a:rPr i="1" lang="en" sz="1350">
                <a:solidFill>
                  <a:srgbClr val="6A6B70"/>
                </a:solidFill>
                <a:highlight>
                  <a:srgbClr val="FFFFFF"/>
                </a:highlight>
                <a:latin typeface="Roboto"/>
                <a:ea typeface="Roboto"/>
                <a:cs typeface="Roboto"/>
                <a:sym typeface="Roboto"/>
              </a:rPr>
              <a:t>Anyone who doesn’t do this will be fired.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3" name="Shape 313"/>
        <p:cNvGrpSpPr/>
        <p:nvPr/>
      </p:nvGrpSpPr>
      <p:grpSpPr>
        <a:xfrm>
          <a:off x="0" y="0"/>
          <a:ext cx="0" cy="0"/>
          <a:chOff x="0" y="0"/>
          <a:chExt cx="0" cy="0"/>
        </a:xfrm>
      </p:grpSpPr>
      <p:sp>
        <p:nvSpPr>
          <p:cNvPr id="314" name="Google Shape;314;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Service Oriented Architecture (SOA)</a:t>
            </a:r>
            <a:endParaRPr/>
          </a:p>
        </p:txBody>
      </p:sp>
      <p:pic>
        <p:nvPicPr>
          <p:cNvPr id="315" name="Google Shape;315;p18"/>
          <p:cNvPicPr preferRelativeResize="0"/>
          <p:nvPr/>
        </p:nvPicPr>
        <p:blipFill>
          <a:blip r:embed="rId3">
            <a:alphaModFix/>
          </a:blip>
          <a:stretch>
            <a:fillRect/>
          </a:stretch>
        </p:blipFill>
        <p:spPr>
          <a:xfrm>
            <a:off x="2385275" y="1206975"/>
            <a:ext cx="4867551" cy="3431225"/>
          </a:xfrm>
          <a:prstGeom prst="rect">
            <a:avLst/>
          </a:prstGeom>
          <a:noFill/>
          <a:ln>
            <a:noFill/>
          </a:ln>
        </p:spPr>
      </p:pic>
      <p:sp>
        <p:nvSpPr>
          <p:cNvPr id="316" name="Google Shape;316;p18"/>
          <p:cNvSpPr txBox="1"/>
          <p:nvPr/>
        </p:nvSpPr>
        <p:spPr>
          <a:xfrm>
            <a:off x="2562425" y="4762300"/>
            <a:ext cx="6539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4"/>
              </a:rPr>
              <a:t>https://medium.com/@SoftwareDevelopmentCommunity/what-is-service-oriented-architecture-fa894d11a7ec</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microservice?</a:t>
            </a:r>
            <a:endParaRPr/>
          </a:p>
        </p:txBody>
      </p:sp>
      <p:sp>
        <p:nvSpPr>
          <p:cNvPr id="322" name="Google Shape;322;p19"/>
          <p:cNvSpPr txBox="1"/>
          <p:nvPr>
            <p:ph idx="1" type="body"/>
          </p:nvPr>
        </p:nvSpPr>
        <p:spPr>
          <a:xfrm>
            <a:off x="1303800" y="1534325"/>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https://aws.amazon.com/tw/microservices/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323" name="Google Shape;323;p19"/>
          <p:cNvPicPr preferRelativeResize="0"/>
          <p:nvPr/>
        </p:nvPicPr>
        <p:blipFill>
          <a:blip r:embed="rId4">
            <a:alphaModFix/>
          </a:blip>
          <a:stretch>
            <a:fillRect/>
          </a:stretch>
        </p:blipFill>
        <p:spPr>
          <a:xfrm>
            <a:off x="2233600" y="1930638"/>
            <a:ext cx="4676775" cy="2867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Cloud Computation Services</a:t>
            </a:r>
            <a:endParaRPr/>
          </a:p>
        </p:txBody>
      </p:sp>
      <p:graphicFrame>
        <p:nvGraphicFramePr>
          <p:cNvPr id="329" name="Google Shape;329;p20"/>
          <p:cNvGraphicFramePr/>
          <p:nvPr/>
        </p:nvGraphicFramePr>
        <p:xfrm>
          <a:off x="952500" y="1809750"/>
          <a:ext cx="3000000" cy="3000000"/>
        </p:xfrm>
        <a:graphic>
          <a:graphicData uri="http://schemas.openxmlformats.org/drawingml/2006/table">
            <a:tbl>
              <a:tblPr>
                <a:noFill/>
                <a:tableStyleId>{8FBE8960-4016-43C9-A2BD-74E4279D1514}</a:tableStyleId>
              </a:tblPr>
              <a:tblGrid>
                <a:gridCol w="1957250"/>
                <a:gridCol w="2568150"/>
                <a:gridCol w="2713600"/>
              </a:tblGrid>
              <a:tr h="381000">
                <a:tc>
                  <a:txBody>
                    <a:bodyPr/>
                    <a:lstStyle/>
                    <a:p>
                      <a:pPr indent="0" lvl="0" marL="0" rtl="0" algn="l">
                        <a:spcBef>
                          <a:spcPts val="0"/>
                        </a:spcBef>
                        <a:spcAft>
                          <a:spcPts val="0"/>
                        </a:spcAft>
                        <a:buNone/>
                      </a:pPr>
                      <a:r>
                        <a:rPr b="1" lang="en">
                          <a:latin typeface="Nunito"/>
                          <a:ea typeface="Nunito"/>
                          <a:cs typeface="Nunito"/>
                          <a:sym typeface="Nunito"/>
                        </a:rPr>
                        <a:t>Level</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n">
                          <a:latin typeface="Nunito"/>
                          <a:ea typeface="Nunito"/>
                          <a:cs typeface="Nunito"/>
                          <a:sym typeface="Nunito"/>
                        </a:rPr>
                        <a:t>On GCP</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n">
                          <a:latin typeface="Nunito"/>
                          <a:ea typeface="Nunito"/>
                          <a:cs typeface="Nunito"/>
                          <a:sym typeface="Nunito"/>
                        </a:rPr>
                        <a:t>On AWS</a:t>
                      </a:r>
                      <a:endParaRPr b="1">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en">
                          <a:latin typeface="Nunito"/>
                          <a:ea typeface="Nunito"/>
                          <a:cs typeface="Nunito"/>
                          <a:sym typeface="Nunito"/>
                        </a:rPr>
                        <a:t>Function</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Cloud Function</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Lambda</a:t>
                      </a:r>
                      <a:endParaRPr>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en">
                          <a:latin typeface="Nunito"/>
                          <a:ea typeface="Nunito"/>
                          <a:cs typeface="Nunito"/>
                          <a:sym typeface="Nunito"/>
                        </a:rPr>
                        <a:t>Application</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App Engine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Elastic Beanstalk (EB)</a:t>
                      </a:r>
                      <a:endParaRPr>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en">
                          <a:latin typeface="Nunito"/>
                          <a:ea typeface="Nunito"/>
                          <a:cs typeface="Nunito"/>
                          <a:sym typeface="Nunito"/>
                        </a:rPr>
                        <a:t>Docker Image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Cloud run / App Engine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Elastic Container Service (ECS)</a:t>
                      </a:r>
                      <a:endParaRPr>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en">
                          <a:latin typeface="Nunito"/>
                          <a:ea typeface="Nunito"/>
                          <a:cs typeface="Nunito"/>
                          <a:sym typeface="Nunito"/>
                        </a:rPr>
                        <a:t>Kubernetes Cluster</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Google Kubernetes Engine (GKE)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Elastic Kubernetes Service (EKS)</a:t>
                      </a:r>
                      <a:endParaRPr>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1"/>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Considerations to choose between services</a:t>
            </a:r>
            <a:endParaRPr/>
          </a:p>
        </p:txBody>
      </p:sp>
      <p:graphicFrame>
        <p:nvGraphicFramePr>
          <p:cNvPr id="335" name="Google Shape;335;p21"/>
          <p:cNvGraphicFramePr/>
          <p:nvPr/>
        </p:nvGraphicFramePr>
        <p:xfrm>
          <a:off x="956225" y="2035625"/>
          <a:ext cx="3000000" cy="3000000"/>
        </p:xfrm>
        <a:graphic>
          <a:graphicData uri="http://schemas.openxmlformats.org/drawingml/2006/table">
            <a:tbl>
              <a:tblPr>
                <a:noFill/>
                <a:tableStyleId>{8FBE8960-4016-43C9-A2BD-74E4279D1514}</a:tableStyleId>
              </a:tblPr>
              <a:tblGrid>
                <a:gridCol w="2418975"/>
                <a:gridCol w="4962825"/>
              </a:tblGrid>
              <a:tr h="396200">
                <a:tc>
                  <a:txBody>
                    <a:bodyPr/>
                    <a:lstStyle/>
                    <a:p>
                      <a:pPr indent="0" lvl="0" marL="0" rtl="0" algn="l">
                        <a:spcBef>
                          <a:spcPts val="0"/>
                        </a:spcBef>
                        <a:spcAft>
                          <a:spcPts val="0"/>
                        </a:spcAft>
                        <a:buNone/>
                      </a:pPr>
                      <a:r>
                        <a:rPr lang="en"/>
                        <a:t>Complexity of the service</a:t>
                      </a:r>
                      <a:endParaRPr/>
                    </a:p>
                  </a:txBody>
                  <a:tcPr marT="91425" marB="91425" marR="91425" marL="91425"/>
                </a:tc>
                <a:tc>
                  <a:txBody>
                    <a:bodyPr/>
                    <a:lstStyle/>
                    <a:p>
                      <a:pPr indent="0" lvl="0" marL="0" rtl="0" algn="l">
                        <a:spcBef>
                          <a:spcPts val="0"/>
                        </a:spcBef>
                        <a:spcAft>
                          <a:spcPts val="0"/>
                        </a:spcAft>
                        <a:buNone/>
                      </a:pPr>
                      <a:r>
                        <a:rPr lang="en"/>
                        <a:t>App Engine</a:t>
                      </a:r>
                      <a:endParaRPr/>
                    </a:p>
                  </a:txBody>
                  <a:tcPr marT="91425" marB="91425" marR="91425" marL="91425"/>
                </a:tc>
              </a:tr>
              <a:tr h="396200">
                <a:tc>
                  <a:txBody>
                    <a:bodyPr/>
                    <a:lstStyle/>
                    <a:p>
                      <a:pPr indent="0" lvl="0" marL="0" rtl="0" algn="l">
                        <a:spcBef>
                          <a:spcPts val="0"/>
                        </a:spcBef>
                        <a:spcAft>
                          <a:spcPts val="0"/>
                        </a:spcAft>
                        <a:buNone/>
                      </a:pPr>
                      <a:r>
                        <a:rPr lang="en"/>
                        <a:t>Integration with the Cloud Service</a:t>
                      </a:r>
                      <a:endParaRPr/>
                    </a:p>
                  </a:txBody>
                  <a:tcPr marT="91425" marB="91425" marR="91425" marL="91425"/>
                </a:tc>
                <a:tc>
                  <a:txBody>
                    <a:bodyPr/>
                    <a:lstStyle/>
                    <a:p>
                      <a:pPr indent="0" lvl="0" marL="0" rtl="0" algn="l">
                        <a:spcBef>
                          <a:spcPts val="0"/>
                        </a:spcBef>
                        <a:spcAft>
                          <a:spcPts val="0"/>
                        </a:spcAft>
                        <a:buNone/>
                      </a:pPr>
                      <a:r>
                        <a:rPr lang="en"/>
                        <a:t>A lot of GCP services provide ways to trigger Cloud Functions</a:t>
                      </a:r>
                      <a:endParaRPr/>
                    </a:p>
                  </a:txBody>
                  <a:tcPr marT="91425" marB="91425" marR="91425" marL="91425"/>
                </a:tc>
              </a:tr>
              <a:tr h="396200">
                <a:tc>
                  <a:txBody>
                    <a:bodyPr/>
                    <a:lstStyle/>
                    <a:p>
                      <a:pPr indent="0" lvl="0" marL="0" rtl="0" algn="l">
                        <a:spcBef>
                          <a:spcPts val="0"/>
                        </a:spcBef>
                        <a:spcAft>
                          <a:spcPts val="0"/>
                        </a:spcAft>
                        <a:buNone/>
                      </a:pPr>
                      <a:r>
                        <a:rPr lang="en"/>
                        <a:t>Language Choices</a:t>
                      </a:r>
                      <a:endParaRPr/>
                    </a:p>
                  </a:txBody>
                  <a:tcPr marT="91425" marB="91425" marR="91425" marL="91425"/>
                </a:tc>
                <a:tc>
                  <a:txBody>
                    <a:bodyPr/>
                    <a:lstStyle/>
                    <a:p>
                      <a:pPr indent="0" lvl="0" marL="0" rtl="0" algn="l">
                        <a:spcBef>
                          <a:spcPts val="0"/>
                        </a:spcBef>
                        <a:spcAft>
                          <a:spcPts val="0"/>
                        </a:spcAft>
                        <a:buNone/>
                      </a:pPr>
                      <a:r>
                        <a:rPr lang="en"/>
                        <a:t>Not all languages are supported on each service</a:t>
                      </a:r>
                      <a:endParaRPr/>
                    </a:p>
                  </a:txBody>
                  <a:tcPr marT="91425" marB="91425" marR="91425" marL="91425"/>
                </a:tc>
              </a:tr>
              <a:tr h="396200">
                <a:tc>
                  <a:txBody>
                    <a:bodyPr/>
                    <a:lstStyle/>
                    <a:p>
                      <a:pPr indent="0" lvl="0" marL="0" rtl="0" algn="l">
                        <a:spcBef>
                          <a:spcPts val="0"/>
                        </a:spcBef>
                        <a:spcAft>
                          <a:spcPts val="0"/>
                        </a:spcAft>
                        <a:buNone/>
                      </a:pPr>
                      <a:r>
                        <a:rPr lang="en"/>
                        <a:t>Control vs. Ease of use</a:t>
                      </a:r>
                      <a:endParaRPr/>
                    </a:p>
                  </a:txBody>
                  <a:tcPr marT="91425" marB="91425" marR="91425" marL="91425"/>
                </a:tc>
                <a:tc>
                  <a:txBody>
                    <a:bodyPr/>
                    <a:lstStyle/>
                    <a:p>
                      <a:pPr indent="0" lvl="0" marL="0" rtl="0" algn="l">
                        <a:spcBef>
                          <a:spcPts val="0"/>
                        </a:spcBef>
                        <a:spcAft>
                          <a:spcPts val="0"/>
                        </a:spcAft>
                        <a:buNone/>
                      </a:pPr>
                      <a:r>
                        <a:rPr lang="en"/>
                        <a:t>Cloud Function gives you less control</a:t>
                      </a:r>
                      <a:endParaRPr/>
                    </a:p>
                  </a:txBody>
                  <a:tcPr marT="91425" marB="91425" marR="91425" marL="91425"/>
                </a:tc>
              </a:tr>
              <a:tr h="396200">
                <a:tc>
                  <a:txBody>
                    <a:bodyPr/>
                    <a:lstStyle/>
                    <a:p>
                      <a:pPr indent="0" lvl="0" marL="0" rtl="0" algn="l">
                        <a:spcBef>
                          <a:spcPts val="0"/>
                        </a:spcBef>
                        <a:spcAft>
                          <a:spcPts val="0"/>
                        </a:spcAft>
                        <a:buNone/>
                      </a:pPr>
                      <a:r>
                        <a:rPr lang="en"/>
                        <a:t>Personal preference</a:t>
                      </a:r>
                      <a:endParaRPr/>
                    </a:p>
                  </a:txBody>
                  <a:tcPr marT="91425" marB="91425" marR="91425" marL="91425"/>
                </a:tc>
                <a:tc>
                  <a:txBody>
                    <a:bodyPr/>
                    <a:lstStyle/>
                    <a:p>
                      <a:pPr indent="0" lvl="0" marL="0" rtl="0" algn="l">
                        <a:spcBef>
                          <a:spcPts val="0"/>
                        </a:spcBef>
                        <a:spcAft>
                          <a:spcPts val="0"/>
                        </a:spcAft>
                        <a:buNone/>
                      </a:pPr>
                      <a:r>
                        <a:rPr lang="en"/>
                        <a:t>Whether you need the control/freedom. Familiarity with the services</a:t>
                      </a:r>
                      <a:endParaRPr/>
                    </a:p>
                  </a:txBody>
                  <a:tcPr marT="91425" marB="91425" marR="91425" marL="91425"/>
                </a:tc>
              </a:tr>
            </a:tbl>
          </a:graphicData>
        </a:graphic>
      </p:graphicFrame>
      <p:sp>
        <p:nvSpPr>
          <p:cNvPr id="336" name="Google Shape;336;p21"/>
          <p:cNvSpPr txBox="1"/>
          <p:nvPr/>
        </p:nvSpPr>
        <p:spPr>
          <a:xfrm>
            <a:off x="1023725" y="1450300"/>
            <a:ext cx="724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a:ea typeface="Nunito"/>
                <a:cs typeface="Nunito"/>
                <a:sym typeface="Nunito"/>
              </a:rPr>
              <a:t>There is not one service fits all case, Here are some possible considerations:</a:t>
            </a:r>
            <a:endParaRPr>
              <a:latin typeface="Nunito"/>
              <a:ea typeface="Nunito"/>
              <a:cs typeface="Nunito"/>
              <a:sym typeface="Nunito"/>
            </a:endParaRPr>
          </a:p>
        </p:txBody>
      </p:sp>
      <p:sp>
        <p:nvSpPr>
          <p:cNvPr id="337" name="Google Shape;337;p21"/>
          <p:cNvSpPr txBox="1"/>
          <p:nvPr/>
        </p:nvSpPr>
        <p:spPr>
          <a:xfrm>
            <a:off x="992725" y="4628525"/>
            <a:ext cx="709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Other opinion: </a:t>
            </a:r>
            <a:r>
              <a:rPr lang="en" sz="1000" u="sng">
                <a:solidFill>
                  <a:schemeClr val="hlink"/>
                </a:solidFill>
                <a:hlinkClick r:id="rId3"/>
              </a:rPr>
              <a:t>https://www.sphereinc.com/blogs/when-to-choose-app-engine-vs-cloud-functions-or-cloud-run-in-gcp</a:t>
            </a:r>
            <a:endParaRPr sz="1000"/>
          </a:p>
          <a:p>
            <a:pPr indent="0" lvl="0" marL="0" rtl="0" algn="l">
              <a:spcBef>
                <a:spcPts val="0"/>
              </a:spcBef>
              <a:spcAft>
                <a:spcPts val="0"/>
              </a:spcAft>
              <a:buNone/>
            </a:pPr>
            <a:r>
              <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