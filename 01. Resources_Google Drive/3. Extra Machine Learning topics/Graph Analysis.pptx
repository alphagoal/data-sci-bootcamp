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Maven Pro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210DF7-6B15-4BD4-8872-EA9B0757C85E}">
  <a:tblStyle styleId="{E3210DF7-6B15-4BD4-8872-EA9B0757C8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unito-bold.fntdata"/><Relationship Id="rId10" Type="http://schemas.openxmlformats.org/officeDocument/2006/relationships/slide" Target="slides/slide4.xml"/><Relationship Id="rId32" Type="http://schemas.openxmlformats.org/officeDocument/2006/relationships/font" Target="fonts/Nunito-regular.fntdata"/><Relationship Id="rId13" Type="http://schemas.openxmlformats.org/officeDocument/2006/relationships/slide" Target="slides/slide7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6.xml"/><Relationship Id="rId34" Type="http://schemas.openxmlformats.org/officeDocument/2006/relationships/font" Target="fonts/Nunito-italic.fntdata"/><Relationship Id="rId15" Type="http://schemas.openxmlformats.org/officeDocument/2006/relationships/slide" Target="slides/slide9.xml"/><Relationship Id="rId37" Type="http://schemas.openxmlformats.org/officeDocument/2006/relationships/font" Target="fonts/MavenPro-bold.fntdata"/><Relationship Id="rId14" Type="http://schemas.openxmlformats.org/officeDocument/2006/relationships/slide" Target="slides/slide8.xml"/><Relationship Id="rId36" Type="http://schemas.openxmlformats.org/officeDocument/2006/relationships/font" Target="fonts/MavenPr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b96fa020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b96fa020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b96fa020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b96fa020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0b96fa020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0b96fa020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b96fa020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0b96fa020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b96fa020a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0b96fa020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0b96fa020a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0b96fa020a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0b96fa020a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0b96fa020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0b96fa020a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0b96fa020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b96fa020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b96fa020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8e9de16f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8e9de16f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0b96fa020a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0b96fa020a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b96fa020a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b96fa020a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0b96fa020a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0b96fa020a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0b96fa020a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0b96fa020a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b96fa020a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b96fa020a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b96fa020a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0b96fa020a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0b96fa020a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0b96fa020a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0b96fa020a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0b96fa020a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0b96fa020a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0b96fa020a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a7626473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a7626473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0a6555d6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0a6555d6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0b96fa020a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0b96fa020a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0b96fa020a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0b96fa020a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0a762647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0a762647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Formed by Nodes and Edges.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can represent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Relationships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Flows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3367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The Seven Bridges of Königsberg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The problem: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Devise a walk through the city that would cross each of those bridges once and only once.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900" y="348750"/>
            <a:ext cx="5414925" cy="26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 represents entities.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Department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Employees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Location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Nodes can carry attributes, e.g. user id, gender, height, DOB, etc</a:t>
            </a:r>
            <a:r>
              <a:rPr lang="en"/>
              <a:t>..</a:t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00" y="-12"/>
            <a:ext cx="42672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Edges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Edges can carry attributes.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E.g. number of common interest between two students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Edges can have direction.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E.g. One student like another student</a:t>
            </a:r>
            <a:endParaRPr/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00" y="-12"/>
            <a:ext cx="42672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375" y="759981"/>
            <a:ext cx="4343199" cy="3190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250" y="1494875"/>
            <a:ext cx="4436124" cy="238803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8"/>
          <p:cNvSpPr txBox="1"/>
          <p:nvPr/>
        </p:nvSpPr>
        <p:spPr>
          <a:xfrm>
            <a:off x="986425" y="3692050"/>
            <a:ext cx="40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Brainstorm: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Where does the color/size come from?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visualization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28025" y="1961700"/>
            <a:ext cx="2719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is hard.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Small dataset: Easy layout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Medium dataset: Need algorithms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Large dataset: Do not try to layout</a:t>
            </a:r>
            <a:endParaRPr b="1"/>
          </a:p>
        </p:txBody>
      </p:sp>
      <p:pic>
        <p:nvPicPr>
          <p:cNvPr id="320" name="Google Shape;3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400" y="1152129"/>
            <a:ext cx="6145600" cy="399137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9"/>
          <p:cNvSpPr txBox="1"/>
          <p:nvPr/>
        </p:nvSpPr>
        <p:spPr>
          <a:xfrm>
            <a:off x="0" y="4804800"/>
            <a:ext cx="4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https://twosixtech.com/6-ways-visualize-graphs/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types of graphs</a:t>
            </a:r>
            <a:endParaRPr/>
          </a:p>
        </p:txBody>
      </p:sp>
      <p:pic>
        <p:nvPicPr>
          <p:cNvPr id="327" name="Google Shape;3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00" y="2285775"/>
            <a:ext cx="27432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3438" y="1975775"/>
            <a:ext cx="2286875" cy="22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/>
        </p:nvSpPr>
        <p:spPr>
          <a:xfrm>
            <a:off x="1107400" y="4268525"/>
            <a:ext cx="73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Tree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6365325" y="4268525"/>
            <a:ext cx="260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Directed acyclic graph (DAG)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1" name="Google Shape;33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5400" y="1933475"/>
            <a:ext cx="2146363" cy="214636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0"/>
          <p:cNvSpPr txBox="1"/>
          <p:nvPr/>
        </p:nvSpPr>
        <p:spPr>
          <a:xfrm>
            <a:off x="3097038" y="4268525"/>
            <a:ext cx="260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Bipartite graph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measurements</a:t>
            </a:r>
            <a:endParaRPr/>
          </a:p>
        </p:txBody>
      </p:sp>
      <p:sp>
        <p:nvSpPr>
          <p:cNvPr id="338" name="Google Shape;338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Distance (node – node)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Number of connected components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Directed/Non-directed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Cyclic/Acyclic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Density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properties</a:t>
            </a:r>
            <a:endParaRPr/>
          </a:p>
        </p:txBody>
      </p:sp>
      <p:sp>
        <p:nvSpPr>
          <p:cNvPr id="344" name="Google Shape;344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Order (In-order / Out-order in case of directed graph)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Centrality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Eccentricity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Closeness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Betweenness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Eigenvector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PageRank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</a:t>
            </a:r>
            <a:r>
              <a:rPr lang="en"/>
              <a:t> properties</a:t>
            </a:r>
            <a:endParaRPr/>
          </a:p>
        </p:txBody>
      </p:sp>
      <p:sp>
        <p:nvSpPr>
          <p:cNvPr id="350" name="Google Shape;350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Centrality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Betweenness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</a:t>
            </a:r>
            <a:endParaRPr/>
          </a:p>
        </p:txBody>
      </p:sp>
      <p:sp>
        <p:nvSpPr>
          <p:cNvPr id="356" name="Google Shape;356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How to traverse all nodes in a graph?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How to calculate the diameter of a graph?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How to calculate shortest path between two nodes?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</a:t>
            </a:r>
            <a:r>
              <a:rPr lang="en"/>
              <a:t> representation</a:t>
            </a:r>
            <a:endParaRPr/>
          </a:p>
        </p:txBody>
      </p:sp>
      <p:sp>
        <p:nvSpPr>
          <p:cNvPr id="362" name="Google Shape;362;p25"/>
          <p:cNvSpPr txBox="1"/>
          <p:nvPr>
            <p:ph idx="1" type="body"/>
          </p:nvPr>
        </p:nvSpPr>
        <p:spPr>
          <a:xfrm>
            <a:off x="1100200" y="4618150"/>
            <a:ext cx="10074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Edge list</a:t>
            </a:r>
            <a:endParaRPr/>
          </a:p>
        </p:txBody>
      </p:sp>
      <p:sp>
        <p:nvSpPr>
          <p:cNvPr id="363" name="Google Shape;363;p25"/>
          <p:cNvSpPr txBox="1"/>
          <p:nvPr>
            <p:ph idx="1" type="body"/>
          </p:nvPr>
        </p:nvSpPr>
        <p:spPr>
          <a:xfrm>
            <a:off x="6609025" y="4618150"/>
            <a:ext cx="20760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Adjacency</a:t>
            </a:r>
            <a:r>
              <a:rPr lang="en"/>
              <a:t> matrix</a:t>
            </a:r>
            <a:endParaRPr/>
          </a:p>
        </p:txBody>
      </p:sp>
      <p:pic>
        <p:nvPicPr>
          <p:cNvPr id="364" name="Google Shape;364;p25"/>
          <p:cNvPicPr preferRelativeResize="0"/>
          <p:nvPr/>
        </p:nvPicPr>
        <p:blipFill rotWithShape="1">
          <a:blip r:embed="rId3">
            <a:alphaModFix/>
          </a:blip>
          <a:srcRect b="0" l="0" r="46785" t="0"/>
          <a:stretch/>
        </p:blipFill>
        <p:spPr>
          <a:xfrm>
            <a:off x="6405350" y="66325"/>
            <a:ext cx="2075999" cy="18115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5" name="Google Shape;365;p25"/>
          <p:cNvGraphicFramePr/>
          <p:nvPr/>
        </p:nvGraphicFramePr>
        <p:xfrm>
          <a:off x="417000" y="166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{E3210DF7-6B15-4BD4-8872-EA9B0757C85E}</a:tableStyleId>
              </a:tblPr>
              <a:tblGrid>
                <a:gridCol w="1186900"/>
                <a:gridCol w="1186900"/>
              </a:tblGrid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6" name="Google Shape;366;p25"/>
          <p:cNvGraphicFramePr/>
          <p:nvPr/>
        </p:nvGraphicFramePr>
        <p:xfrm>
          <a:off x="5877575" y="19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{E3210DF7-6B15-4BD4-8872-EA9B0757C85E}</a:tableStyleId>
              </a:tblPr>
              <a:tblGrid>
                <a:gridCol w="473725"/>
                <a:gridCol w="473725"/>
                <a:gridCol w="473725"/>
                <a:gridCol w="473725"/>
                <a:gridCol w="473725"/>
                <a:gridCol w="47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F\T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7" name="Google Shape;367;p25"/>
          <p:cNvGraphicFramePr/>
          <p:nvPr/>
        </p:nvGraphicFramePr>
        <p:xfrm>
          <a:off x="3147275" y="204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{E3210DF7-6B15-4BD4-8872-EA9B0757C85E}</a:tableStyleId>
              </a:tblPr>
              <a:tblGrid>
                <a:gridCol w="1186900"/>
                <a:gridCol w="1186900"/>
              </a:tblGrid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B,C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C,E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3744063" y="4618150"/>
            <a:ext cx="12285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Node</a:t>
            </a:r>
            <a:r>
              <a:rPr lang="en"/>
              <a:t> list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detection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detection</a:t>
            </a:r>
            <a:endParaRPr/>
          </a:p>
        </p:txBody>
      </p:sp>
      <p:sp>
        <p:nvSpPr>
          <p:cNvPr id="379" name="Google Shape;379;p27"/>
          <p:cNvSpPr txBox="1"/>
          <p:nvPr>
            <p:ph idx="1" type="body"/>
          </p:nvPr>
        </p:nvSpPr>
        <p:spPr>
          <a:xfrm>
            <a:off x="1303800" y="1990050"/>
            <a:ext cx="3515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Minimum-cut 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Hierarchical clustering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Girvan–Newman algorithm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Modularity maximization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Statistical inference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Clique-based methods</a:t>
            </a:r>
            <a:endParaRPr/>
          </a:p>
        </p:txBody>
      </p:sp>
      <p:pic>
        <p:nvPicPr>
          <p:cNvPr id="380" name="Google Shape;3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8250" y="1236000"/>
            <a:ext cx="314325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in Python - NetworkX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3" y="881287"/>
            <a:ext cx="8410576" cy="338092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9"/>
          <p:cNvSpPr txBox="1"/>
          <p:nvPr/>
        </p:nvSpPr>
        <p:spPr>
          <a:xfrm>
            <a:off x="511050" y="4262225"/>
            <a:ext cx="452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https://pypi.org/project/networkx/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database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188" y="499300"/>
            <a:ext cx="7961626" cy="393195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1"/>
          <p:cNvSpPr txBox="1"/>
          <p:nvPr/>
        </p:nvSpPr>
        <p:spPr>
          <a:xfrm>
            <a:off x="152400" y="4596350"/>
            <a:ext cx="452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https://db-engines.com/en/ranking/graph+dbms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usage: Spectral Embedding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</a:t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1303800" y="1597875"/>
            <a:ext cx="322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4" name="Google Shape;414;p33"/>
          <p:cNvSpPr txBox="1"/>
          <p:nvPr/>
        </p:nvSpPr>
        <p:spPr>
          <a:xfrm>
            <a:off x="1303800" y="1597875"/>
            <a:ext cx="6606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In machine learning, we often needs to embed something.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E.g.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Word embedding = Vectors for a word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One hot encoding = Vectors for categorical values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 good embedding should carry information. 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I.e. Similar vector representations for “dog” and “puppy”.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Spectral Embedding</a:t>
            </a:r>
            <a:endParaRPr/>
          </a:p>
        </p:txBody>
      </p:sp>
      <p:sp>
        <p:nvSpPr>
          <p:cNvPr id="420" name="Google Shape;420;p34"/>
          <p:cNvSpPr txBox="1"/>
          <p:nvPr>
            <p:ph idx="1" type="body"/>
          </p:nvPr>
        </p:nvSpPr>
        <p:spPr>
          <a:xfrm>
            <a:off x="389400" y="2144675"/>
            <a:ext cx="2163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Embedding for non-linearly separable clusters.</a:t>
            </a:r>
            <a:endParaRPr/>
          </a:p>
        </p:txBody>
      </p:sp>
      <p:pic>
        <p:nvPicPr>
          <p:cNvPr id="421" name="Google Shape;4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750" y="1237125"/>
            <a:ext cx="6710399" cy="36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Spectral Embedding - steps</a:t>
            </a:r>
            <a:endParaRPr/>
          </a:p>
        </p:txBody>
      </p:sp>
      <p:pic>
        <p:nvPicPr>
          <p:cNvPr id="427" name="Google Shape;4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0025" y="1597875"/>
            <a:ext cx="5593975" cy="30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5"/>
          <p:cNvSpPr txBox="1"/>
          <p:nvPr/>
        </p:nvSpPr>
        <p:spPr>
          <a:xfrm>
            <a:off x="415700" y="1733300"/>
            <a:ext cx="3184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For data-points in any dimension: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Connect every points with their K-nearest neighbors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Create an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adjacency matrix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from the records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Turn the adjacency matrix into a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Laplacian matrix</a:t>
            </a:r>
            <a:endParaRPr u="sng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The new embedding is created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from the </a:t>
            </a:r>
            <a:r>
              <a:rPr lang="en" u="sng">
                <a:latin typeface="Nunito"/>
                <a:ea typeface="Nunito"/>
                <a:cs typeface="Nunito"/>
                <a:sym typeface="Nunito"/>
              </a:rPr>
              <a:t>eigenvectors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of the Laplacian matrix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Laplacian matrix</a:t>
            </a:r>
            <a:endParaRPr/>
          </a:p>
        </p:txBody>
      </p:sp>
      <p:pic>
        <p:nvPicPr>
          <p:cNvPr id="434" name="Google Shape;4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25" y="1581587"/>
            <a:ext cx="8834751" cy="198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6"/>
          <p:cNvSpPr txBox="1"/>
          <p:nvPr/>
        </p:nvSpPr>
        <p:spPr>
          <a:xfrm>
            <a:off x="209525" y="3561900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https://en.wikipedia.org/wiki/Laplacian_matrix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Interpretation of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Laplacian matrix</a:t>
            </a:r>
            <a:endParaRPr/>
          </a:p>
        </p:txBody>
      </p:sp>
      <p:sp>
        <p:nvSpPr>
          <p:cNvPr id="441" name="Google Shape;441;p37"/>
          <p:cNvSpPr txBox="1"/>
          <p:nvPr>
            <p:ph idx="1" type="body"/>
          </p:nvPr>
        </p:nvSpPr>
        <p:spPr>
          <a:xfrm>
            <a:off x="1303800" y="1990050"/>
            <a:ext cx="4132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Laplacian matrix is used to calculate the “flow”.  Imagine each node is a pillar with certain height.</a:t>
            </a:r>
            <a:endParaRPr/>
          </a:p>
        </p:txBody>
      </p:sp>
      <p:pic>
        <p:nvPicPr>
          <p:cNvPr id="442" name="Google Shape;4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200" y="375725"/>
            <a:ext cx="1801400" cy="1903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3" name="Google Shape;443;p37"/>
          <p:cNvGraphicFramePr/>
          <p:nvPr/>
        </p:nvGraphicFramePr>
        <p:xfrm>
          <a:off x="1303800" y="283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{E3210DF7-6B15-4BD4-8872-EA9B0757C85E}</a:tableStyleId>
              </a:tblPr>
              <a:tblGrid>
                <a:gridCol w="544950"/>
                <a:gridCol w="544950"/>
                <a:gridCol w="544950"/>
                <a:gridCol w="5449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44" name="Google Shape;444;p37"/>
          <p:cNvGraphicFramePr/>
          <p:nvPr/>
        </p:nvGraphicFramePr>
        <p:xfrm>
          <a:off x="4110475" y="283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{E3210DF7-6B15-4BD4-8872-EA9B0757C85E}</a:tableStyleId>
              </a:tblPr>
              <a:tblGrid>
                <a:gridCol w="5449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5" name="Google Shape;445;p37"/>
          <p:cNvSpPr txBox="1"/>
          <p:nvPr/>
        </p:nvSpPr>
        <p:spPr>
          <a:xfrm>
            <a:off x="3689125" y="3431475"/>
            <a:ext cx="3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X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4808150" y="3431475"/>
            <a:ext cx="3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47" name="Google Shape;447;p37"/>
          <p:cNvGraphicFramePr/>
          <p:nvPr/>
        </p:nvGraphicFramePr>
        <p:xfrm>
          <a:off x="5327050" y="283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{E3210DF7-6B15-4BD4-8872-EA9B0757C85E}</a:tableStyleId>
              </a:tblPr>
              <a:tblGrid>
                <a:gridCol w="5449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8" name="Google Shape;448;p37"/>
          <p:cNvSpPr txBox="1"/>
          <p:nvPr/>
        </p:nvSpPr>
        <p:spPr>
          <a:xfrm>
            <a:off x="1555650" y="4496125"/>
            <a:ext cx="16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Laplacian Matrix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9" name="Google Shape;449;p37"/>
          <p:cNvSpPr txBox="1"/>
          <p:nvPr/>
        </p:nvSpPr>
        <p:spPr>
          <a:xfrm>
            <a:off x="3544900" y="4496125"/>
            <a:ext cx="16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Block height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0" name="Google Shape;450;p37"/>
          <p:cNvSpPr txBox="1"/>
          <p:nvPr/>
        </p:nvSpPr>
        <p:spPr>
          <a:xfrm>
            <a:off x="4761475" y="4496125"/>
            <a:ext cx="16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Flow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1" name="Google Shape;451;p37"/>
          <p:cNvSpPr txBox="1"/>
          <p:nvPr/>
        </p:nvSpPr>
        <p:spPr>
          <a:xfrm>
            <a:off x="6234275" y="2837800"/>
            <a:ext cx="260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Such matrix has very nice properties.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Yet, it’s far beyond our scope to understand all the reasonings behind.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