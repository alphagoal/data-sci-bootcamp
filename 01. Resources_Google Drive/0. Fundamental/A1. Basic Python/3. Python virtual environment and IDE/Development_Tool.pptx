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Amatic SC"/>
      <p:regular r:id="rId31"/>
      <p:bold r:id="rId32"/>
    </p:embeddedFont>
    <p:embeddedFont>
      <p:font typeface="Nunito"/>
      <p:regular r:id="rId33"/>
      <p:bold r:id="rId34"/>
      <p:italic r:id="rId35"/>
      <p:boldItalic r:id="rId36"/>
    </p:embeddedFont>
    <p:embeddedFont>
      <p:font typeface="Source Code Pro"/>
      <p:regular r:id="rId37"/>
      <p:bold r:id="rId38"/>
      <p:italic r:id="rId39"/>
      <p:boldItalic r:id="rId40"/>
    </p:embeddedFont>
    <p:embeddedFont>
      <p:font typeface="Maven Pro"/>
      <p:regular r:id="rId41"/>
      <p:bold r:id="rId42"/>
    </p:embeddedFont>
    <p:embeddedFont>
      <p:font typeface="Lora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h5hZU+/o9uUTVBtTsFf6Ryh1p6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F84E32-5901-42AF-86B4-AD814E8DE3E9}">
  <a:tblStyle styleId="{CCF84E32-5901-42AF-86B4-AD814E8DE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CodePro-boldItalic.fntdata"/><Relationship Id="rId20" Type="http://schemas.openxmlformats.org/officeDocument/2006/relationships/slide" Target="slides/slide14.xml"/><Relationship Id="rId42" Type="http://schemas.openxmlformats.org/officeDocument/2006/relationships/font" Target="fonts/MavenPro-bold.fntdata"/><Relationship Id="rId41" Type="http://schemas.openxmlformats.org/officeDocument/2006/relationships/font" Target="fonts/MavenPro-regular.fntdata"/><Relationship Id="rId22" Type="http://schemas.openxmlformats.org/officeDocument/2006/relationships/slide" Target="slides/slide16.xml"/><Relationship Id="rId44" Type="http://schemas.openxmlformats.org/officeDocument/2006/relationships/font" Target="fonts/Lora-bold.fntdata"/><Relationship Id="rId21" Type="http://schemas.openxmlformats.org/officeDocument/2006/relationships/slide" Target="slides/slide15.xml"/><Relationship Id="rId43" Type="http://schemas.openxmlformats.org/officeDocument/2006/relationships/font" Target="fonts/Lora-regular.fntdata"/><Relationship Id="rId24" Type="http://schemas.openxmlformats.org/officeDocument/2006/relationships/slide" Target="slides/slide18.xml"/><Relationship Id="rId46" Type="http://schemas.openxmlformats.org/officeDocument/2006/relationships/font" Target="fonts/Lora-boldItalic.fntdata"/><Relationship Id="rId23" Type="http://schemas.openxmlformats.org/officeDocument/2006/relationships/slide" Target="slides/slide17.xml"/><Relationship Id="rId45" Type="http://schemas.openxmlformats.org/officeDocument/2006/relationships/font" Target="fonts/Lor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maticSC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Nunito-regular.fntdata"/><Relationship Id="rId10" Type="http://schemas.openxmlformats.org/officeDocument/2006/relationships/slide" Target="slides/slide4.xml"/><Relationship Id="rId32" Type="http://schemas.openxmlformats.org/officeDocument/2006/relationships/font" Target="fonts/AmaticSC-bold.fntdata"/><Relationship Id="rId13" Type="http://schemas.openxmlformats.org/officeDocument/2006/relationships/slide" Target="slides/slide7.xml"/><Relationship Id="rId35" Type="http://schemas.openxmlformats.org/officeDocument/2006/relationships/font" Target="fonts/Nunito-italic.fntdata"/><Relationship Id="rId12" Type="http://schemas.openxmlformats.org/officeDocument/2006/relationships/slide" Target="slides/slide6.xml"/><Relationship Id="rId34" Type="http://schemas.openxmlformats.org/officeDocument/2006/relationships/font" Target="fonts/Nunito-bold.fntdata"/><Relationship Id="rId15" Type="http://schemas.openxmlformats.org/officeDocument/2006/relationships/slide" Target="slides/slide9.xml"/><Relationship Id="rId37" Type="http://schemas.openxmlformats.org/officeDocument/2006/relationships/font" Target="fonts/SourceCodePro-regular.fntdata"/><Relationship Id="rId14" Type="http://schemas.openxmlformats.org/officeDocument/2006/relationships/slide" Target="slides/slide8.xml"/><Relationship Id="rId36" Type="http://schemas.openxmlformats.org/officeDocument/2006/relationships/font" Target="fonts/Nunito-boldItalic.fntdata"/><Relationship Id="rId17" Type="http://schemas.openxmlformats.org/officeDocument/2006/relationships/slide" Target="slides/slide11.xml"/><Relationship Id="rId39" Type="http://schemas.openxmlformats.org/officeDocument/2006/relationships/font" Target="fonts/SourceCodePro-italic.fntdata"/><Relationship Id="rId16" Type="http://schemas.openxmlformats.org/officeDocument/2006/relationships/slide" Target="slides/slide10.xml"/><Relationship Id="rId38" Type="http://schemas.openxmlformats.org/officeDocument/2006/relationships/font" Target="fonts/SourceCodePr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0c3d0393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280c3d0393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c24afdf8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25c24afdf8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ece9d3ae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aece9d3ae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ece9d3ae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aece9d3ae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ece9d3ae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ece9d3ae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ece9d3aea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2aece9d3aea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ece9d3aea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aece9d3aea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aece9d3aea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aece9d3aea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e9d3aea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e9d3aea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ece9d3aea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aece9d3aea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ece9d3aea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aece9d3aea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Yes.  Since file extension does not modify the file itself, it makes no difference for the python interpreter to read between a .py file and a .txt file.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ece9d3aea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aece9d3aea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ece9d3aea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ece9d3aea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aece9d3aea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aece9d3aea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ece9d3aea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aece9d3aea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aece9d3aea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2aece9d3aea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aece9d3aea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aece9d3aea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ece9d3aea_0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aece9d3aea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aece9d3aea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aece9d3aea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No, PyCharm does not execute python scripts, but the python interpreter executes.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No, jupyter is backed by a python interpreter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0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50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6" name="Google Shape;16;p51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" name="Google Shape;17;p51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" name="Google Shape;1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5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5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7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5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57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57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5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9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59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i="0" sz="4200" u="none" cap="none" strike="noStrik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4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python.org/downloads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1446600" y="1032275"/>
            <a:ext cx="6250800" cy="18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D0D0D"/>
                </a:solidFill>
                <a:latin typeface="Maven Pro"/>
                <a:ea typeface="Maven Pro"/>
                <a:cs typeface="Maven Pro"/>
                <a:sym typeface="Maven Pro"/>
              </a:rPr>
              <a:t>Development Tool</a:t>
            </a:r>
            <a:endParaRPr b="0" sz="2800">
              <a:solidFill>
                <a:srgbClr val="0D0D0D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7" name="Google Shape;57;p1"/>
          <p:cNvSpPr txBox="1"/>
          <p:nvPr>
            <p:ph idx="4294967295" type="body"/>
          </p:nvPr>
        </p:nvSpPr>
        <p:spPr>
          <a:xfrm>
            <a:off x="0" y="0"/>
            <a:ext cx="1283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Version: 13012024</a:t>
            </a:r>
            <a:endParaRPr sz="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0c3d03935_0_57"/>
          <p:cNvSpPr txBox="1"/>
          <p:nvPr>
            <p:ph type="ctrTitle"/>
          </p:nvPr>
        </p:nvSpPr>
        <p:spPr>
          <a:xfrm>
            <a:off x="1446600" y="1350450"/>
            <a:ext cx="62508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3000">
                <a:solidFill>
                  <a:srgbClr val="073763"/>
                </a:solidFill>
                <a:latin typeface="Lora"/>
                <a:ea typeface="Lora"/>
                <a:cs typeface="Lora"/>
                <a:sym typeface="Lora"/>
              </a:rPr>
              <a:t>Python</a:t>
            </a:r>
            <a:endParaRPr sz="3000">
              <a:solidFill>
                <a:srgbClr val="073763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64" name="Google Shape;64;g280c3d03935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5c24afdf80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5c24afdf80_0_72"/>
          <p:cNvSpPr txBox="1"/>
          <p:nvPr/>
        </p:nvSpPr>
        <p:spPr>
          <a:xfrm>
            <a:off x="304825" y="25962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Not every program has a graphical user interface</a:t>
            </a:r>
            <a:endParaRPr b="1" sz="2800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1" name="Google Shape;71;g25c24afdf80_0_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625" y="1705050"/>
            <a:ext cx="1126850" cy="112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25c24afdf80_0_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0475" y="3242350"/>
            <a:ext cx="1249150" cy="124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25c24afdf80_0_72"/>
          <p:cNvSpPr txBox="1"/>
          <p:nvPr/>
        </p:nvSpPr>
        <p:spPr>
          <a:xfrm>
            <a:off x="2770450" y="1960675"/>
            <a:ext cx="512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-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Allow user to use mouse and keyboard to input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-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Needs a GUI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g25c24afdf80_0_72"/>
          <p:cNvSpPr txBox="1"/>
          <p:nvPr/>
        </p:nvSpPr>
        <p:spPr>
          <a:xfrm>
            <a:off x="2770450" y="3521500"/>
            <a:ext cx="512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-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Run logic as instructed in the python script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-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No need a GUI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aece9d3aea_0_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A lot of programs run without GUI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80" name="Google Shape;80;g2aece9d3aea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613" y="1372600"/>
            <a:ext cx="6894766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g2aece9d3aea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ece9d3aea_0_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Python has no GUI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87" name="Google Shape;87;g2aece9d3aea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5" y="1113050"/>
            <a:ext cx="5471523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aece9d3aea_0_28"/>
          <p:cNvSpPr txBox="1"/>
          <p:nvPr/>
        </p:nvSpPr>
        <p:spPr>
          <a:xfrm>
            <a:off x="5513450" y="1420700"/>
            <a:ext cx="3106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Programs without a GUI run in a terminal.  Some can even run in the background without terminal.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In Mac - Terminal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In Windows - CMD or Powershell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9" name="Google Shape;89;g2aece9d3aea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aece9d3aea_0_34"/>
          <p:cNvSpPr txBox="1"/>
          <p:nvPr>
            <p:ph type="title"/>
          </p:nvPr>
        </p:nvSpPr>
        <p:spPr>
          <a:xfrm>
            <a:off x="311700" y="121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How to run python in terminal?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95" name="Google Shape;95;g2aece9d3aea_0_34"/>
          <p:cNvSpPr txBox="1"/>
          <p:nvPr>
            <p:ph idx="1" type="body"/>
          </p:nvPr>
        </p:nvSpPr>
        <p:spPr>
          <a:xfrm>
            <a:off x="417800" y="84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rabicPeriod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Start the python interpreter, then enter python code line by line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lphaLcPeriod"/>
            </a:pPr>
            <a:r>
              <a:rPr lang="en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Type "python" or "python3"</a:t>
            </a:r>
            <a:endParaRPr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rabicPeriod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Start the python interpreter with a path to python code, then the interpreter will execute the code in the file line by line.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lphaLcPeriod"/>
            </a:pPr>
            <a:r>
              <a:rPr lang="en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Type "python \path\to\file" or "python3 \path\to\file"</a:t>
            </a:r>
            <a:endParaRPr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6" name="Google Shape;96;g2aece9d3aea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175" y="2831625"/>
            <a:ext cx="2699599" cy="135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2aece9d3aea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2175" y="4296928"/>
            <a:ext cx="4355698" cy="70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2aece9d3aea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ece9d3aea_0_312"/>
          <p:cNvSpPr txBox="1"/>
          <p:nvPr>
            <p:ph type="ctrTitle"/>
          </p:nvPr>
        </p:nvSpPr>
        <p:spPr>
          <a:xfrm>
            <a:off x="1446600" y="1350450"/>
            <a:ext cx="62508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73763"/>
                </a:solidFill>
                <a:latin typeface="Lora"/>
                <a:ea typeface="Lora"/>
                <a:cs typeface="Lora"/>
                <a:sym typeface="Lora"/>
              </a:rPr>
              <a:t>Compile vs Interpret</a:t>
            </a:r>
            <a:endParaRPr sz="3000">
              <a:solidFill>
                <a:srgbClr val="073763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04" name="Google Shape;104;g2aece9d3aea_0_3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ece9d3aea_0_3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Compiled Program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0" name="Google Shape;110;g2aece9d3aea_0_318"/>
          <p:cNvSpPr txBox="1"/>
          <p:nvPr>
            <p:ph idx="1" type="body"/>
          </p:nvPr>
        </p:nvSpPr>
        <p:spPr>
          <a:xfrm>
            <a:off x="411875" y="1152275"/>
            <a:ext cx="7030500" cy="8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C++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GoLang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1" name="Google Shape;111;g2aece9d3aea_0_318"/>
          <p:cNvSpPr/>
          <p:nvPr/>
        </p:nvSpPr>
        <p:spPr>
          <a:xfrm>
            <a:off x="1303800" y="2778825"/>
            <a:ext cx="1310400" cy="111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112" name="Google Shape;112;g2aece9d3aea_0_318"/>
          <p:cNvSpPr/>
          <p:nvPr/>
        </p:nvSpPr>
        <p:spPr>
          <a:xfrm>
            <a:off x="5525675" y="2778825"/>
            <a:ext cx="1310400" cy="1113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Executable</a:t>
            </a:r>
            <a:endParaRPr/>
          </a:p>
        </p:txBody>
      </p:sp>
      <p:cxnSp>
        <p:nvCxnSpPr>
          <p:cNvPr id="113" name="Google Shape;113;g2aece9d3aea_0_318"/>
          <p:cNvCxnSpPr/>
          <p:nvPr/>
        </p:nvCxnSpPr>
        <p:spPr>
          <a:xfrm>
            <a:off x="2818075" y="3356075"/>
            <a:ext cx="239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g2aece9d3aea_0_318"/>
          <p:cNvSpPr txBox="1"/>
          <p:nvPr/>
        </p:nvSpPr>
        <p:spPr>
          <a:xfrm>
            <a:off x="3404563" y="2919900"/>
            <a:ext cx="12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Compile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g2aece9d3aea_0_318"/>
          <p:cNvSpPr txBox="1"/>
          <p:nvPr/>
        </p:nvSpPr>
        <p:spPr>
          <a:xfrm>
            <a:off x="4885173" y="3951900"/>
            <a:ext cx="259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Machine (CPU, OS) dependent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6" name="Google Shape;116;g2aece9d3aea_0_318"/>
          <p:cNvSpPr txBox="1"/>
          <p:nvPr/>
        </p:nvSpPr>
        <p:spPr>
          <a:xfrm>
            <a:off x="2719523" y="3320100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Whenever code is changed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7" name="Google Shape;117;g2aece9d3aea_0_3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aece9d3aea_0_3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Interpreted Program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23" name="Google Shape;123;g2aece9d3aea_0_32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Python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Javascript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" name="Google Shape;124;g2aece9d3aea_0_329"/>
          <p:cNvSpPr/>
          <p:nvPr/>
        </p:nvSpPr>
        <p:spPr>
          <a:xfrm>
            <a:off x="1303800" y="3236025"/>
            <a:ext cx="1310400" cy="11136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(Premade)</a:t>
            </a:r>
            <a:endParaRPr/>
          </a:p>
        </p:txBody>
      </p:sp>
      <p:cxnSp>
        <p:nvCxnSpPr>
          <p:cNvPr id="125" name="Google Shape;125;g2aece9d3aea_0_329"/>
          <p:cNvCxnSpPr/>
          <p:nvPr/>
        </p:nvCxnSpPr>
        <p:spPr>
          <a:xfrm>
            <a:off x="2818075" y="3813275"/>
            <a:ext cx="239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g2aece9d3aea_0_329"/>
          <p:cNvSpPr txBox="1"/>
          <p:nvPr/>
        </p:nvSpPr>
        <p:spPr>
          <a:xfrm>
            <a:off x="3404563" y="3377100"/>
            <a:ext cx="12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Compile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7" name="Google Shape;127;g2aece9d3aea_0_329"/>
          <p:cNvSpPr/>
          <p:nvPr/>
        </p:nvSpPr>
        <p:spPr>
          <a:xfrm>
            <a:off x="5525675" y="1225900"/>
            <a:ext cx="1310400" cy="111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cxnSp>
        <p:nvCxnSpPr>
          <p:cNvPr id="128" name="Google Shape;128;g2aece9d3aea_0_329"/>
          <p:cNvCxnSpPr>
            <a:endCxn id="129" idx="0"/>
          </p:cNvCxnSpPr>
          <p:nvPr/>
        </p:nvCxnSpPr>
        <p:spPr>
          <a:xfrm>
            <a:off x="6180875" y="2339625"/>
            <a:ext cx="0" cy="89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g2aece9d3aea_0_329"/>
          <p:cNvSpPr txBox="1"/>
          <p:nvPr/>
        </p:nvSpPr>
        <p:spPr>
          <a:xfrm>
            <a:off x="6345513" y="2372100"/>
            <a:ext cx="122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Pass as string for input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g2aece9d3aea_0_329"/>
          <p:cNvSpPr/>
          <p:nvPr/>
        </p:nvSpPr>
        <p:spPr>
          <a:xfrm>
            <a:off x="5525675" y="3236000"/>
            <a:ext cx="1310400" cy="1330200"/>
          </a:xfrm>
          <a:prstGeom prst="foldedCorner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python.exe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2" name="Google Shape;132;g2aece9d3aea_0_3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ece9d3aea_0_342"/>
          <p:cNvSpPr txBox="1"/>
          <p:nvPr>
            <p:ph idx="1" type="body"/>
          </p:nvPr>
        </p:nvSpPr>
        <p:spPr>
          <a:xfrm>
            <a:off x="1268125" y="285600"/>
            <a:ext cx="7030500" cy="7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Install </a:t>
            </a:r>
            <a:r>
              <a:rPr b="1" lang="en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Python Interpreter</a:t>
            </a:r>
            <a:r>
              <a:rPr lang="en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 (before you can run python code on your computer)</a:t>
            </a:r>
            <a:endParaRPr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https://www.python.org/downloads/</a:t>
            </a:r>
            <a:endParaRPr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8" name="Google Shape;138;g2aece9d3aea_0_3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8201" y="1509200"/>
            <a:ext cx="5550849" cy="345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2aece9d3aea_0_3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ece9d3aea_0_34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(Optional) What is PATH?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5" name="Google Shape;145;g2aece9d3aea_0_347"/>
          <p:cNvSpPr txBox="1"/>
          <p:nvPr>
            <p:ph idx="1" type="body"/>
          </p:nvPr>
        </p:nvSpPr>
        <p:spPr>
          <a:xfrm>
            <a:off x="507000" y="1093850"/>
            <a:ext cx="7030500" cy="3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The PATH variable is a list of paths for the shell to look for executable to run, it looks like the following.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/usr/bin:/usr/local/bin/………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E.g. When we type python3: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The shell will check these paths sequentially: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/usr/bin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/usr/local/bin/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…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When we “Add python to PATH”, we essentially append the folder which contains the python executable to the path variable.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6" name="Google Shape;146;g2aece9d3aea_0_3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3125" y="1472875"/>
            <a:ext cx="2820625" cy="20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2aece9d3aea_0_3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aece9d3aea_0_35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“Python”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3" name="Google Shape;153;g2aece9d3aea_0_353"/>
          <p:cNvSpPr txBox="1"/>
          <p:nvPr>
            <p:ph idx="1" type="body"/>
          </p:nvPr>
        </p:nvSpPr>
        <p:spPr>
          <a:xfrm>
            <a:off x="400875" y="124652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The word “python” is generally referred to as the python language.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We call the interpreter as “Python Interpreter”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“Python interpreter” is an executable, but a python file is not.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A python file is a plain text file (no difference from a .txt file).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Checkpoint</a:t>
            </a:r>
            <a:endParaRPr b="1"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Can we put all python code in a txt file, then ask the python interpreter to run that txt?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4" name="Google Shape;154;g2aece9d3aea_0_3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ece9d3aea_0_631"/>
          <p:cNvSpPr txBox="1"/>
          <p:nvPr>
            <p:ph type="ctrTitle"/>
          </p:nvPr>
        </p:nvSpPr>
        <p:spPr>
          <a:xfrm>
            <a:off x="1446600" y="1350450"/>
            <a:ext cx="62508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73763"/>
                </a:solidFill>
                <a:latin typeface="Lora"/>
                <a:ea typeface="Lora"/>
                <a:cs typeface="Lora"/>
                <a:sym typeface="Lora"/>
              </a:rPr>
              <a:t>Virtual environment</a:t>
            </a:r>
            <a:endParaRPr sz="3000">
              <a:solidFill>
                <a:srgbClr val="073763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60" name="Google Shape;160;g2aece9d3aea_0_6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aece9d3aea_0_637"/>
          <p:cNvSpPr txBox="1"/>
          <p:nvPr>
            <p:ph idx="1" type="body"/>
          </p:nvPr>
        </p:nvSpPr>
        <p:spPr>
          <a:xfrm>
            <a:off x="417800" y="1038650"/>
            <a:ext cx="4702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An isolated replica of your python interpreter.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Self containing in a single folder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Contain installed packages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Is derived from a base interpreter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6" name="Google Shape;166;g2aece9d3aea_0_63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Virtual environment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67" name="Google Shape;167;g2aece9d3aea_0_6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6056" y="0"/>
            <a:ext cx="254793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2aece9d3aea_0_637"/>
          <p:cNvSpPr txBox="1"/>
          <p:nvPr/>
        </p:nvSpPr>
        <p:spPr>
          <a:xfrm>
            <a:off x="2512225" y="4549825"/>
            <a:ext cx="397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The folder structure of the venv folder.  The content is slightly different between mac version and windows version.</a:t>
            </a:r>
            <a:endParaRPr sz="7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9" name="Google Shape;169;g2aece9d3aea_0_6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aece9d3aea_0_64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Create a venv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75" name="Google Shape;175;g2aece9d3aea_0_6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0250" y="1072100"/>
            <a:ext cx="5568226" cy="313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aece9d3aea_0_644"/>
          <p:cNvSpPr txBox="1"/>
          <p:nvPr>
            <p:ph idx="1" type="body"/>
          </p:nvPr>
        </p:nvSpPr>
        <p:spPr>
          <a:xfrm>
            <a:off x="254375" y="1072100"/>
            <a:ext cx="3466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virtualenv package (Python native)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Pipenv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Poetry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Anaconda (Popular for data science)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7" name="Google Shape;177;g2aece9d3aea_0_6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aece9d3aea_0_65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Native venv vs Anaconda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graphicFrame>
        <p:nvGraphicFramePr>
          <p:cNvPr id="183" name="Google Shape;183;g2aece9d3aea_0_650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{CCF84E32-5901-42AF-86B4-AD814E8DE3E9}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Native venv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Anaconda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Pre-installed package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lot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How many environments?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Usually one per project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Usually one per machine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Intended usage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Software development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E.g. Web scraping task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science, analytics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Recommended?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Only when you seldom need to update the virtual environment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84" name="Google Shape;184;g2aece9d3aea_0_6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650" y="1093850"/>
            <a:ext cx="1084074" cy="5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2aece9d3aea_0_6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aece9d3aea_0_927"/>
          <p:cNvSpPr txBox="1"/>
          <p:nvPr>
            <p:ph type="ctrTitle"/>
          </p:nvPr>
        </p:nvSpPr>
        <p:spPr>
          <a:xfrm>
            <a:off x="1446600" y="1350450"/>
            <a:ext cx="62508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73763"/>
                </a:solidFill>
                <a:latin typeface="Lora"/>
                <a:ea typeface="Lora"/>
                <a:cs typeface="Lora"/>
                <a:sym typeface="Lora"/>
              </a:rPr>
              <a:t>IDE</a:t>
            </a:r>
            <a:endParaRPr sz="3000">
              <a:solidFill>
                <a:srgbClr val="073763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91" name="Google Shape;191;g2aece9d3aea_0_9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aece9d3aea_0_9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Reminder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97" name="Google Shape;197;g2aece9d3aea_0_932"/>
          <p:cNvSpPr txBox="1"/>
          <p:nvPr>
            <p:ph idx="1" type="body"/>
          </p:nvPr>
        </p:nvSpPr>
        <p:spPr>
          <a:xfrm>
            <a:off x="311700" y="123462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Python has no GUI</a:t>
            </a:r>
            <a:endParaRPr b="1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Python has no GUI</a:t>
            </a:r>
            <a:endParaRPr b="1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Python has no GUI</a:t>
            </a:r>
            <a:endParaRPr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8" name="Google Shape;198;g2aece9d3aea_0_9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aece9d3aea_0_93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Integrated development environment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04" name="Google Shape;204;g2aece9d3aea_0_937"/>
          <p:cNvSpPr txBox="1"/>
          <p:nvPr>
            <p:ph idx="1" type="body"/>
          </p:nvPr>
        </p:nvSpPr>
        <p:spPr>
          <a:xfrm>
            <a:off x="411850" y="1270575"/>
            <a:ext cx="70305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This “</a:t>
            </a:r>
            <a:r>
              <a:rPr i="1" lang="en" sz="1400" u="sng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environment</a:t>
            </a:r>
            <a:r>
              <a:rPr i="1"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” has </a:t>
            </a:r>
            <a:r>
              <a:rPr b="1" i="1"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NOTHING</a:t>
            </a:r>
            <a:r>
              <a:rPr i="1"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 to do with the </a:t>
            </a:r>
            <a:r>
              <a:rPr i="1" lang="en" sz="1400" u="sng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python virtual environment</a:t>
            </a:r>
            <a:r>
              <a:rPr i="1"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i="1"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It refers to the tool that help us develop python applications.</a:t>
            </a:r>
            <a:endParaRPr i="1"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5" name="Google Shape;205;g2aece9d3aea_0_9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775" y="2526050"/>
            <a:ext cx="1196874" cy="119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2aece9d3aea_0_9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525" y="2468676"/>
            <a:ext cx="1236360" cy="14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2aece9d3aea_0_9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074" y="2526050"/>
            <a:ext cx="2393750" cy="11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2aece9d3aea_0_9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57025" y="2405275"/>
            <a:ext cx="1438425" cy="14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2aece9d3aea_0_9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aece9d3aea_0_94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Checkpoint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5" name="Google Shape;215;g2aece9d3aea_0_94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What’s wrong with the following statements?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rabicPeriod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PyCharm executes my python scripts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rabicPeriod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Running python code in jupyter notebook does not require a python interpreter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16" name="Google Shape;216;g2aece9d3aea_0_9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