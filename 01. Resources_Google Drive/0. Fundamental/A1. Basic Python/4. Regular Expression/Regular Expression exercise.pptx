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Amatic SC"/>
      <p:regular r:id="rId16"/>
      <p:bold r:id="rId17"/>
    </p:embeddedFont>
    <p:embeddedFont>
      <p:font typeface="Nunito"/>
      <p:regular r:id="rId18"/>
      <p:bold r:id="rId19"/>
      <p:italic r:id="rId20"/>
      <p:boldItalic r:id="rId21"/>
    </p:embeddedFont>
    <p:embeddedFont>
      <p:font typeface="Source Code Pro"/>
      <p:regular r:id="rId22"/>
      <p:bold r:id="rId23"/>
      <p:italic r:id="rId24"/>
      <p:boldItalic r:id="rId25"/>
    </p:embeddedFont>
    <p:embeddedFont>
      <p:font typeface="Maven Pro"/>
      <p:regular r:id="rId26"/>
      <p:bold r:id="rId27"/>
    </p:embeddedFont>
    <p:embeddedFont>
      <p:font typeface="Lora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hR5jCNCplPBhC/DSvizPWnWGXC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regular.fntdata"/><Relationship Id="rId25" Type="http://schemas.openxmlformats.org/officeDocument/2006/relationships/font" Target="fonts/SourceCodePro-boldItalic.fntdata"/><Relationship Id="rId28" Type="http://schemas.openxmlformats.org/officeDocument/2006/relationships/font" Target="fonts/Lora-regular.fntdata"/><Relationship Id="rId27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boldItalic.fntdata"/><Relationship Id="rId30" Type="http://schemas.openxmlformats.org/officeDocument/2006/relationships/font" Target="fonts/Lora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ec03a7c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aec03a7c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aec03a7c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aec03a7c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ec03a7c9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ec03a7c9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ec03a7c9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ec03a7c9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ec03a7c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ec03a7c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0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50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6" name="Google Shape;16;p51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" name="Google Shape;17;p51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" name="Google Shape;1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1" name="Google Shape;21;p5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2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5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57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57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5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9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59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4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egexr.com/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1446600" y="1032275"/>
            <a:ext cx="6250800" cy="18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2800">
                <a:solidFill>
                  <a:srgbClr val="0D0D0D"/>
                </a:solidFill>
                <a:latin typeface="Maven Pro"/>
                <a:ea typeface="Maven Pro"/>
                <a:cs typeface="Maven Pro"/>
                <a:sym typeface="Maven Pro"/>
              </a:rPr>
              <a:t>Regular Expression</a:t>
            </a:r>
            <a:endParaRPr b="0" sz="2800">
              <a:solidFill>
                <a:srgbClr val="0D0D0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"/>
          <p:cNvSpPr txBox="1"/>
          <p:nvPr>
            <p:ph idx="4294967295" type="body"/>
          </p:nvPr>
        </p:nvSpPr>
        <p:spPr>
          <a:xfrm>
            <a:off x="0" y="0"/>
            <a:ext cx="1283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Version: 13012024</a:t>
            </a:r>
            <a:endParaRPr sz="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ec03a7c9b_0_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Text extraction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" name="Google Shape;64;g2aec03a7c9b_0_0"/>
          <p:cNvSpPr txBox="1"/>
          <p:nvPr>
            <p:ph idx="1" type="body"/>
          </p:nvPr>
        </p:nvSpPr>
        <p:spPr>
          <a:xfrm>
            <a:off x="410650" y="985200"/>
            <a:ext cx="4440900" cy="11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 am Harvey. My HKID number is AB123456(7).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My phone number is 91234888.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Here is my portfolio website: https://harvey.me/portfolio/#section1.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Please feel free to contact me if needed.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65" name="Google Shape;65;g2aec03a7c9b_0_0"/>
          <p:cNvSpPr txBox="1"/>
          <p:nvPr>
            <p:ph idx="1" type="body"/>
          </p:nvPr>
        </p:nvSpPr>
        <p:spPr>
          <a:xfrm>
            <a:off x="410650" y="2394475"/>
            <a:ext cx="4440900" cy="18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Hi I am interested in the position.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Please visit http://jason-portfolio.com?cv=1 to see my previous works.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Below is my information.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Name: Jason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Tel: +85299243321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Id card number: D922118(1)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Reference number : 203476912746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" name="Google Shape;66;g2aec03a7c9b_0_0"/>
          <p:cNvSpPr txBox="1"/>
          <p:nvPr/>
        </p:nvSpPr>
        <p:spPr>
          <a:xfrm>
            <a:off x="4798500" y="1012425"/>
            <a:ext cx="3976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We wish to extract the following information.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Name (difficult)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HKID Number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Phone Number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Website link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" name="Google Shape;67;g2aec03a7c9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ec03a7c9b_0_7"/>
          <p:cNvSpPr txBox="1"/>
          <p:nvPr>
            <p:ph idx="1" type="body"/>
          </p:nvPr>
        </p:nvSpPr>
        <p:spPr>
          <a:xfrm>
            <a:off x="4393050" y="1484625"/>
            <a:ext cx="3064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2. Check for each token if it contains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Consecutive numbers?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Starts with http?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g2aec03a7c9b_0_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Idea 1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" name="Google Shape;74;g2aec03a7c9b_0_7"/>
          <p:cNvSpPr txBox="1"/>
          <p:nvPr>
            <p:ph idx="1" type="body"/>
          </p:nvPr>
        </p:nvSpPr>
        <p:spPr>
          <a:xfrm>
            <a:off x="1686150" y="1484625"/>
            <a:ext cx="1941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Split the strings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I 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am 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Harvey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My 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HKID 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number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is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AB123456(7)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...</a:t>
            </a:r>
            <a:endParaRPr b="1" sz="1400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5" name="Google Shape;75;g2aec03a7c9b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ec03a7c9b_0_1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Idea 2 (To find HKID)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81" name="Google Shape;81;g2aec03a7c9b_0_13"/>
          <p:cNvSpPr txBox="1"/>
          <p:nvPr>
            <p:ph idx="1" type="body"/>
          </p:nvPr>
        </p:nvSpPr>
        <p:spPr>
          <a:xfrm>
            <a:off x="596200" y="1093850"/>
            <a:ext cx="5289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Search the whole string character-by-character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One character followed by consecutive numbers, then bracket of one digit inside.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Nothing in front, and nothing behind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But …. How to implement this logic?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2" name="Google Shape;82;g2aec03a7c9b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ec03a7c9b_0_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Regular expression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88" name="Google Shape;88;g2aec03a7c9b_0_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 standardized expression (instruction) to match text.  The logic is implemented in almost every programming languages.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Learn RegEx: </a:t>
            </a:r>
            <a:r>
              <a:rPr lang="en" sz="1400" u="sng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https://regexr.com/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With the help of the cheatsheet, extract information from the text in slide 1.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HKID Number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Phone Number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Website link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9" name="Google Shape;89;g2aec03a7c9b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ec03a7c9b_0_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Where can we use RegEx?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5" name="Google Shape;95;g2aec03a7c9b_0_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✅ RegEx can be used in almost all modern programming languages (e.g. Python, JS etc.).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✅ Most modern databases (e.g. Postgres, MySQL etc.) support RegEx.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✅ Most modern data warehouse (e.g. BigQuery, Spark etc.) support RegEx.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✅ Most BI tools (e.g. Tableau, PowerBI etc.) support RegEx.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❌ However, Excel does not support RegEx.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6" name="Google Shape;96;g2aec03a7c9b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