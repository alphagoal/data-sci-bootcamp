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Nunito"/>
      <p:regular r:id="rId39"/>
      <p:bold r:id="rId40"/>
      <p:italic r:id="rId41"/>
      <p:boldItalic r:id="rId42"/>
    </p:embeddedFont>
    <p:embeddedFont>
      <p:font typeface="Maven Pro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-bold.fntdata"/><Relationship Id="rId20" Type="http://schemas.openxmlformats.org/officeDocument/2006/relationships/slide" Target="slides/slide15.xml"/><Relationship Id="rId42" Type="http://schemas.openxmlformats.org/officeDocument/2006/relationships/font" Target="fonts/Nunito-boldItalic.fntdata"/><Relationship Id="rId41" Type="http://schemas.openxmlformats.org/officeDocument/2006/relationships/font" Target="fonts/Nunito-italic.fntdata"/><Relationship Id="rId22" Type="http://schemas.openxmlformats.org/officeDocument/2006/relationships/slide" Target="slides/slide17.xml"/><Relationship Id="rId44" Type="http://schemas.openxmlformats.org/officeDocument/2006/relationships/font" Target="fonts/MavenPro-bold.fntdata"/><Relationship Id="rId21" Type="http://schemas.openxmlformats.org/officeDocument/2006/relationships/slide" Target="slides/slide16.xml"/><Relationship Id="rId43" Type="http://schemas.openxmlformats.org/officeDocument/2006/relationships/font" Target="fonts/MavenPro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Nunito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0b257784b4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0b257784b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0f874d07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0f874d07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0b257784b4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0b257784b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0b257784b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0b257784b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0b257784b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0b257784b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0b257784b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0b257784b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0b257784b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0b257784b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0b257784b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10b257784b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0b257784b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0b257784b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0b257784b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0b257784b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0b257784b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0b257784b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0b257784b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0b257784b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0b257784b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0b257784b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0b257784b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10b257784b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0b257784b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0b257784b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0b257784b4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0b257784b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0b257784b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10b257784b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0b257784b4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0b257784b4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0b257784b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0b257784b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d1bcf589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d1bcf58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d1bcf5893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d1bcf589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d1bcf5893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d1bcf5893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d1bcf5893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d1bcf5893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d1bcf5893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d1bcf5893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d1bcf5893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d1bcf5893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d1bcf5893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d1bcf5893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d1bcf5893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d1bcf5893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aa6be9445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aa6be9445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d1bcf5893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d1bcf5893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d1bcf5893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d1bcf5893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d1bcf5893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d1bcf5893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d1bcf5893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d1bcf5893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tableau.com/products/desktop/download" TargetMode="External"/><Relationship Id="rId4" Type="http://schemas.openxmlformats.org/officeDocument/2006/relationships/hyperlink" Target="https://learning-platform-danger.s3.ap-east-1.amazonaws.com/BI+Visualization/conduct.csv" TargetMode="External"/><Relationship Id="rId5" Type="http://schemas.openxmlformats.org/officeDocument/2006/relationships/hyperlink" Target="https://learning-platform-danger.s3.ap-east-1.amazonaws.com/BI+Visualization/exam.csv" TargetMode="External"/><Relationship Id="rId6" Type="http://schemas.openxmlformats.org/officeDocument/2006/relationships/hyperlink" Target="https://learning-platform-danger.s3.ap-east-1.amazonaws.com/BI+Visualization/student.csv" TargetMode="External"/><Relationship Id="rId7" Type="http://schemas.openxmlformats.org/officeDocument/2006/relationships/hyperlink" Target="https://learning-platform-danger.s3.ap-east-1.amazonaws.com/BI+Visualization/demerit.csv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tableau.com/solutions/gallery/superstore" TargetMode="External"/><Relationship Id="rId4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Relationship Id="rId4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Tableau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Download Tableau public</a:t>
            </a:r>
            <a:endParaRPr/>
          </a:p>
        </p:txBody>
      </p:sp>
      <p:sp>
        <p:nvSpPr>
          <p:cNvPr id="288" name="Google Shape;288;p15"/>
          <p:cNvSpPr txBox="1"/>
          <p:nvPr>
            <p:ph idx="1" type="body"/>
          </p:nvPr>
        </p:nvSpPr>
        <p:spPr>
          <a:xfrm>
            <a:off x="1303800" y="1516900"/>
            <a:ext cx="70305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Download the software: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https://www.tableau.com/products/desktop/download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Sample data: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https://learning-platform-danger.s3.ap-east-1.amazonaws.com/BI+Visualization/conduct.csv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https://learning-platform-danger.s3.ap-east-1.amazonaws.com/BI+Visualization/exam.csv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https://learning-platform-danger.s3.ap-east-1.amazonaws.com/BI+Visualization/student.csv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https://learning-platform-danger.s3.ap-east-1.amazonaws.com/BI+Visualization/demerit.csv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usage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objects</a:t>
            </a:r>
            <a:endParaRPr/>
          </a:p>
        </p:txBody>
      </p:sp>
      <p:sp>
        <p:nvSpPr>
          <p:cNvPr id="299" name="Google Shape;299;p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Book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Data source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Sheet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Dashboard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Story</a:t>
            </a:r>
            <a:endParaRPr/>
          </a:p>
        </p:txBody>
      </p:sp>
      <p:pic>
        <p:nvPicPr>
          <p:cNvPr id="300" name="Google Shape;3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5950" y="1533175"/>
            <a:ext cx="3993399" cy="27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7"/>
          <p:cNvSpPr txBox="1"/>
          <p:nvPr/>
        </p:nvSpPr>
        <p:spPr>
          <a:xfrm>
            <a:off x="4453000" y="4262775"/>
            <a:ext cx="405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A story is a sequence of visualizations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Workspace</a:t>
            </a:r>
            <a:endParaRPr/>
          </a:p>
        </p:txBody>
      </p:sp>
      <p:pic>
        <p:nvPicPr>
          <p:cNvPr id="307" name="Google Shape;3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900" y="1165450"/>
            <a:ext cx="3576853" cy="3240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0103" y="1165450"/>
            <a:ext cx="3576853" cy="3240823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8"/>
          <p:cNvSpPr/>
          <p:nvPr/>
        </p:nvSpPr>
        <p:spPr>
          <a:xfrm>
            <a:off x="737050" y="4164100"/>
            <a:ext cx="612900" cy="204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8"/>
          <p:cNvSpPr/>
          <p:nvPr/>
        </p:nvSpPr>
        <p:spPr>
          <a:xfrm>
            <a:off x="5116975" y="4164100"/>
            <a:ext cx="612900" cy="204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634125" y="4445950"/>
            <a:ext cx="28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latin typeface="Nunito"/>
                <a:ea typeface="Nunito"/>
                <a:cs typeface="Nunito"/>
                <a:sym typeface="Nunito"/>
              </a:rPr>
              <a:t>Manage data sources</a:t>
            </a:r>
            <a:endParaRPr u="sng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2" name="Google Shape;312;p18"/>
          <p:cNvSpPr txBox="1"/>
          <p:nvPr/>
        </p:nvSpPr>
        <p:spPr>
          <a:xfrm>
            <a:off x="4774500" y="4445950"/>
            <a:ext cx="28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latin typeface="Nunito"/>
                <a:ea typeface="Nunito"/>
                <a:cs typeface="Nunito"/>
                <a:sym typeface="Nunito"/>
              </a:rPr>
              <a:t>Work on worksheets</a:t>
            </a:r>
            <a:endParaRPr u="sng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3" name="Google Shape;313;p18"/>
          <p:cNvSpPr txBox="1"/>
          <p:nvPr/>
        </p:nvSpPr>
        <p:spPr>
          <a:xfrm>
            <a:off x="4168550" y="554000"/>
            <a:ext cx="465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latin typeface="Nunito"/>
                <a:ea typeface="Nunito"/>
                <a:cs typeface="Nunito"/>
                <a:sym typeface="Nunito"/>
              </a:rPr>
              <a:t>The whole thing is a “book”, which can be saved in a file </a:t>
            </a:r>
            <a:endParaRPr u="sng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9"/>
          <p:cNvSpPr txBox="1"/>
          <p:nvPr>
            <p:ph type="title"/>
          </p:nvPr>
        </p:nvSpPr>
        <p:spPr>
          <a:xfrm>
            <a:off x="1303800" y="598575"/>
            <a:ext cx="51150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Dimension vs Measure</a:t>
            </a:r>
            <a:endParaRPr/>
          </a:p>
        </p:txBody>
      </p:sp>
      <p:sp>
        <p:nvSpPr>
          <p:cNvPr id="319" name="Google Shape;319;p19"/>
          <p:cNvSpPr txBox="1"/>
          <p:nvPr>
            <p:ph idx="1" type="body"/>
          </p:nvPr>
        </p:nvSpPr>
        <p:spPr>
          <a:xfrm>
            <a:off x="1303800" y="1990050"/>
            <a:ext cx="51150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Tableau automatically detect if columns are </a:t>
            </a:r>
            <a:r>
              <a:rPr lang="en" u="sng"/>
              <a:t>dimension</a:t>
            </a:r>
            <a:r>
              <a:rPr lang="en"/>
              <a:t> or </a:t>
            </a:r>
            <a:r>
              <a:rPr lang="en" u="sng"/>
              <a:t>measure</a:t>
            </a:r>
            <a:r>
              <a:rPr lang="en"/>
              <a:t>, you can change the setting of the detection is wrong.</a:t>
            </a:r>
            <a:endParaRPr/>
          </a:p>
        </p:txBody>
      </p:sp>
      <p:pic>
        <p:nvPicPr>
          <p:cNvPr id="320" name="Google Shape;320;p19"/>
          <p:cNvPicPr preferRelativeResize="0"/>
          <p:nvPr/>
        </p:nvPicPr>
        <p:blipFill rotWithShape="1">
          <a:blip r:embed="rId3">
            <a:alphaModFix/>
          </a:blip>
          <a:srcRect b="0" l="0" r="0" t="26101"/>
          <a:stretch/>
        </p:blipFill>
        <p:spPr>
          <a:xfrm>
            <a:off x="6931275" y="1741575"/>
            <a:ext cx="1990725" cy="315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1675" y="0"/>
            <a:ext cx="3362325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575" y="3135050"/>
            <a:ext cx="2924795" cy="175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4200" y="3137000"/>
            <a:ext cx="2894225" cy="1758026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9"/>
          <p:cNvSpPr txBox="1"/>
          <p:nvPr/>
        </p:nvSpPr>
        <p:spPr>
          <a:xfrm>
            <a:off x="622925" y="2813350"/>
            <a:ext cx="289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Upper part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5" name="Google Shape;325;p19"/>
          <p:cNvSpPr txBox="1"/>
          <p:nvPr/>
        </p:nvSpPr>
        <p:spPr>
          <a:xfrm>
            <a:off x="3654250" y="2813350"/>
            <a:ext cx="289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Lower part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Discrete or continuous</a:t>
            </a:r>
            <a:endParaRPr/>
          </a:p>
        </p:txBody>
      </p:sp>
      <p:sp>
        <p:nvSpPr>
          <p:cNvPr id="331" name="Google Shape;331;p20"/>
          <p:cNvSpPr txBox="1"/>
          <p:nvPr>
            <p:ph idx="1" type="body"/>
          </p:nvPr>
        </p:nvSpPr>
        <p:spPr>
          <a:xfrm>
            <a:off x="1303800" y="1990050"/>
            <a:ext cx="27687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A86E8"/>
                </a:solidFill>
              </a:rPr>
              <a:t>Examples</a:t>
            </a:r>
            <a:r>
              <a:rPr lang="en">
                <a:solidFill>
                  <a:srgbClr val="4A86E8"/>
                </a:solidFill>
              </a:rPr>
              <a:t> of d</a:t>
            </a:r>
            <a:r>
              <a:rPr lang="en">
                <a:solidFill>
                  <a:srgbClr val="4A86E8"/>
                </a:solidFill>
              </a:rPr>
              <a:t>iscrete variables</a:t>
            </a:r>
            <a:r>
              <a:rPr lang="en">
                <a:solidFill>
                  <a:srgbClr val="4A86E8"/>
                </a:solidFill>
              </a:rPr>
              <a:t>:</a:t>
            </a:r>
            <a:endParaRPr>
              <a:solidFill>
                <a:srgbClr val="4A86E8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4A86E8"/>
              </a:buClr>
              <a:buSzPts val="1300"/>
              <a:buChar char="-"/>
            </a:pPr>
            <a:r>
              <a:rPr lang="en">
                <a:solidFill>
                  <a:srgbClr val="4A86E8"/>
                </a:solidFill>
              </a:rPr>
              <a:t>Group numbers</a:t>
            </a:r>
            <a:endParaRPr>
              <a:solidFill>
                <a:srgbClr val="4A86E8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300"/>
              <a:buChar char="-"/>
            </a:pPr>
            <a:r>
              <a:rPr lang="en">
                <a:solidFill>
                  <a:srgbClr val="4A86E8"/>
                </a:solidFill>
              </a:rPr>
              <a:t>Categorical variables</a:t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Examples of continuous variables:</a:t>
            </a:r>
            <a:endParaRPr>
              <a:solidFill>
                <a:srgbClr val="6AA84F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300"/>
              <a:buChar char="-"/>
            </a:pPr>
            <a:r>
              <a:rPr lang="en">
                <a:solidFill>
                  <a:srgbClr val="6AA84F"/>
                </a:solidFill>
              </a:rPr>
              <a:t>Height/Weight</a:t>
            </a:r>
            <a:endParaRPr>
              <a:solidFill>
                <a:srgbClr val="6AA84F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300"/>
              <a:buChar char="-"/>
            </a:pPr>
            <a:r>
              <a:rPr lang="en">
                <a:solidFill>
                  <a:srgbClr val="6AA84F"/>
                </a:solidFill>
              </a:rPr>
              <a:t>Percentage</a:t>
            </a:r>
            <a:endParaRPr>
              <a:solidFill>
                <a:srgbClr val="6AA84F"/>
              </a:solidFill>
            </a:endParaRPr>
          </a:p>
        </p:txBody>
      </p:sp>
      <p:pic>
        <p:nvPicPr>
          <p:cNvPr id="332" name="Google Shape;3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8425" y="1597875"/>
            <a:ext cx="2254487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plot?</a:t>
            </a:r>
            <a:endParaRPr/>
          </a:p>
        </p:txBody>
      </p:sp>
      <p:pic>
        <p:nvPicPr>
          <p:cNvPr id="338" name="Google Shape;3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0537" y="1191750"/>
            <a:ext cx="5312626" cy="3824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9" name="Google Shape;339;p21"/>
          <p:cNvCxnSpPr/>
          <p:nvPr/>
        </p:nvCxnSpPr>
        <p:spPr>
          <a:xfrm flipH="1" rot="10800000">
            <a:off x="3840025" y="1627725"/>
            <a:ext cx="951300" cy="831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" name="Google Shape;340;p21"/>
          <p:cNvCxnSpPr/>
          <p:nvPr/>
        </p:nvCxnSpPr>
        <p:spPr>
          <a:xfrm flipH="1">
            <a:off x="4699825" y="2642200"/>
            <a:ext cx="373200" cy="3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1" name="Google Shape;341;p21"/>
          <p:cNvSpPr txBox="1"/>
          <p:nvPr/>
        </p:nvSpPr>
        <p:spPr>
          <a:xfrm>
            <a:off x="535425" y="2026600"/>
            <a:ext cx="258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Drag dimensions or measures to columns or rows</a:t>
            </a:r>
            <a:endParaRPr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5154925" y="2422575"/>
            <a:ext cx="258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Configure the graph elements</a:t>
            </a:r>
            <a:endParaRPr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348" name="Google Shape;348;p22"/>
          <p:cNvSpPr txBox="1"/>
          <p:nvPr>
            <p:ph idx="1" type="body"/>
          </p:nvPr>
        </p:nvSpPr>
        <p:spPr>
          <a:xfrm>
            <a:off x="1303800" y="1990050"/>
            <a:ext cx="3205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Plot this graph -&gt;</a:t>
            </a:r>
            <a:endParaRPr/>
          </a:p>
        </p:txBody>
      </p:sp>
      <p:pic>
        <p:nvPicPr>
          <p:cNvPr id="349" name="Google Shape;3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8500" y="377300"/>
            <a:ext cx="3149125" cy="445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355" name="Google Shape;355;p2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 this graph -&gt;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6" name="Google Shape;3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7799" y="476725"/>
            <a:ext cx="3739775" cy="419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362" name="Google Shape;362;p24"/>
          <p:cNvSpPr txBox="1"/>
          <p:nvPr>
            <p:ph idx="1" type="body"/>
          </p:nvPr>
        </p:nvSpPr>
        <p:spPr>
          <a:xfrm>
            <a:off x="1303800" y="1990050"/>
            <a:ext cx="34170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How about we give each student their name?</a:t>
            </a:r>
            <a:endParaRPr/>
          </a:p>
        </p:txBody>
      </p:sp>
      <p:pic>
        <p:nvPicPr>
          <p:cNvPr id="363" name="Google Shape;36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4676" y="232525"/>
            <a:ext cx="3763725" cy="467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5"/>
          <p:cNvSpPr txBox="1"/>
          <p:nvPr>
            <p:ph idx="1" type="body"/>
          </p:nvPr>
        </p:nvSpPr>
        <p:spPr>
          <a:xfrm>
            <a:off x="1303800" y="1990050"/>
            <a:ext cx="3973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Plot a box diagram to indicate the height distribution of each class</a:t>
            </a:r>
            <a:endParaRPr/>
          </a:p>
        </p:txBody>
      </p:sp>
      <p:pic>
        <p:nvPicPr>
          <p:cNvPr id="369" name="Google Shape;36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373" y="595986"/>
            <a:ext cx="2680500" cy="39515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376" name="Google Shape;376;p26"/>
          <p:cNvSpPr txBox="1"/>
          <p:nvPr>
            <p:ph idx="1" type="body"/>
          </p:nvPr>
        </p:nvSpPr>
        <p:spPr>
          <a:xfrm>
            <a:off x="1303800" y="1990050"/>
            <a:ext cx="31350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 show the severity of each kind of misconduct.</a:t>
            </a:r>
            <a:endParaRPr/>
          </a:p>
        </p:txBody>
      </p:sp>
      <p:pic>
        <p:nvPicPr>
          <p:cNvPr id="377" name="Google Shape;37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27875"/>
            <a:ext cx="4448549" cy="297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383" name="Google Shape;383;p27"/>
          <p:cNvSpPr txBox="1"/>
          <p:nvPr>
            <p:ph idx="1" type="body"/>
          </p:nvPr>
        </p:nvSpPr>
        <p:spPr>
          <a:xfrm>
            <a:off x="1303800" y="1990050"/>
            <a:ext cx="22332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How about scatter plot?  Different marker for different class.</a:t>
            </a:r>
            <a:endParaRPr/>
          </a:p>
        </p:txBody>
      </p:sp>
      <p:pic>
        <p:nvPicPr>
          <p:cNvPr id="384" name="Google Shape;38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4025" y="706638"/>
            <a:ext cx="4171954" cy="373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390" name="Google Shape;390;p2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How about a simple text table?</a:t>
            </a:r>
            <a:endParaRPr/>
          </a:p>
        </p:txBody>
      </p:sp>
      <p:pic>
        <p:nvPicPr>
          <p:cNvPr id="391" name="Google Shape;39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3675" y="2684575"/>
            <a:ext cx="2171700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</a:t>
            </a:r>
            <a:endParaRPr/>
          </a:p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03800" y="1990050"/>
            <a:ext cx="25221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dashboard group worksheets into one page.</a:t>
            </a:r>
            <a:endParaRPr/>
          </a:p>
        </p:txBody>
      </p:sp>
      <p:pic>
        <p:nvPicPr>
          <p:cNvPr id="398" name="Google Shape;39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3177" y="846363"/>
            <a:ext cx="5061724" cy="345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0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your work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the book file</a:t>
            </a:r>
            <a:endParaRPr/>
          </a:p>
        </p:txBody>
      </p:sp>
      <p:sp>
        <p:nvSpPr>
          <p:cNvPr id="409" name="Google Shape;409;p31"/>
          <p:cNvSpPr txBox="1"/>
          <p:nvPr>
            <p:ph idx="1" type="body"/>
          </p:nvPr>
        </p:nvSpPr>
        <p:spPr>
          <a:xfrm>
            <a:off x="1303800" y="1990050"/>
            <a:ext cx="33963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workbook file is a self contained file.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It can be opened by other people in other computers.</a:t>
            </a:r>
            <a:endParaRPr/>
          </a:p>
        </p:txBody>
      </p:sp>
      <p:pic>
        <p:nvPicPr>
          <p:cNvPr id="410" name="Google Shape;41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3050" y="1397913"/>
            <a:ext cx="2990850" cy="313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online</a:t>
            </a:r>
            <a:endParaRPr/>
          </a:p>
        </p:txBody>
      </p:sp>
      <p:sp>
        <p:nvSpPr>
          <p:cNvPr id="416" name="Google Shape;416;p32"/>
          <p:cNvSpPr txBox="1"/>
          <p:nvPr>
            <p:ph idx="1" type="body"/>
          </p:nvPr>
        </p:nvSpPr>
        <p:spPr>
          <a:xfrm>
            <a:off x="1303800" y="1990050"/>
            <a:ext cx="31431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Tableau comes with an online service - Tableau online (not free).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Publish data source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Publish workbook</a:t>
            </a:r>
            <a:endParaRPr/>
          </a:p>
        </p:txBody>
      </p:sp>
      <p:pic>
        <p:nvPicPr>
          <p:cNvPr id="417" name="Google Shape;41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9848" y="94200"/>
            <a:ext cx="3965400" cy="219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7999" y="2502850"/>
            <a:ext cx="3060249" cy="20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usage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4"/>
          <p:cNvSpPr txBox="1"/>
          <p:nvPr>
            <p:ph type="title"/>
          </p:nvPr>
        </p:nvSpPr>
        <p:spPr>
          <a:xfrm>
            <a:off x="1303800" y="598575"/>
            <a:ext cx="23520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Hierarchy</a:t>
            </a:r>
            <a:endParaRPr/>
          </a:p>
        </p:txBody>
      </p:sp>
      <p:sp>
        <p:nvSpPr>
          <p:cNvPr id="429" name="Google Shape;429;p34"/>
          <p:cNvSpPr txBox="1"/>
          <p:nvPr>
            <p:ph idx="1" type="body"/>
          </p:nvPr>
        </p:nvSpPr>
        <p:spPr>
          <a:xfrm>
            <a:off x="1303800" y="1990050"/>
            <a:ext cx="26346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 can group fields into a hierarchy for better management.</a:t>
            </a:r>
            <a:endParaRPr/>
          </a:p>
        </p:txBody>
      </p:sp>
      <p:pic>
        <p:nvPicPr>
          <p:cNvPr id="430" name="Google Shape;43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0500" y="280975"/>
            <a:ext cx="4781550" cy="458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Calculated Field</a:t>
            </a:r>
            <a:endParaRPr/>
          </a:p>
        </p:txBody>
      </p:sp>
      <p:sp>
        <p:nvSpPr>
          <p:cNvPr id="436" name="Google Shape;436;p35"/>
          <p:cNvSpPr txBox="1"/>
          <p:nvPr>
            <p:ph idx="1" type="body"/>
          </p:nvPr>
        </p:nvSpPr>
        <p:spPr>
          <a:xfrm>
            <a:off x="1303800" y="1990050"/>
            <a:ext cx="31056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 can create new field with a formula.  The formula can contain one or more </a:t>
            </a:r>
            <a:r>
              <a:rPr lang="en"/>
              <a:t>existing</a:t>
            </a:r>
            <a:r>
              <a:rPr lang="en"/>
              <a:t> field denoted by </a:t>
            </a:r>
            <a:r>
              <a:rPr lang="en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[fieldname]</a:t>
            </a:r>
            <a:r>
              <a:rPr lang="en"/>
              <a:t>.</a:t>
            </a:r>
            <a:endParaRPr/>
          </a:p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36471" t="0"/>
          <a:stretch/>
        </p:blipFill>
        <p:spPr>
          <a:xfrm>
            <a:off x="4711400" y="1634900"/>
            <a:ext cx="4098700" cy="325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</a:t>
            </a:r>
            <a:endParaRPr/>
          </a:p>
        </p:txBody>
      </p:sp>
      <p:sp>
        <p:nvSpPr>
          <p:cNvPr id="443" name="Google Shape;443;p36"/>
          <p:cNvSpPr txBox="1"/>
          <p:nvPr>
            <p:ph idx="1" type="body"/>
          </p:nvPr>
        </p:nvSpPr>
        <p:spPr>
          <a:xfrm>
            <a:off x="1303800" y="3236350"/>
            <a:ext cx="4449600" cy="12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Very similar to Calculated Field, but instead of creating new values with a function,  “Group” creates a mapping between original value to a “Group”.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E.g. “Akro Stacking Bins” -&gt; “Akro”</a:t>
            </a:r>
            <a:endParaRPr/>
          </a:p>
        </p:txBody>
      </p:sp>
      <p:pic>
        <p:nvPicPr>
          <p:cNvPr id="444" name="Google Shape;44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6348" y="539400"/>
            <a:ext cx="3172025" cy="42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9324" y="539399"/>
            <a:ext cx="2553401" cy="2585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Parameters</a:t>
            </a:r>
            <a:endParaRPr/>
          </a:p>
        </p:txBody>
      </p:sp>
      <p:sp>
        <p:nvSpPr>
          <p:cNvPr id="451" name="Google Shape;451;p37"/>
          <p:cNvSpPr txBox="1"/>
          <p:nvPr>
            <p:ph idx="1" type="body"/>
          </p:nvPr>
        </p:nvSpPr>
        <p:spPr>
          <a:xfrm>
            <a:off x="1303800" y="1990050"/>
            <a:ext cx="35250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 “Variables”.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It is a variable that can be used in calculation and thus affect the graph layout.</a:t>
            </a:r>
            <a:endParaRPr/>
          </a:p>
        </p:txBody>
      </p:sp>
      <p:pic>
        <p:nvPicPr>
          <p:cNvPr id="452" name="Google Shape;45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4325" y="533400"/>
            <a:ext cx="3752850" cy="40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Bins</a:t>
            </a:r>
            <a:endParaRPr/>
          </a:p>
        </p:txBody>
      </p:sp>
      <p:sp>
        <p:nvSpPr>
          <p:cNvPr id="458" name="Google Shape;458;p38"/>
          <p:cNvSpPr txBox="1"/>
          <p:nvPr>
            <p:ph idx="1" type="body"/>
          </p:nvPr>
        </p:nvSpPr>
        <p:spPr>
          <a:xfrm>
            <a:off x="1303800" y="1990050"/>
            <a:ext cx="30369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kind of calculated field.  It turns a column of </a:t>
            </a:r>
            <a:r>
              <a:rPr lang="en"/>
              <a:t>continuous</a:t>
            </a:r>
            <a:r>
              <a:rPr lang="en"/>
              <a:t> values into discrete “bins”.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biggest use case is to create histograms.</a:t>
            </a:r>
            <a:endParaRPr/>
          </a:p>
        </p:txBody>
      </p:sp>
      <p:pic>
        <p:nvPicPr>
          <p:cNvPr id="459" name="Google Shape;45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3675" y="520738"/>
            <a:ext cx="3950725" cy="410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Using parameter in Bins setting</a:t>
            </a:r>
            <a:endParaRPr/>
          </a:p>
        </p:txBody>
      </p:sp>
      <p:pic>
        <p:nvPicPr>
          <p:cNvPr id="465" name="Google Shape;46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50" y="1192913"/>
            <a:ext cx="3715824" cy="380327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39"/>
          <p:cNvSpPr/>
          <p:nvPr/>
        </p:nvSpPr>
        <p:spPr>
          <a:xfrm>
            <a:off x="642150" y="1632125"/>
            <a:ext cx="1061700" cy="3597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7" name="Google Shape;46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3713" y="1677448"/>
            <a:ext cx="5216174" cy="2765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39"/>
          <p:cNvSpPr/>
          <p:nvPr/>
        </p:nvSpPr>
        <p:spPr>
          <a:xfrm>
            <a:off x="5392250" y="2880450"/>
            <a:ext cx="2399100" cy="3597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9"/>
          <p:cNvSpPr/>
          <p:nvPr/>
        </p:nvSpPr>
        <p:spPr>
          <a:xfrm>
            <a:off x="3493225" y="2683650"/>
            <a:ext cx="770400" cy="75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Create a dynamic graph with parameter</a:t>
            </a:r>
            <a:endParaRPr/>
          </a:p>
        </p:txBody>
      </p:sp>
      <p:pic>
        <p:nvPicPr>
          <p:cNvPr id="475" name="Google Shape;47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950" y="1647525"/>
            <a:ext cx="2765181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2924" y="1218100"/>
            <a:ext cx="4395925" cy="372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1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</a:t>
            </a:r>
            <a:endParaRPr/>
          </a:p>
        </p:txBody>
      </p:sp>
      <p:sp>
        <p:nvSpPr>
          <p:cNvPr id="487" name="Google Shape;487;p42"/>
          <p:cNvSpPr txBox="1"/>
          <p:nvPr>
            <p:ph idx="1" type="body"/>
          </p:nvPr>
        </p:nvSpPr>
        <p:spPr>
          <a:xfrm>
            <a:off x="899225" y="1990050"/>
            <a:ext cx="27336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https://www.tableau.com/solutions/gallery/superstore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this case study we will try to replicate the Customer Analysis dashboard.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88" name="Google Shape;488;p42"/>
          <p:cNvPicPr preferRelativeResize="0"/>
          <p:nvPr/>
        </p:nvPicPr>
        <p:blipFill rotWithShape="1">
          <a:blip r:embed="rId4">
            <a:alphaModFix/>
          </a:blip>
          <a:srcRect b="26546" l="15042" r="14895" t="0"/>
          <a:stretch/>
        </p:blipFill>
        <p:spPr>
          <a:xfrm>
            <a:off x="4033768" y="0"/>
            <a:ext cx="5110231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interaction</a:t>
            </a:r>
            <a:endParaRPr/>
          </a:p>
        </p:txBody>
      </p:sp>
      <p:sp>
        <p:nvSpPr>
          <p:cNvPr id="494" name="Google Shape;494;p43"/>
          <p:cNvSpPr txBox="1"/>
          <p:nvPr>
            <p:ph idx="1" type="body"/>
          </p:nvPr>
        </p:nvSpPr>
        <p:spPr>
          <a:xfrm>
            <a:off x="1303800" y="1990050"/>
            <a:ext cx="25662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 can retrieve extra information by performing dashboard interaction, e.g. Hover/Click.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 goal: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To select the points with the same customer Id.</a:t>
            </a:r>
            <a:endParaRPr/>
          </a:p>
        </p:txBody>
      </p:sp>
      <p:pic>
        <p:nvPicPr>
          <p:cNvPr id="495" name="Google Shape;49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0725" y="1147275"/>
            <a:ext cx="5083275" cy="399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interaction</a:t>
            </a:r>
            <a:endParaRPr/>
          </a:p>
        </p:txBody>
      </p:sp>
      <p:pic>
        <p:nvPicPr>
          <p:cNvPr id="501" name="Google Shape;50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525" y="1647575"/>
            <a:ext cx="3668075" cy="270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4550" y="1540875"/>
            <a:ext cx="4088949" cy="2944575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44"/>
          <p:cNvSpPr/>
          <p:nvPr/>
        </p:nvSpPr>
        <p:spPr>
          <a:xfrm>
            <a:off x="4100225" y="2936725"/>
            <a:ext cx="822000" cy="41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interaction</a:t>
            </a:r>
            <a:endParaRPr/>
          </a:p>
        </p:txBody>
      </p:sp>
      <p:pic>
        <p:nvPicPr>
          <p:cNvPr id="509" name="Google Shape;50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6700" y="284763"/>
            <a:ext cx="3403250" cy="4573975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45"/>
          <p:cNvSpPr/>
          <p:nvPr/>
        </p:nvSpPr>
        <p:spPr>
          <a:xfrm>
            <a:off x="5539475" y="1113025"/>
            <a:ext cx="2979600" cy="999300"/>
          </a:xfrm>
          <a:prstGeom prst="roundRect">
            <a:avLst>
              <a:gd fmla="val 10282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11" name="Google Shape;511;p45"/>
          <p:cNvSpPr txBox="1"/>
          <p:nvPr/>
        </p:nvSpPr>
        <p:spPr>
          <a:xfrm>
            <a:off x="547975" y="1481200"/>
            <a:ext cx="493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Trigger by:</a:t>
            </a:r>
            <a:endParaRPr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2" name="Google Shape;512;p45"/>
          <p:cNvSpPr txBox="1"/>
          <p:nvPr/>
        </p:nvSpPr>
        <p:spPr>
          <a:xfrm>
            <a:off x="547975" y="3046300"/>
            <a:ext cx="493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Perform action on:</a:t>
            </a:r>
            <a:endParaRPr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3" name="Google Shape;513;p45"/>
          <p:cNvSpPr/>
          <p:nvPr/>
        </p:nvSpPr>
        <p:spPr>
          <a:xfrm>
            <a:off x="5539475" y="2166125"/>
            <a:ext cx="3403200" cy="2311500"/>
          </a:xfrm>
          <a:prstGeom prst="roundRect">
            <a:avLst>
              <a:gd fmla="val 3704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