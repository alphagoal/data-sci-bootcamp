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embeddedFontLst>
    <p:embeddedFont>
      <p:font typeface="Nunito"/>
      <p:regular r:id="rId50"/>
      <p:bold r:id="rId51"/>
      <p:italic r:id="rId52"/>
      <p:boldItalic r:id="rId53"/>
    </p:embeddedFont>
    <p:embeddedFont>
      <p:font typeface="Maven Pro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4F90BB-AED0-4225-806A-B845611015B1}">
  <a:tblStyle styleId="{AC4F90BB-AED0-4225-806A-B845611015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-bold.fntdata"/><Relationship Id="rId50" Type="http://schemas.openxmlformats.org/officeDocument/2006/relationships/font" Target="fonts/Nunito-regular.fntdata"/><Relationship Id="rId53" Type="http://schemas.openxmlformats.org/officeDocument/2006/relationships/font" Target="fonts/Nunito-boldItalic.fntdata"/><Relationship Id="rId52" Type="http://schemas.openxmlformats.org/officeDocument/2006/relationships/font" Target="fonts/Nunito-italic.fntdata"/><Relationship Id="rId11" Type="http://schemas.openxmlformats.org/officeDocument/2006/relationships/slide" Target="slides/slide5.xml"/><Relationship Id="rId55" Type="http://schemas.openxmlformats.org/officeDocument/2006/relationships/font" Target="fonts/MavenPro-bold.fntdata"/><Relationship Id="rId10" Type="http://schemas.openxmlformats.org/officeDocument/2006/relationships/slide" Target="slides/slide4.xml"/><Relationship Id="rId54" Type="http://schemas.openxmlformats.org/officeDocument/2006/relationships/font" Target="fonts/MavenPr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6127f4c1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6127f4c1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6127f4c1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16127f4c1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127f4c17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127f4c17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6127f4c1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6127f4c1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6127f4c17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16127f4c17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6127f4c17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6127f4c17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16127f4c17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16127f4c17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6127f4c17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16127f4c17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6127f4c17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6127f4c17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6127f4c17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6127f4c1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6127f4c17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6127f4c17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6127f4c17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16127f4c17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6127f4c17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16127f4c17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16127f4c17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16127f4c17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16127f4c17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16127f4c17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cbfd5cd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cbfd5cd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16127f4c17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16127f4c17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16127f4c17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16127f4c17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16127f4c17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16127f4c17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6127f4c17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16127f4c17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16127f4c17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16127f4c17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6127f4c17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16127f4c17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16127f4c17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16127f4c17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16127f4c17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16127f4c17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6127f4c17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16127f4c17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6127f4c17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6127f4c17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6127f4c17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16127f4c17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16127f4c17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16127f4c17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6127f4c17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6127f4c17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6127f4c17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16127f4c17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6127f4c17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16127f4c17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16127f4c17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16127f4c17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6127f4c17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6127f4c17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6127f4c17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6127f4c17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16127f4c17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16127f4c17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6127f4c17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6127f4c17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16127f4c17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16127f4c17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16127f4c17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16127f4c17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16127f4c17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16127f4c17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16127f4c17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16127f4c17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6127f4c17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6127f4c17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16127f4c17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16127f4c17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codepoints.net/U+6B6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mn178.github.io/online-tools/sha256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hangseng.com/" TargetMode="External"/><Relationship Id="rId4" Type="http://schemas.openxmlformats.org/officeDocument/2006/relationships/hyperlink" Target="https://decoder.link/resul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 &gt;&gt;&gt; Bits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is human stuff.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is computer stuff.</a:t>
            </a:r>
            <a:endParaRPr/>
          </a:p>
        </p:txBody>
      </p:sp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1303800" y="1990050"/>
            <a:ext cx="70305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a mapping standard (Encoding) to convert the two ideas.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ASCII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UTF8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Big5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Latin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……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Text  -------------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-------------&gt;  Bits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Text  &lt;------------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decode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--------------  Bits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(type: String)                              (type: Bytes)</a:t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583950" y="1544750"/>
            <a:ext cx="2225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https://upload.wikimedia.org/wikipedia/commons/d/dd/ASCII-Table.svg</a:t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54" y="0"/>
            <a:ext cx="633434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6"/>
          <p:cNvSpPr txBox="1"/>
          <p:nvPr/>
        </p:nvSpPr>
        <p:spPr>
          <a:xfrm>
            <a:off x="617700" y="3191975"/>
            <a:ext cx="2158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Task: Decode the following bits by ASCII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010000110111001001111001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5085600" y="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8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UTF-8</a:t>
            </a:r>
            <a:endParaRPr/>
          </a:p>
        </p:txBody>
      </p:sp>
      <p:pic>
        <p:nvPicPr>
          <p:cNvPr id="303" name="Google Shape;3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525" y="1417450"/>
            <a:ext cx="7330951" cy="23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906525" y="3968275"/>
            <a:ext cx="421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What bits encode into the character: 正 ?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Check it in: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https://codepoints.net/U+6B63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5085600" y="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8~32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679525"/>
            <a:ext cx="7030500" cy="4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/>
              <a:t>ASCII</a:t>
            </a:r>
            <a:r>
              <a:rPr lang="en" sz="2200"/>
              <a:t> and </a:t>
            </a:r>
            <a:r>
              <a:rPr lang="en" sz="2200" u="sng"/>
              <a:t>UTF-8</a:t>
            </a:r>
            <a:r>
              <a:rPr lang="en" sz="2200"/>
              <a:t> are encodings for daily text usage.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They exist to solve the problem: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u="sng"/>
              <a:t>How to represent </a:t>
            </a:r>
            <a:r>
              <a:rPr b="1" lang="en" sz="2200" u="sng"/>
              <a:t>characters</a:t>
            </a:r>
            <a:r>
              <a:rPr lang="en" sz="2200" u="sng"/>
              <a:t> with </a:t>
            </a:r>
            <a:r>
              <a:rPr b="1" lang="en" sz="2200" u="sng"/>
              <a:t>bits</a:t>
            </a:r>
            <a:r>
              <a:rPr lang="en" sz="2200" u="sng"/>
              <a:t>?</a:t>
            </a:r>
            <a:endParaRPr sz="22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But they are not good to solve the problem: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u="sng"/>
              <a:t>How to represent </a:t>
            </a:r>
            <a:r>
              <a:rPr b="1" lang="en" sz="2200" u="sng"/>
              <a:t>bits</a:t>
            </a:r>
            <a:r>
              <a:rPr lang="en" sz="2200" u="sng"/>
              <a:t> with </a:t>
            </a:r>
            <a:r>
              <a:rPr b="1" lang="en" sz="2200" u="sng"/>
              <a:t>characters</a:t>
            </a:r>
            <a:r>
              <a:rPr lang="en" sz="2200" u="sng"/>
              <a:t>?</a:t>
            </a:r>
            <a:endParaRPr sz="2200" u="sng"/>
          </a:p>
        </p:txBody>
      </p:sp>
      <p:sp>
        <p:nvSpPr>
          <p:cNvPr id="311" name="Google Shape;311;p18"/>
          <p:cNvSpPr txBox="1"/>
          <p:nvPr/>
        </p:nvSpPr>
        <p:spPr>
          <a:xfrm>
            <a:off x="7348850" y="1683950"/>
            <a:ext cx="88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Nunito"/>
                <a:ea typeface="Nunito"/>
                <a:cs typeface="Nunito"/>
                <a:sym typeface="Nunito"/>
              </a:rPr>
              <a:t>✅</a:t>
            </a:r>
            <a:endParaRPr sz="6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7348850" y="3442825"/>
            <a:ext cx="88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Nunito"/>
                <a:ea typeface="Nunito"/>
                <a:cs typeface="Nunito"/>
                <a:sym typeface="Nunito"/>
              </a:rPr>
              <a:t>❌</a:t>
            </a:r>
            <a:endParaRPr sz="6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</a:t>
            </a:r>
            <a:r>
              <a:rPr lang="en"/>
              <a:t>  &gt;&gt;&gt; 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open a text file and see:</a:t>
            </a:r>
            <a:endParaRPr/>
          </a:p>
        </p:txBody>
      </p:sp>
      <p:sp>
        <p:nvSpPr>
          <p:cNvPr id="323" name="Google Shape;323;p20"/>
          <p:cNvSpPr txBox="1"/>
          <p:nvPr>
            <p:ph idx="1" type="body"/>
          </p:nvPr>
        </p:nvSpPr>
        <p:spPr>
          <a:xfrm>
            <a:off x="1303800" y="16448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010000110100001011110000001101110011100100111100101000010000110111001001111001011011100100111100011110001100011110001100101100000110100001011100011110001100101100000110100001011110000001101110011100100111100101000010001100000011011100111001001111001010000100011100101101100110100101101100101101100101101111000111100011001011000001101000000000000000110111010001111000110010110000011010000101111000000110111001110010011110010100001000011100100111100101001000110000110001100101100000110100001011110000001101110011100100111100101000010000010000110111001000001111000110010110</a:t>
            </a:r>
            <a:endParaRPr/>
          </a:p>
        </p:txBody>
      </p:sp>
      <p:pic>
        <p:nvPicPr>
          <p:cNvPr id="324" name="Google Shape;3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500" y="4063327"/>
            <a:ext cx="1848626" cy="8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“Encoding” needed</a:t>
            </a:r>
            <a:endParaRPr/>
          </a:p>
        </p:txBody>
      </p:sp>
      <p:sp>
        <p:nvSpPr>
          <p:cNvPr id="330" name="Google Shape;330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use ASCII or UTF-8?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🙅‍♂️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ASCII or UTF-8 can turn every characters into bit, but not the other way around.</a:t>
            </a:r>
            <a:endParaRPr/>
          </a:p>
        </p:txBody>
      </p: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113" y="3525522"/>
            <a:ext cx="6335774" cy="11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Hex (Base16) encoding</a:t>
            </a:r>
            <a:endParaRPr/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0100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0011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0010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0111</a:t>
            </a: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300" u="sng">
                <a:latin typeface="Consolas"/>
                <a:ea typeface="Consolas"/>
                <a:cs typeface="Consolas"/>
                <a:sym typeface="Consolas"/>
              </a:rPr>
              <a:t>1001</a:t>
            </a:r>
            <a:endParaRPr sz="4700" u="sng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   4:3   :   7:2   :   7:9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805025"/>
            <a:ext cx="1718875" cy="5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4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Base64</a:t>
            </a:r>
            <a:r>
              <a:rPr lang="en"/>
              <a:t> encoding</a:t>
            </a:r>
            <a:endParaRPr/>
          </a:p>
        </p:txBody>
      </p:sp>
      <p:sp>
        <p:nvSpPr>
          <p:cNvPr id="345" name="Google Shape;345;p23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010000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110111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001001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3500" u="sng">
                <a:latin typeface="Consolas"/>
                <a:ea typeface="Consolas"/>
                <a:cs typeface="Consolas"/>
                <a:sym typeface="Consolas"/>
              </a:rPr>
              <a:t>111001</a:t>
            </a:r>
            <a:endParaRPr sz="4900" u="sng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   Q  :   3  :   J  :   5</a:t>
            </a:r>
            <a:endParaRPr sz="3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6 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7" name="Google Shape;3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917525"/>
            <a:ext cx="6096501" cy="5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Base58 encoding</a:t>
            </a:r>
            <a:endParaRPr/>
          </a:p>
        </p:txBody>
      </p:sp>
      <p:sp>
        <p:nvSpPr>
          <p:cNvPr id="353" name="Google Shape;353;p24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rg =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0b010000110111001001111001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rg % 58 → 37 → e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      org // 58 % 58 → 56 → 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    org // 58 // 58 % 58 → 37 → e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org // 58 // 58 // 58 % 58 → 22 → P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1303800" y="4410725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*Every </a:t>
            </a: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≈5.858 </a:t>
            </a: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bits are encoded into 1 character.</a:t>
            </a:r>
            <a:endParaRPr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5" name="Google Shape;3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3909250"/>
            <a:ext cx="6009825" cy="4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Efficiency</a:t>
            </a:r>
            <a:endParaRPr/>
          </a:p>
        </p:txBody>
      </p:sp>
      <p:graphicFrame>
        <p:nvGraphicFramePr>
          <p:cNvPr id="361" name="Google Shape;361;p25"/>
          <p:cNvGraphicFramePr/>
          <p:nvPr/>
        </p:nvGraphicFramePr>
        <p:xfrm>
          <a:off x="952500" y="171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{AC4F90BB-AED0-4225-806A-B845611015B1}</a:tableStyleId>
              </a:tblPr>
              <a:tblGrid>
                <a:gridCol w="1243400"/>
                <a:gridCol w="2011375"/>
                <a:gridCol w="398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Encoding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Character Set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Efficiency 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(Number of bits per character/8)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Hex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[0-9A-F]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50%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64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[0-9a-zA-Z+/]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75%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58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[0-9a-zA-Z] exclude 0,O,I,l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73%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 85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[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0-9a-zA-Z]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and symbols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!#$%&amp;()*+-;&lt;=&gt;?@^_`{|}~]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80%</a:t>
                      </a:r>
                      <a:endParaRPr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Bytes in python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integer creation</a:t>
            </a:r>
            <a:endParaRPr/>
          </a:p>
        </p:txBody>
      </p:sp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503675"/>
            <a:ext cx="1754367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/>
        </p:nvSpPr>
        <p:spPr>
          <a:xfrm>
            <a:off x="4417775" y="1747375"/>
            <a:ext cx="405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python, we use the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prefixes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0b : Binary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0o : Octal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0x : Hexadecimal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bytes creation</a:t>
            </a:r>
            <a:endParaRPr/>
          </a:p>
        </p:txBody>
      </p:sp>
      <p:pic>
        <p:nvPicPr>
          <p:cNvPr id="379" name="Google Shape;3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913" y="1461400"/>
            <a:ext cx="7230187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</a:t>
            </a:r>
            <a:endParaRPr/>
          </a:p>
        </p:txBody>
      </p:sp>
      <p:sp>
        <p:nvSpPr>
          <p:cNvPr id="390" name="Google Shape;390;p30"/>
          <p:cNvSpPr txBox="1"/>
          <p:nvPr>
            <p:ph idx="1" type="body"/>
          </p:nvPr>
        </p:nvSpPr>
        <p:spPr>
          <a:xfrm>
            <a:off x="1303800" y="1627600"/>
            <a:ext cx="7030500" cy="29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u="sng"/>
              <a:t>one-way</a:t>
            </a:r>
            <a:r>
              <a:rPr lang="en"/>
              <a:t> mapping from bits of </a:t>
            </a:r>
            <a:r>
              <a:rPr i="1" lang="en"/>
              <a:t>variable</a:t>
            </a:r>
            <a:r>
              <a:rPr lang="en"/>
              <a:t> length into </a:t>
            </a:r>
            <a:r>
              <a:rPr i="1" lang="en"/>
              <a:t>fixed</a:t>
            </a:r>
            <a:r>
              <a:rPr lang="en"/>
              <a:t> length bits.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Popular algorithms: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MD family: MD5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 family: SHA-0, SHA-1, SHA-2, SHA-3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common algorithms are SHA-256 (under SHA-2 umbrella), SHA3-256 (</a:t>
            </a:r>
            <a:r>
              <a:rPr lang="en"/>
              <a:t>under SHA-3 umbrella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 it out: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https://emn178.github.io/online-tools/sha256.html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Password storage</a:t>
            </a:r>
            <a:endParaRPr/>
          </a:p>
        </p:txBody>
      </p:sp>
      <p:graphicFrame>
        <p:nvGraphicFramePr>
          <p:cNvPr id="396" name="Google Shape;396;p31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{AC4F90BB-AED0-4225-806A-B845611015B1}</a:tableStyleId>
              </a:tblPr>
              <a:tblGrid>
                <a:gridCol w="382850"/>
                <a:gridCol w="2353850"/>
              </a:tblGrid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password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bob123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cat456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dan789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7" name="Google Shape;397;p31"/>
          <p:cNvSpPr txBox="1"/>
          <p:nvPr/>
        </p:nvSpPr>
        <p:spPr>
          <a:xfrm>
            <a:off x="4388850" y="3092100"/>
            <a:ext cx="3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398" name="Google Shape;398;p31"/>
          <p:cNvGraphicFramePr/>
          <p:nvPr/>
        </p:nvGraphicFramePr>
        <p:xfrm>
          <a:off x="54548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{AC4F90BB-AED0-4225-806A-B845611015B1}</a:tableStyleId>
              </a:tblPr>
              <a:tblGrid>
                <a:gridCol w="382850"/>
                <a:gridCol w="2353850"/>
              </a:tblGrid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password_crc32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09ba6a26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3144af02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74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34b2f5c4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Checksum</a:t>
            </a:r>
            <a:endParaRPr/>
          </a:p>
        </p:txBody>
      </p:sp>
      <p:pic>
        <p:nvPicPr>
          <p:cNvPr id="404" name="Google Shape;4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25" y="1597875"/>
            <a:ext cx="5168557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650" y="2208063"/>
            <a:ext cx="42100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mapping</a:t>
            </a:r>
            <a:endParaRPr/>
          </a:p>
        </p:txBody>
      </p:sp>
      <p:sp>
        <p:nvSpPr>
          <p:cNvPr id="411" name="Google Shape;411;p33"/>
          <p:cNvSpPr txBox="1"/>
          <p:nvPr>
            <p:ph idx="1" type="body"/>
          </p:nvPr>
        </p:nvSpPr>
        <p:spPr>
          <a:xfrm>
            <a:off x="884400" y="1933700"/>
            <a:ext cx="7869300" cy="28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hash values can be computed and stored in a dictionary.  There are some online services serving these know reverse mappings.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“ba7816bf8f01cfea414140de5dae2223b00361a396177a9cb410ff61f20015ad” is a sha256 hash for a particular string, what is 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Salting</a:t>
            </a:r>
            <a:endParaRPr/>
          </a:p>
        </p:txBody>
      </p:sp>
      <p:sp>
        <p:nvSpPr>
          <p:cNvPr id="417" name="Google Shape;417;p3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To prevent such attack, websites often add salt into original value before hashing.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s</a:t>
            </a:r>
            <a:r>
              <a:rPr lang="en" sz="1700"/>
              <a:t>alt = “</a:t>
            </a:r>
            <a:r>
              <a:rPr lang="en" sz="1700"/>
              <a:t>YIsnVR0jqgv1CXM3</a:t>
            </a:r>
            <a:r>
              <a:rPr lang="en" sz="1700"/>
              <a:t>”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stored_value = sha256(“</a:t>
            </a:r>
            <a:r>
              <a:rPr lang="en" sz="1700"/>
              <a:t>a</a:t>
            </a:r>
            <a:r>
              <a:rPr lang="en" sz="1700"/>
              <a:t>bc” + salt)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 Encryption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AES</a:t>
            </a:r>
            <a:endParaRPr/>
          </a:p>
        </p:txBody>
      </p:sp>
      <p:sp>
        <p:nvSpPr>
          <p:cNvPr id="428" name="Google Shape;428;p36"/>
          <p:cNvSpPr txBox="1"/>
          <p:nvPr>
            <p:ph idx="1" type="body"/>
          </p:nvPr>
        </p:nvSpPr>
        <p:spPr>
          <a:xfrm>
            <a:off x="3487725" y="424350"/>
            <a:ext cx="5221200" cy="42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Crypto.Cipher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Crypto.Random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get_random_bytes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key = get_random_bytes(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iv = get_random_bytes(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 = AES.new(key, AES.MODE_EAX, iv)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 = </a:t>
            </a:r>
            <a:r>
              <a:rPr lang="en">
                <a:solidFill>
                  <a:srgbClr val="8A822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b"I love you."</a:t>
            </a:r>
            <a:endParaRPr>
              <a:solidFill>
                <a:srgbClr val="8A822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encrypted =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.encrypt(message)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AES.new(key, AES.MODE_EAX, iv)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aes_obj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.decrypt(encrypted))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29" name="Google Shape;4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803250"/>
            <a:ext cx="14097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</a:t>
            </a:r>
            <a:r>
              <a:rPr lang="en"/>
              <a:t>ymmetric Encryption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RSA</a:t>
            </a:r>
            <a:endParaRPr/>
          </a:p>
        </p:txBody>
      </p:sp>
      <p:sp>
        <p:nvSpPr>
          <p:cNvPr id="440" name="Google Shape;440;p38"/>
          <p:cNvSpPr txBox="1"/>
          <p:nvPr>
            <p:ph idx="1" type="body"/>
          </p:nvPr>
        </p:nvSpPr>
        <p:spPr>
          <a:xfrm>
            <a:off x="1258850" y="20157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public key of RSA is two numbers: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Modulus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Exponent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encrypt the message we calculate: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encrypted = message ^ exponent % modulus</a:t>
            </a:r>
            <a:endParaRPr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decrypt the message we calculate: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original_message = encrypted ^ private_key % modulus</a:t>
            </a:r>
            <a:endParaRPr>
              <a:highlight>
                <a:schemeClr val="accent4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Inspect the certificate of this website, find out its certificate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https://www.hangseng.com/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https://decoder.link/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verification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(Digital signature)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RSA</a:t>
            </a:r>
            <a:endParaRPr/>
          </a:p>
        </p:txBody>
      </p:sp>
      <p:sp>
        <p:nvSpPr>
          <p:cNvPr id="456" name="Google Shape;456;p4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sign a message: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</a:rPr>
              <a:t>signature</a:t>
            </a:r>
            <a:r>
              <a:rPr lang="en">
                <a:highlight>
                  <a:schemeClr val="accent4"/>
                </a:highlight>
              </a:rPr>
              <a:t> = </a:t>
            </a: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message ^ private_key % modulus</a:t>
            </a:r>
            <a:endParaRPr>
              <a:highlight>
                <a:schemeClr val="accent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verify a message: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4"/>
                </a:highlight>
              </a:rPr>
              <a:t>signature</a:t>
            </a:r>
            <a:r>
              <a:rPr lang="en"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 ^ exponent % modulus ==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ECDSA</a:t>
            </a:r>
            <a:endParaRPr/>
          </a:p>
        </p:txBody>
      </p:sp>
      <p:sp>
        <p:nvSpPr>
          <p:cNvPr id="462" name="Google Shape;462;p4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signature algorithm is based on Elliptic Curve, which has very</a:t>
            </a:r>
            <a:r>
              <a:rPr lang="en"/>
              <a:t> special</a:t>
            </a:r>
            <a:r>
              <a:rPr lang="en"/>
              <a:t> mathematical properties.  (Under a mathematical domain: Number Theory)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ECDSA is known to be faster and more secure than RSA.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Elliptic curves</a:t>
            </a:r>
            <a:endParaRPr/>
          </a:p>
        </p:txBody>
      </p:sp>
      <p:sp>
        <p:nvSpPr>
          <p:cNvPr id="468" name="Google Shape;468;p43"/>
          <p:cNvSpPr txBox="1"/>
          <p:nvPr>
            <p:ph idx="1" type="body"/>
          </p:nvPr>
        </p:nvSpPr>
        <p:spPr>
          <a:xfrm>
            <a:off x="1303800" y="1990050"/>
            <a:ext cx="3388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Elliptic curves share the same formula: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baseline="30000" lang="en"/>
              <a:t>2</a:t>
            </a:r>
            <a:r>
              <a:rPr lang="en"/>
              <a:t> = x</a:t>
            </a:r>
            <a:r>
              <a:rPr baseline="30000" lang="en"/>
              <a:t>3</a:t>
            </a:r>
            <a:r>
              <a:rPr lang="en"/>
              <a:t> + ax +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out all standard curves: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openssl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ecparam -list_curves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950" y="488201"/>
            <a:ext cx="4182125" cy="40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Strength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</a:t>
            </a:r>
            <a:endParaRPr/>
          </a:p>
        </p:txBody>
      </p:sp>
      <p:pic>
        <p:nvPicPr>
          <p:cNvPr id="480" name="Google Shape;4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838" y="1597875"/>
            <a:ext cx="6562326" cy="23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5"/>
          <p:cNvSpPr txBox="1"/>
          <p:nvPr/>
        </p:nvSpPr>
        <p:spPr>
          <a:xfrm>
            <a:off x="1290900" y="4234600"/>
            <a:ext cx="656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https://www.ndss-symposium.org/wp-content/uploads/2017/09/Speeding-up-Secure-Web-Transactions-Using-Elliptic-Curve-Cryptography-Vipul-Gupta.pdf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2" name="Google Shape;482;p45"/>
          <p:cNvSpPr txBox="1"/>
          <p:nvPr/>
        </p:nvSpPr>
        <p:spPr>
          <a:xfrm>
            <a:off x="6059475" y="1007550"/>
            <a:ext cx="298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*Paper published in 2004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SSL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SSL</a:t>
            </a:r>
            <a:endParaRPr/>
          </a:p>
        </p:txBody>
      </p:sp>
      <p:sp>
        <p:nvSpPr>
          <p:cNvPr id="493" name="Google Shape;493;p47"/>
          <p:cNvSpPr txBox="1"/>
          <p:nvPr>
            <p:ph idx="1" type="body"/>
          </p:nvPr>
        </p:nvSpPr>
        <p:spPr>
          <a:xfrm>
            <a:off x="318600" y="1894100"/>
            <a:ext cx="3099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tasks in SSL: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Verify peer’s identity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Encrypt the data transmitted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Confirm data integrity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agreement is called a</a:t>
            </a:r>
            <a:r>
              <a:rPr lang="en"/>
              <a:t> </a:t>
            </a:r>
            <a:r>
              <a:rPr lang="en" u="sng"/>
              <a:t>Cipher</a:t>
            </a:r>
            <a:r>
              <a:rPr lang="en"/>
              <a:t>.</a:t>
            </a:r>
            <a:endParaRPr/>
          </a:p>
        </p:txBody>
      </p:sp>
      <p:pic>
        <p:nvPicPr>
          <p:cNvPr id="494" name="Google Shape;4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500" y="835975"/>
            <a:ext cx="5630700" cy="39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7"/>
          <p:cNvSpPr/>
          <p:nvPr/>
        </p:nvSpPr>
        <p:spPr>
          <a:xfrm>
            <a:off x="6030675" y="2935200"/>
            <a:ext cx="2074800" cy="25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SSL Handshake</a:t>
            </a:r>
            <a:endParaRPr/>
          </a:p>
        </p:txBody>
      </p:sp>
      <p:sp>
        <p:nvSpPr>
          <p:cNvPr id="501" name="Google Shape;501;p4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connected, client and server need to agree on a communication agreement.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very important part is </a:t>
            </a:r>
            <a:r>
              <a:rPr b="1" lang="en"/>
              <a:t>Key Exchange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Although RSA has the </a:t>
            </a:r>
            <a:r>
              <a:rPr lang="en"/>
              <a:t>capability to encrypt and decrypt messages, it has limited message size. I.e. It cannot encrypt the whole http body to be sent.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Solution: </a:t>
            </a:r>
            <a:r>
              <a:rPr lang="en" u="sng"/>
              <a:t>Exchange a key for use in subsequent symmetric encryption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Exchange</a:t>
            </a:r>
            <a:endParaRPr/>
          </a:p>
        </p:txBody>
      </p:sp>
      <p:sp>
        <p:nvSpPr>
          <p:cNvPr id="507" name="Google Shape;507;p49"/>
          <p:cNvSpPr txBox="1"/>
          <p:nvPr>
            <p:ph idx="1" type="body"/>
          </p:nvPr>
        </p:nvSpPr>
        <p:spPr>
          <a:xfrm>
            <a:off x="1303800" y="1683975"/>
            <a:ext cx="7030500" cy="28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RSA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An AES key is decided by the client, then encrypt it using the server’s public key.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The encrypted key is then send to server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Server decrypt the encrypted key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DH family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Each party create a pair of public-private key using an agreed formula.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Send the public part to their peer.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Calculate an AES key with itself’s private key and its peer’s public key.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https://en.wikipedia.org/wiki/Diffie%E2%80%93Hellman_key_exchange</a:t>
            </a:r>
            <a:endParaRPr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  <p:pic>
        <p:nvPicPr>
          <p:cNvPr id="513" name="Google Shape;5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050" y="1238000"/>
            <a:ext cx="3563724" cy="26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0"/>
          <p:cNvSpPr txBox="1"/>
          <p:nvPr>
            <p:ph idx="1" type="body"/>
          </p:nvPr>
        </p:nvSpPr>
        <p:spPr>
          <a:xfrm>
            <a:off x="1303800" y="1990050"/>
            <a:ext cx="35637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lang="en"/>
              <a:t>List of recommended ciphers in TLS1.3</a:t>
            </a:r>
            <a:endParaRPr/>
          </a:p>
          <a:p>
            <a:pPr indent="-298450" lvl="0" marL="457200" rtl="0" algn="l"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TLS_AES_256_GCM_SHA384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TLS_CHACHA20_POLY1305_SHA256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TLS_AES_128_GCM_SHA256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TLS_AES_128_CCM_8_SHA256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TLS_AES_128_CCM_SHA256</a:t>
            </a:r>
            <a:endParaRPr/>
          </a:p>
          <a:p>
            <a:pPr indent="0" lvl="0" marL="0" rtl="0" algn="l">
              <a:spcBef>
                <a:spcPts val="2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</a:t>
            </a:r>
            <a:endParaRPr/>
          </a:p>
        </p:txBody>
      </p:sp>
      <p:sp>
        <p:nvSpPr>
          <p:cNvPr id="520" name="Google Shape;520;p51"/>
          <p:cNvSpPr txBox="1"/>
          <p:nvPr>
            <p:ph idx="1" type="body"/>
          </p:nvPr>
        </p:nvSpPr>
        <p:spPr>
          <a:xfrm>
            <a:off x="1303800" y="1597875"/>
            <a:ext cx="67779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lang="en"/>
              <a:t>List of recommended ciphers in TLS1.2</a:t>
            </a:r>
            <a:endParaRPr/>
          </a:p>
          <a:p>
            <a:pPr indent="-298450" lvl="0" marL="457200" rtl="0" algn="l"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TLS_ECDHE_ECDSA_WITH_AES_256_GCM_SHA384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TLS_ECDHE_ECDSA_WITH_AES_128_CBC_SHA256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TLS_ECDHE_ECDSA_WITH_AES_256_CBC_SHA384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TLS_ECDHE_ECDSA_WITH_AES_128_CBC_SHA256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TLS_ECDHE_ECDSA_WITH_AES_256_CBC_SHA384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TLS_ECDHE_RSA_WITH_AES_128_GCM_SHA256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…. 37 in total</a:t>
            </a:r>
            <a:endParaRPr/>
          </a:p>
          <a:p>
            <a:pPr indent="0" lvl="0" marL="457200" rtl="0" algn="l">
              <a:spcBef>
                <a:spcPts val="2800"/>
              </a:spcBef>
              <a:spcAft>
                <a:spcPts val="2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</a:t>
            </a:r>
            <a:r>
              <a:rPr lang="en"/>
              <a:t>HMAC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HMAC</a:t>
            </a:r>
            <a:endParaRPr/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ash-based message authentication code. May be used to simultaneously verify both the data integrity and authenticity of a message.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Very similar to salted hash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password is “mixed” with the </a:t>
            </a:r>
            <a:r>
              <a:rPr lang="en"/>
              <a:t>original</a:t>
            </a:r>
            <a:r>
              <a:rPr lang="en"/>
              <a:t> message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hash is generated by the “mixture” of message and password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</a:t>
            </a:r>
            <a:r>
              <a:rPr lang="en"/>
              <a:t>JWT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</a:t>
            </a:r>
            <a:endParaRPr/>
          </a:p>
        </p:txBody>
      </p:sp>
      <p:sp>
        <p:nvSpPr>
          <p:cNvPr id="542" name="Google Shape;542;p55"/>
          <p:cNvSpPr txBox="1"/>
          <p:nvPr>
            <p:ph idx="1" type="body"/>
          </p:nvPr>
        </p:nvSpPr>
        <p:spPr>
          <a:xfrm>
            <a:off x="75500" y="1766125"/>
            <a:ext cx="3417000" cy="29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Web Token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token stores in cookies.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Carries </a:t>
            </a:r>
            <a:r>
              <a:rPr lang="en"/>
              <a:t>minimal information about the current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token carries a signature or HMAC which can verify the authenticity of the information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Replace the old-style session-based website serving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800" y="747501"/>
            <a:ext cx="5430024" cy="35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