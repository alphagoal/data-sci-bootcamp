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aven Pr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AE3B2C-2B9E-4440-93F5-2A27E37C1528}">
  <a:tblStyle styleId="{3FAE3B2C-2B9E-4440-93F5-2A27E37C15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3b8394846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3b8394846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08f4785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08f4785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03b839484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03b839484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03b8394846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03b8394846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03b8394846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03b8394846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03b8394846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03b8394846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03b839484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03b839484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3b8394846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3b8394846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03b8394846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03b8394846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03b8394846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03b8394846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03b839484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03b839484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03b8394846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03b8394846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7dc4a736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7dc4a736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7dc4a7367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7dc4a7367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7dc4a7367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7dc4a7367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and representation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pic>
        <p:nvPicPr>
          <p:cNvPr id="288" name="Google Shape;2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688" y="1397975"/>
            <a:ext cx="6214615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</p:txBody>
      </p:sp>
      <p:graphicFrame>
        <p:nvGraphicFramePr>
          <p:cNvPr id="294" name="Google Shape;294;p16"/>
          <p:cNvGraphicFramePr/>
          <p:nvPr/>
        </p:nvGraphicFramePr>
        <p:xfrm>
          <a:off x="1303800" y="1237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{3FAE3B2C-2B9E-4440-93F5-2A27E37C1528}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Bits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 10</a:t>
                      </a:r>
                      <a:r>
                        <a:rPr lang="en" sz="1300"/>
                        <a:t> (int3)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1’s complement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 10</a:t>
                      </a:r>
                      <a:r>
                        <a:rPr lang="en" sz="1300"/>
                        <a:t> (int3)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2’s complement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 10</a:t>
                      </a:r>
                      <a:r>
                        <a:rPr lang="en" sz="1300"/>
                        <a:t> (uint3)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000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001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010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011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100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-4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101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-3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110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111</a:t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</a:t>
            </a:r>
            <a:endParaRPr/>
          </a:p>
        </p:txBody>
      </p:sp>
      <p:sp>
        <p:nvSpPr>
          <p:cNvPr id="300" name="Google Shape;300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Q1. What is the max integer in Python?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Q2. What is a </a:t>
            </a:r>
            <a:r>
              <a:rPr lang="en" sz="1900" u="sng">
                <a:solidFill>
                  <a:srgbClr val="000000"/>
                </a:solidFill>
              </a:rPr>
              <a:t>long</a:t>
            </a:r>
            <a:r>
              <a:rPr lang="en" sz="1900">
                <a:solidFill>
                  <a:srgbClr val="000000"/>
                </a:solidFill>
              </a:rPr>
              <a:t> type?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</a:t>
            </a:r>
            <a:endParaRPr/>
          </a:p>
        </p:txBody>
      </p:sp>
      <p:pic>
        <p:nvPicPr>
          <p:cNvPr id="306" name="Google Shape;3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88" y="1797100"/>
            <a:ext cx="842962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8"/>
          <p:cNvSpPr txBox="1"/>
          <p:nvPr/>
        </p:nvSpPr>
        <p:spPr>
          <a:xfrm>
            <a:off x="564925" y="3462650"/>
            <a:ext cx="330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Exponent is int8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(Like unsigned, but starts from -127):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4+8+16+32+64 -127 = -3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4206325" y="3462650"/>
            <a:ext cx="28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Fraction: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.01)</a:t>
            </a:r>
            <a:r>
              <a:rPr baseline="-25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564925" y="4212150"/>
            <a:ext cx="66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(1.01)</a:t>
            </a:r>
            <a:r>
              <a:rPr baseline="-25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x 2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-3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(0.00101)</a:t>
            </a:r>
            <a:r>
              <a:rPr baseline="-25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2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-3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+ 2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-5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(0.15625)</a:t>
            </a:r>
            <a:r>
              <a:rPr baseline="-25000" lang="en">
                <a:latin typeface="Nunito"/>
                <a:ea typeface="Nunito"/>
                <a:cs typeface="Nunito"/>
                <a:sym typeface="Nunito"/>
              </a:rPr>
              <a:t>10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Address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527" y="0"/>
            <a:ext cx="68610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1"/>
          <p:cNvPicPr preferRelativeResize="0"/>
          <p:nvPr/>
        </p:nvPicPr>
        <p:blipFill rotWithShape="1">
          <a:blip r:embed="rId3">
            <a:alphaModFix/>
          </a:blip>
          <a:srcRect b="25624" l="0" r="0" t="39775"/>
          <a:stretch/>
        </p:blipFill>
        <p:spPr>
          <a:xfrm>
            <a:off x="1435325" y="921975"/>
            <a:ext cx="6861050" cy="17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/>
        </p:nvSpPr>
        <p:spPr>
          <a:xfrm>
            <a:off x="1200150" y="3216800"/>
            <a:ext cx="67437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What is contained in my_list (position 160)?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What is contained in my_int? (position 24)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What does the list in position 64 look like?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Nunito"/>
              <a:buAutoNum type="arabicPeriod"/>
            </a:pPr>
            <a:r>
              <a:rPr lang="en" sz="1900">
                <a:latin typeface="Nunito"/>
                <a:ea typeface="Nunito"/>
                <a:cs typeface="Nunito"/>
                <a:sym typeface="Nunito"/>
              </a:rPr>
              <a:t>Why does the index of a list begin with zero?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</a:rPr>
              <a:t>What is the difference between the following two commands?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[[] for _ in range(3)]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</a:pPr>
            <a:r>
              <a:rPr lang="en" sz="1900">
                <a:solidFill>
                  <a:srgbClr val="000000"/>
                </a:solidFill>
              </a:rPr>
              <a:t>[[]] * 3?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management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Create an object, and operate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mCat = CrazyCat()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mCat</a:t>
            </a: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.meow()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Then I set mCat to something else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mCat</a:t>
            </a: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1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Where is my crazy cat now?</a:t>
            </a:r>
            <a:endParaRPr sz="1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24"/>
          <p:cNvSpPr txBox="1"/>
          <p:nvPr>
            <p:ph type="title"/>
          </p:nvPr>
        </p:nvSpPr>
        <p:spPr>
          <a:xfrm>
            <a:off x="1303800" y="6454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Leak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</p:txBody>
      </p:sp>
      <p:graphicFrame>
        <p:nvGraphicFramePr>
          <p:cNvPr id="347" name="Google Shape;347;p25"/>
          <p:cNvGraphicFramePr/>
          <p:nvPr/>
        </p:nvGraphicFramePr>
        <p:xfrm>
          <a:off x="952500" y="149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{3FAE3B2C-2B9E-4440-93F5-2A27E37C1528}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Reference Counting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Garbage Collection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Every object created as a </a:t>
                      </a:r>
                      <a:r>
                        <a:rPr lang="en"/>
                        <a:t>reference</a:t>
                      </a:r>
                      <a:r>
                        <a:rPr lang="en"/>
                        <a:t> counter, counter +1 when an object is stored in a new variable, -1 when removed from a variable.  It is erased from memory when counter reaches 0.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Periodically check from programme root, confirm objects that is currently in use.  Objects not in use will be erased.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Suffer from circular referencing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1</a:t>
            </a:r>
            <a:endParaRPr/>
          </a:p>
        </p:txBody>
      </p:sp>
      <p:sp>
        <p:nvSpPr>
          <p:cNvPr id="358" name="Google Shape;358;p27"/>
          <p:cNvSpPr/>
          <p:nvPr/>
        </p:nvSpPr>
        <p:spPr>
          <a:xfrm>
            <a:off x="6250975" y="406050"/>
            <a:ext cx="2430300" cy="148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 neural network models like ChatGPT and Stable Diffusion, it is very common to see half-float.  Using half-float can reduce the model size by half (e.g. 6Gb → 3Gb).  However, half float arithmetics are supported </a:t>
            </a:r>
            <a:r>
              <a:rPr lang="en" sz="1000"/>
              <a:t>only</a:t>
            </a:r>
            <a:r>
              <a:rPr lang="en" sz="1000"/>
              <a:t> in GPU but not in CPU, that is why we seldom see them in daily programming.</a:t>
            </a:r>
            <a:endParaRPr sz="1000"/>
          </a:p>
        </p:txBody>
      </p:sp>
      <p:sp>
        <p:nvSpPr>
          <p:cNvPr id="359" name="Google Shape;359;p2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What is the meaning of int16, int32, int64?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What is the meaning of a 32-bit floating point number?  There exist other floating point numbers like: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Double precision floating point number (64 bit)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Half floating point (16 bit)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does the size of float affect programming?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In Python, integers are complex data structures, that is why it does NOT suffer from </a:t>
            </a:r>
            <a:r>
              <a:rPr b="1" lang="en"/>
              <a:t>Integer overflow</a:t>
            </a:r>
            <a:r>
              <a:rPr lang="en"/>
              <a:t>.  This is also one of the reason why Python programs in general runs 10 times slower than C programs.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2</a:t>
            </a:r>
            <a:endParaRPr/>
          </a:p>
        </p:txBody>
      </p:sp>
      <p:sp>
        <p:nvSpPr>
          <p:cNvPr id="365" name="Google Shape;365;p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describe a variable in Python?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container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pointer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Since a variable is</a:t>
            </a:r>
            <a:r>
              <a:rPr b="1" lang="en"/>
              <a:t> a pointer</a:t>
            </a:r>
            <a:r>
              <a:rPr lang="en"/>
              <a:t>, some properties thus exist: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Multiple variables referring to the same 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 list containing itself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Need to clean up objects that are no longer referred, otherwise memory-leak will happen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