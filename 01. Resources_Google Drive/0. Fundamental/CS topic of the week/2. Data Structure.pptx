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  <p:embeddedFont>
      <p:font typeface="Maven Pro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E9BDBF-1CD2-4784-B90B-0CB0E72ED298}">
  <a:tblStyle styleId="{70E9BDBF-1CD2-4784-B90B-0CB0E72ED2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MavenPro-bold.fntdata"/><Relationship Id="rId27" Type="http://schemas.openxmlformats.org/officeDocument/2006/relationships/font" Target="fonts/MavenPr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1943e0371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1943e0371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d1943e0371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d1943e0371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d1943e0371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d1943e0371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d1943e0371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d1943e0371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d1943e0371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d1943e0371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d1943e0371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d1943e0371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d1943e0371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d1943e0371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1943e0371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1943e0371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d1943e0371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d1943e0371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d1943e0371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d1943e0371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d1943e0371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d1943e0371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d1943e0371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d1943e0371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d1943e0371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d1943e0371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d1943e0371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d1943e0371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d1943e0371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d1943e0371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python/cpython/blob/main/Objects/dictobject.c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</a:t>
            </a:r>
            <a:endParaRPr/>
          </a:p>
        </p:txBody>
      </p:sp>
      <p:sp>
        <p:nvSpPr>
          <p:cNvPr id="288" name="Google Shape;288;p15"/>
          <p:cNvSpPr txBox="1"/>
          <p:nvPr>
            <p:ph idx="1" type="body"/>
          </p:nvPr>
        </p:nvSpPr>
        <p:spPr>
          <a:xfrm>
            <a:off x="1303800" y="2240250"/>
            <a:ext cx="3191400" cy="22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simplest composite type.  Items can be looked up easily by calculating the memory address from the index.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Eg. myList is located at memory address 100, then myList[10] is at memory address 100 + 8 * 10 = 180.</a:t>
            </a:r>
            <a:endParaRPr/>
          </a:p>
        </p:txBody>
      </p:sp>
      <p:graphicFrame>
        <p:nvGraphicFramePr>
          <p:cNvPr id="289" name="Google Shape;289;p15"/>
          <p:cNvGraphicFramePr/>
          <p:nvPr/>
        </p:nvGraphicFramePr>
        <p:xfrm>
          <a:off x="952500" y="160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{70E9BDBF-1CD2-4784-B90B-0CB0E72ED298}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Value 1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Value 2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Value 3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Value 4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5000100" y="2240250"/>
            <a:ext cx="3191400" cy="22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Note: The values are usually pointers in modern languages.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</a:t>
            </a:r>
            <a:r>
              <a:rPr lang="en"/>
              <a:t>ist</a:t>
            </a:r>
            <a:endParaRPr/>
          </a:p>
        </p:txBody>
      </p:sp>
      <p:sp>
        <p:nvSpPr>
          <p:cNvPr id="301" name="Google Shape;301;p17"/>
          <p:cNvSpPr txBox="1"/>
          <p:nvPr>
            <p:ph idx="1" type="body"/>
          </p:nvPr>
        </p:nvSpPr>
        <p:spPr>
          <a:xfrm>
            <a:off x="1303800" y="2240250"/>
            <a:ext cx="3191400" cy="22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linked list is formed by nodes.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node is simply an object with data and a pointer to the next node.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Variations include </a:t>
            </a:r>
            <a:r>
              <a:rPr lang="en" u="sng"/>
              <a:t>doubly linked list</a:t>
            </a:r>
            <a:r>
              <a:rPr lang="en"/>
              <a:t>, </a:t>
            </a:r>
            <a:r>
              <a:rPr lang="en" u="sng"/>
              <a:t>circular linked list</a:t>
            </a:r>
            <a:r>
              <a:rPr lang="en"/>
              <a:t>.</a:t>
            </a:r>
            <a:endParaRPr/>
          </a:p>
        </p:txBody>
      </p:sp>
      <p:pic>
        <p:nvPicPr>
          <p:cNvPr id="302" name="Google Shape;3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350" y="278702"/>
            <a:ext cx="5505425" cy="18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661798"/>
            <a:ext cx="3876850" cy="171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 vs classic array</a:t>
            </a:r>
            <a:endParaRPr/>
          </a:p>
        </p:txBody>
      </p:sp>
      <p:graphicFrame>
        <p:nvGraphicFramePr>
          <p:cNvPr id="309" name="Google Shape;309;p18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{70E9BDBF-1CD2-4784-B90B-0CB0E72ED298}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Operations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Linked list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Classic array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Insert/Remove items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Simply adjust the “next” pointer.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Need to move every item after the insertion/deletion index.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Access an item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Need to iterate from the head.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No iteration is needed.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Memory usage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More memory is used to store the objects and the “next” pointers.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Nunito"/>
                          <a:ea typeface="Nunito"/>
                          <a:cs typeface="Nunito"/>
                          <a:sym typeface="Nunito"/>
                        </a:rPr>
                        <a:t>Minimal memory usage.</a:t>
                      </a:r>
                      <a:endParaRPr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 and Stack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</a:t>
            </a:r>
            <a:endParaRPr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1303800" y="2240250"/>
            <a:ext cx="3191400" cy="22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list that supports “First in first out”.</a:t>
            </a:r>
            <a:endParaRPr/>
          </a:p>
        </p:txBody>
      </p:sp>
      <p:pic>
        <p:nvPicPr>
          <p:cNvPr id="321" name="Google Shape;3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3925" y="880850"/>
            <a:ext cx="3350374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  <p:sp>
        <p:nvSpPr>
          <p:cNvPr id="327" name="Google Shape;327;p21"/>
          <p:cNvSpPr txBox="1"/>
          <p:nvPr>
            <p:ph idx="1" type="body"/>
          </p:nvPr>
        </p:nvSpPr>
        <p:spPr>
          <a:xfrm>
            <a:off x="1303800" y="2240250"/>
            <a:ext cx="3191400" cy="22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list that supports “First in last out”.</a:t>
            </a:r>
            <a:endParaRPr/>
          </a:p>
        </p:txBody>
      </p:sp>
      <p:pic>
        <p:nvPicPr>
          <p:cNvPr id="328" name="Google Shape;3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9300" y="951338"/>
            <a:ext cx="3474988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table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table</a:t>
            </a:r>
            <a:endParaRPr/>
          </a:p>
        </p:txBody>
      </p:sp>
      <p:sp>
        <p:nvSpPr>
          <p:cNvPr id="339" name="Google Shape;339;p23"/>
          <p:cNvSpPr txBox="1"/>
          <p:nvPr>
            <p:ph idx="1" type="body"/>
          </p:nvPr>
        </p:nvSpPr>
        <p:spPr>
          <a:xfrm>
            <a:off x="1303800" y="1990050"/>
            <a:ext cx="31914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Underlying a hash table, there is a list to store values.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Imagine it is a list of “Buckets”.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Hash function create a number for a given key.  Such number is the index of the value location.</a:t>
            </a:r>
            <a:endParaRPr/>
          </a:p>
        </p:txBody>
      </p:sp>
      <p:pic>
        <p:nvPicPr>
          <p:cNvPr id="340" name="Google Shape;3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950" y="987525"/>
            <a:ext cx="4344000" cy="3168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collision</a:t>
            </a:r>
            <a:endParaRPr/>
          </a:p>
        </p:txBody>
      </p:sp>
      <p:pic>
        <p:nvPicPr>
          <p:cNvPr id="346" name="Google Shape;3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9600" y="1750275"/>
            <a:ext cx="5742000" cy="28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4"/>
          <p:cNvSpPr txBox="1"/>
          <p:nvPr>
            <p:ph idx="1" type="body"/>
          </p:nvPr>
        </p:nvSpPr>
        <p:spPr>
          <a:xfrm>
            <a:off x="209300" y="1990050"/>
            <a:ext cx="3096300" cy="28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very common to have hash collision where two different keys are mapped to the same index.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[Separate chaining]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collision happens, records are chained up in a linked list.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collision</a:t>
            </a:r>
            <a:endParaRPr/>
          </a:p>
        </p:txBody>
      </p:sp>
      <p:sp>
        <p:nvSpPr>
          <p:cNvPr id="353" name="Google Shape;353;p25"/>
          <p:cNvSpPr txBox="1"/>
          <p:nvPr>
            <p:ph idx="1" type="body"/>
          </p:nvPr>
        </p:nvSpPr>
        <p:spPr>
          <a:xfrm>
            <a:off x="1303800" y="1990050"/>
            <a:ext cx="3096300" cy="28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[Open addressing</a:t>
            </a:r>
            <a:r>
              <a:rPr lang="en"/>
              <a:t>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collision happens, the algorithm search down the list for an empty slot</a:t>
            </a:r>
            <a:endParaRPr/>
          </a:p>
        </p:txBody>
      </p:sp>
      <p:pic>
        <p:nvPicPr>
          <p:cNvPr id="354" name="Google Shape;3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2450" y="1157275"/>
            <a:ext cx="3731858" cy="324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dictionary implementation</a:t>
            </a:r>
            <a:endParaRPr/>
          </a:p>
        </p:txBody>
      </p:sp>
      <p:sp>
        <p:nvSpPr>
          <p:cNvPr id="360" name="Google Shape;360;p2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https://github.com/python/cpython/blob/main/Objects/dictobject.c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7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ree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</p:txBody>
      </p:sp>
      <p:pic>
        <p:nvPicPr>
          <p:cNvPr id="371" name="Google Shape;3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225" y="2174900"/>
            <a:ext cx="23431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6925" y="820525"/>
            <a:ext cx="3570298" cy="324082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8"/>
          <p:cNvSpPr txBox="1"/>
          <p:nvPr/>
        </p:nvSpPr>
        <p:spPr>
          <a:xfrm>
            <a:off x="1940075" y="4385325"/>
            <a:ext cx="12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Binary Tree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4" name="Google Shape;374;p28"/>
          <p:cNvSpPr txBox="1"/>
          <p:nvPr/>
        </p:nvSpPr>
        <p:spPr>
          <a:xfrm>
            <a:off x="6007075" y="4385325"/>
            <a:ext cx="12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N-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ary Tree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