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Nunito"/>
      <p:regular r:id="rId31"/>
      <p:bold r:id="rId32"/>
      <p:italic r:id="rId33"/>
      <p:boldItalic r:id="rId34"/>
    </p:embeddedFont>
    <p:embeddedFont>
      <p:font typeface="Maven Pro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kRmpNbRO8GuNndyl7sacR2XDx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F0FC6E-C7A3-4636-9202-7CB081AD3565}">
  <a:tblStyle styleId="{33F0FC6E-C7A3-4636-9202-7CB081AD356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-italic.fntdata"/><Relationship Id="rId10" Type="http://schemas.openxmlformats.org/officeDocument/2006/relationships/slide" Target="slides/slide4.xml"/><Relationship Id="rId32" Type="http://schemas.openxmlformats.org/officeDocument/2006/relationships/font" Target="fonts/Nunito-bold.fntdata"/><Relationship Id="rId13" Type="http://schemas.openxmlformats.org/officeDocument/2006/relationships/slide" Target="slides/slide7.xml"/><Relationship Id="rId35" Type="http://schemas.openxmlformats.org/officeDocument/2006/relationships/font" Target="fonts/MavenPro-regular.fntdata"/><Relationship Id="rId12" Type="http://schemas.openxmlformats.org/officeDocument/2006/relationships/slide" Target="slides/slide6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MavenPr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b60661cb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1b60661cb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b60661cbd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1b60661cbd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b60661cbd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1b60661cbd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b60661cbd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1b60661cbd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b60661cbd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1b60661cbd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1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1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12" name="Google Shape;12;p21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1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" name="Google Shape;14;p21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1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1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1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21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1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1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1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1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21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1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1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1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1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1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1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1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1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21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1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1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1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" name="Google Shape;36;p21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21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1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" name="Google Shape;40;p21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1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1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1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1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1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2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1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22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51" name="Google Shape;51;p2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23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58" name="Google Shape;58;p2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9" name="Google Shape;59;p2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2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2" name="Google Shape;62;p2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6" name="Google Shape;66;p2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" name="Google Shape;70;p23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1" name="Google Shape;71;p2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2" name="Google Shape;72;p2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2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" name="Google Shape;74;p2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5" name="Google Shape;75;p2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2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2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2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9" name="Google Shape;79;p2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2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" name="Google Shape;83;p2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4" name="Google Shape;84;p2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9" name="Google Shape;89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2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2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2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6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7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4" name="Google Shape;114;p27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5" name="Google Shape;115;p27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7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7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27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19" name="Google Shape;119;p27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7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7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27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27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7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5" name="Google Shape;125;p27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2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8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28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9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2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137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29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30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30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30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0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30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0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30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30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0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0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0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0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" name="Google Shape;154;p30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30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0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0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0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30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30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30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30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30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30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30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30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0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0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30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30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30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0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0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30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30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0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0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" name="Google Shape;178;p30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30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0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30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0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30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" name="Google Shape;184;p30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30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30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30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0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30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30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0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0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0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30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30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0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30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" name="Google Shape;198;p30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30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30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30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30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30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30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30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30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30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30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30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0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0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0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0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30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30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30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30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0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30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30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0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0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30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30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30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30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30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0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30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30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30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30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30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0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30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30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30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30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30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0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30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30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0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30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30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30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30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30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30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30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30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30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30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0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0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30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30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30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30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0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235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8" name="Google Shape;268;p30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0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vim-adventures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Linux Operations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Linux</a:t>
            </a:r>
            <a:endParaRPr/>
          </a:p>
        </p:txBody>
      </p:sp>
      <p:sp>
        <p:nvSpPr>
          <p:cNvPr id="283" name="Google Shape;283;p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operating system, like macOS or Windows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Open Source OS by Linus Torvalds, first released in 1991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different “distros”, each with their own perks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E.g. Debian, RedHat, Alpine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of the servers and mobile devices use Linux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Android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Tesla?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pic>
        <p:nvPicPr>
          <p:cNvPr id="284" name="Google Shape;284;p2"/>
          <p:cNvPicPr preferRelativeResize="0"/>
          <p:nvPr/>
        </p:nvPicPr>
        <p:blipFill rotWithShape="1">
          <a:blip r:embed="rId3">
            <a:alphaModFix/>
          </a:blip>
          <a:srcRect b="13863" l="30119" r="30502" t="8487"/>
          <a:stretch/>
        </p:blipFill>
        <p:spPr>
          <a:xfrm>
            <a:off x="6495189" y="1386348"/>
            <a:ext cx="2306673" cy="3032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b60661cbdd_0_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User interface</a:t>
            </a:r>
            <a:endParaRPr/>
          </a:p>
        </p:txBody>
      </p:sp>
      <p:pic>
        <p:nvPicPr>
          <p:cNvPr id="290" name="Google Shape;290;g1b60661cbd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48007"/>
            <a:ext cx="4834401" cy="322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1b60661cbd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600" y="1248007"/>
            <a:ext cx="4834401" cy="322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1b60661cbdd_0_0"/>
          <p:cNvPicPr preferRelativeResize="0"/>
          <p:nvPr/>
        </p:nvPicPr>
        <p:blipFill rotWithShape="1">
          <a:blip r:embed="rId4">
            <a:alphaModFix/>
          </a:blip>
          <a:srcRect b="37589" l="0" r="13344" t="0"/>
          <a:stretch/>
        </p:blipFill>
        <p:spPr>
          <a:xfrm>
            <a:off x="652625" y="1674625"/>
            <a:ext cx="3529150" cy="20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1b60661cbdd_0_0"/>
          <p:cNvPicPr preferRelativeResize="0"/>
          <p:nvPr/>
        </p:nvPicPr>
        <p:blipFill rotWithShape="1">
          <a:blip r:embed="rId5">
            <a:alphaModFix/>
          </a:blip>
          <a:srcRect b="24607" l="0" r="0" t="0"/>
          <a:stretch/>
        </p:blipFill>
        <p:spPr>
          <a:xfrm>
            <a:off x="4962238" y="1674625"/>
            <a:ext cx="3529128" cy="200562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1b60661cbdd_0_0"/>
          <p:cNvSpPr txBox="1"/>
          <p:nvPr/>
        </p:nvSpPr>
        <p:spPr>
          <a:xfrm>
            <a:off x="4697600" y="105250"/>
            <a:ext cx="4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operating system Ubuntu has two versions.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g1b60661cbdd_0_0"/>
          <p:cNvSpPr txBox="1"/>
          <p:nvPr/>
        </p:nvSpPr>
        <p:spPr>
          <a:xfrm>
            <a:off x="387988" y="4235150"/>
            <a:ext cx="405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Ubuntu Server</a:t>
            </a:r>
            <a:endParaRPr b="0" i="0" sz="1400" u="sng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User interaction with: bash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g1b60661cbdd_0_0"/>
          <p:cNvSpPr txBox="1"/>
          <p:nvPr/>
        </p:nvSpPr>
        <p:spPr>
          <a:xfrm>
            <a:off x="4697588" y="4235150"/>
            <a:ext cx="40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Ubuntu Desktop</a:t>
            </a:r>
            <a:endParaRPr b="0" i="0" sz="1400" u="sng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User interaction with: gnome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(Note: bash is also installed)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b60661cbdd_0_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Can an operating system pair with different GUI?</a:t>
            </a:r>
            <a:endParaRPr/>
          </a:p>
        </p:txBody>
      </p:sp>
      <p:sp>
        <p:nvSpPr>
          <p:cNvPr id="302" name="Google Shape;302;g1b60661cbdd_0_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700"/>
              <a:t>YES.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A GUI is just a software running on a given operating system.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However, common OS like Windows and MacOS does not give you option to replace their default GUI.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rgbClr val="999999"/>
                </a:solidFill>
              </a:rPr>
              <a:t>Reference: How to install a GUI on ubuntu</a:t>
            </a:r>
            <a:endParaRPr>
              <a:solidFill>
                <a:srgbClr val="99999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>
                <a:solidFill>
                  <a:srgbClr val="999999"/>
                </a:solidFill>
              </a:rPr>
              <a:t>https://phoenixnap.com/kb/how-to-install-a-gui-on-ubuntu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308" name="Google Shape;308;p3"/>
          <p:cNvSpPr txBox="1"/>
          <p:nvPr>
            <p:ph idx="1" type="body"/>
          </p:nvPr>
        </p:nvSpPr>
        <p:spPr>
          <a:xfrm>
            <a:off x="468550" y="1403063"/>
            <a:ext cx="48759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 application that allow users to send command to the system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It is the command-line interface we always see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Common shells are </a:t>
            </a:r>
            <a:r>
              <a:rPr b="1" lang="en"/>
              <a:t>bash</a:t>
            </a:r>
            <a:r>
              <a:rPr lang="en"/>
              <a:t> and </a:t>
            </a:r>
            <a:r>
              <a:rPr b="1" lang="en"/>
              <a:t>zsh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Debian default: bash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Mac default: zsh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Windows default: cmd/powershell🤡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9" name="Google Shape;3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3850" y="205550"/>
            <a:ext cx="3831725" cy="24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2475" y="3749850"/>
            <a:ext cx="4585924" cy="12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600" y="3418894"/>
            <a:ext cx="3374600" cy="15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b60661cbdd_0_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Can we run a shell on GUI?</a:t>
            </a:r>
            <a:endParaRPr/>
          </a:p>
        </p:txBody>
      </p:sp>
      <p:sp>
        <p:nvSpPr>
          <p:cNvPr id="317" name="Google Shape;317;g1b60661cbdd_0_26"/>
          <p:cNvSpPr txBox="1"/>
          <p:nvPr>
            <p:ph idx="1" type="body"/>
          </p:nvPr>
        </p:nvSpPr>
        <p:spPr>
          <a:xfrm>
            <a:off x="447100" y="1525375"/>
            <a:ext cx="37140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700"/>
              <a:t>YES.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We achieve this with a terminal software.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On Windows, terminal software and the shell is bundled.  That is, cmd.exe runs cmd and powershell.exe runs powershell.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On Mac, the “Terminal” app starts your default shell (zsh or bash depends on configuration). “iTerm2” is an alternative to the “Terminal” app.</a:t>
            </a:r>
            <a:endParaRPr/>
          </a:p>
        </p:txBody>
      </p:sp>
      <p:pic>
        <p:nvPicPr>
          <p:cNvPr id="318" name="Google Shape;318;g1b60661cbdd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1100" y="1315500"/>
            <a:ext cx="4173199" cy="19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1b60661cbdd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300" y="2277000"/>
            <a:ext cx="3944126" cy="26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b60661cbdd_0_3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Remote control with CLI</a:t>
            </a:r>
            <a:endParaRPr/>
          </a:p>
        </p:txBody>
      </p:sp>
      <p:pic>
        <p:nvPicPr>
          <p:cNvPr id="325" name="Google Shape;325;g1b60661cbdd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66457"/>
            <a:ext cx="4834401" cy="322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g1b60661cbdd_0_39"/>
          <p:cNvPicPr preferRelativeResize="0"/>
          <p:nvPr/>
        </p:nvPicPr>
        <p:blipFill rotWithShape="1">
          <a:blip r:embed="rId4">
            <a:alphaModFix/>
          </a:blip>
          <a:srcRect b="16226" l="0" r="0" t="0"/>
          <a:stretch/>
        </p:blipFill>
        <p:spPr>
          <a:xfrm>
            <a:off x="668600" y="1987650"/>
            <a:ext cx="3503424" cy="2000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1b60661cbdd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9600" y="1566457"/>
            <a:ext cx="4834401" cy="322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1b60661cbdd_0_39"/>
          <p:cNvPicPr preferRelativeResize="0"/>
          <p:nvPr/>
        </p:nvPicPr>
        <p:blipFill rotWithShape="1">
          <a:blip r:embed="rId5">
            <a:alphaModFix/>
          </a:blip>
          <a:srcRect b="37589" l="0" r="13344" t="0"/>
          <a:stretch/>
        </p:blipFill>
        <p:spPr>
          <a:xfrm>
            <a:off x="4962225" y="1993075"/>
            <a:ext cx="3529150" cy="20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1b60661cbdd_0_39"/>
          <p:cNvSpPr txBox="1"/>
          <p:nvPr/>
        </p:nvSpPr>
        <p:spPr>
          <a:xfrm>
            <a:off x="4697613" y="4388975"/>
            <a:ext cx="405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Ubuntu Server</a:t>
            </a:r>
            <a:endParaRPr b="0" i="0" sz="1400" u="sng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User interaction with: bash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monitor in most of the time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g1b60661cbdd_0_39"/>
          <p:cNvSpPr/>
          <p:nvPr/>
        </p:nvSpPr>
        <p:spPr>
          <a:xfrm>
            <a:off x="3015225" y="1363250"/>
            <a:ext cx="1156800" cy="479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1b60661cbdd_0_39"/>
          <p:cNvSpPr/>
          <p:nvPr/>
        </p:nvSpPr>
        <p:spPr>
          <a:xfrm>
            <a:off x="4962225" y="1363250"/>
            <a:ext cx="1156800" cy="4791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sshd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1b60661cbdd_0_39"/>
          <p:cNvSpPr/>
          <p:nvPr/>
        </p:nvSpPr>
        <p:spPr>
          <a:xfrm>
            <a:off x="7334575" y="1363250"/>
            <a:ext cx="1156800" cy="479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1b60661cbdd_0_39"/>
          <p:cNvSpPr/>
          <p:nvPr/>
        </p:nvSpPr>
        <p:spPr>
          <a:xfrm>
            <a:off x="668600" y="1363250"/>
            <a:ext cx="1156800" cy="479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g1b60661cbdd_0_39"/>
          <p:cNvCxnSpPr>
            <a:stCxn id="333" idx="3"/>
            <a:endCxn id="330" idx="1"/>
          </p:cNvCxnSpPr>
          <p:nvPr/>
        </p:nvCxnSpPr>
        <p:spPr>
          <a:xfrm>
            <a:off x="1825400" y="1602800"/>
            <a:ext cx="118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g1b60661cbdd_0_39"/>
          <p:cNvCxnSpPr>
            <a:stCxn id="330" idx="3"/>
            <a:endCxn id="331" idx="1"/>
          </p:cNvCxnSpPr>
          <p:nvPr/>
        </p:nvCxnSpPr>
        <p:spPr>
          <a:xfrm>
            <a:off x="4172025" y="1602800"/>
            <a:ext cx="79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336" name="Google Shape;336;g1b60661cbdd_0_39"/>
          <p:cNvCxnSpPr>
            <a:stCxn id="331" idx="3"/>
            <a:endCxn id="332" idx="1"/>
          </p:cNvCxnSpPr>
          <p:nvPr/>
        </p:nvCxnSpPr>
        <p:spPr>
          <a:xfrm>
            <a:off x="6119025" y="1602800"/>
            <a:ext cx="121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g1b60661cbdd_0_39"/>
          <p:cNvSpPr txBox="1"/>
          <p:nvPr/>
        </p:nvSpPr>
        <p:spPr>
          <a:xfrm>
            <a:off x="1908213" y="1264100"/>
            <a:ext cx="10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Execute</a:t>
            </a:r>
            <a:endParaRPr b="0"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g1b60661cbdd_0_39"/>
          <p:cNvSpPr txBox="1"/>
          <p:nvPr/>
        </p:nvSpPr>
        <p:spPr>
          <a:xfrm>
            <a:off x="4067875" y="1212525"/>
            <a:ext cx="10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Connect</a:t>
            </a:r>
            <a:endParaRPr b="0"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g1b60661cbdd_0_39"/>
          <p:cNvSpPr txBox="1"/>
          <p:nvPr/>
        </p:nvSpPr>
        <p:spPr>
          <a:xfrm>
            <a:off x="6119052" y="1264100"/>
            <a:ext cx="120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Pass commands</a:t>
            </a:r>
            <a:endParaRPr b="0"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g1b60661cbdd_0_39"/>
          <p:cNvSpPr txBox="1"/>
          <p:nvPr/>
        </p:nvSpPr>
        <p:spPr>
          <a:xfrm>
            <a:off x="4067875" y="1654375"/>
            <a:ext cx="102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Internet</a:t>
            </a:r>
            <a:endParaRPr b="0" i="0" sz="10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g1b60661cbdd_0_39"/>
          <p:cNvSpPr txBox="1"/>
          <p:nvPr/>
        </p:nvSpPr>
        <p:spPr>
          <a:xfrm>
            <a:off x="387988" y="4527900"/>
            <a:ext cx="405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MacOS</a:t>
            </a:r>
            <a:endParaRPr b="0" i="0" sz="1400" u="sng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User interaction with default GUI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347" name="Google Shape;347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 CLI tools that no GUI has been developed yet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Remote control a server/a group of server that has no GUI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Development and/or Debugging applications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Run scripts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quick way to perform sophisticated things, for example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search for all files that contain multiple keywords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Replace some text from all files within a folder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 cool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Where to find a Linux CLI for practicing</a:t>
            </a:r>
            <a:endParaRPr/>
          </a:p>
        </p:txBody>
      </p:sp>
      <p:sp>
        <p:nvSpPr>
          <p:cNvPr id="353" name="Google Shape;353;p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Terminal on Mac / Linux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WSL (Windows Subsystem Linux) on Windows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Cloud Shell on Google Cloud Console / AWS Console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b60661cbdd_0_63"/>
          <p:cNvSpPr txBox="1"/>
          <p:nvPr>
            <p:ph type="title"/>
          </p:nvPr>
        </p:nvSpPr>
        <p:spPr>
          <a:xfrm>
            <a:off x="823999" y="1613825"/>
            <a:ext cx="65286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/>
              <a:t>Try: Connect to a remote machine through SSH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Linux directory structure</a:t>
            </a:r>
            <a:endParaRPr/>
          </a:p>
        </p:txBody>
      </p:sp>
      <p:pic>
        <p:nvPicPr>
          <p:cNvPr id="364" name="Google Shape;3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41650"/>
            <a:ext cx="8839200" cy="313239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6"/>
          <p:cNvSpPr txBox="1"/>
          <p:nvPr/>
        </p:nvSpPr>
        <p:spPr>
          <a:xfrm>
            <a:off x="519775" y="4561000"/>
            <a:ext cx="72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Image from: https://www.serverkaka.com/2018/01/key-locations-in-linux-file-system_21.html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6" name="Google Shape;366;p6"/>
          <p:cNvSpPr txBox="1"/>
          <p:nvPr/>
        </p:nvSpPr>
        <p:spPr>
          <a:xfrm>
            <a:off x="3538000" y="3626050"/>
            <a:ext cx="351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~</a:t>
            </a:r>
            <a:endParaRPr b="1" i="0" sz="3400" u="none" cap="none" strike="noStrike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2700438" y="3626050"/>
            <a:ext cx="351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~</a:t>
            </a:r>
            <a:endParaRPr b="1" i="0" sz="3400" u="none" cap="none" strike="noStrike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8" name="Google Shape;368;p6"/>
          <p:cNvSpPr txBox="1"/>
          <p:nvPr/>
        </p:nvSpPr>
        <p:spPr>
          <a:xfrm>
            <a:off x="1862863" y="3626050"/>
            <a:ext cx="351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~</a:t>
            </a:r>
            <a:endParaRPr b="1" i="0" sz="3400" u="none" cap="none" strike="noStrike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~ folder (directory)</a:t>
            </a:r>
            <a:endParaRPr/>
          </a:p>
        </p:txBody>
      </p:sp>
      <p:sp>
        <p:nvSpPr>
          <p:cNvPr id="374" name="Google Shape;374;p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~</a:t>
            </a:r>
            <a:r>
              <a:rPr lang="en" sz="1800"/>
              <a:t> is an alias to your home folder.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 sz="1800"/>
              <a:t>If your username is </a:t>
            </a:r>
            <a:r>
              <a:rPr lang="en" sz="1800" u="sng"/>
              <a:t>bob</a:t>
            </a:r>
            <a:r>
              <a:rPr lang="en" sz="1800"/>
              <a:t>, your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~</a:t>
            </a:r>
            <a:r>
              <a:rPr lang="en" sz="1800"/>
              <a:t> is </a:t>
            </a:r>
            <a:r>
              <a:rPr lang="en" sz="1800" u="sng">
                <a:latin typeface="Consolas"/>
                <a:ea typeface="Consolas"/>
                <a:cs typeface="Consolas"/>
                <a:sym typeface="Consolas"/>
              </a:rPr>
              <a:t>/home/bob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 sz="1800"/>
              <a:t>Also,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cd </a:t>
            </a:r>
            <a:r>
              <a:rPr lang="en" sz="1800"/>
              <a:t>without a parameter equals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cd ~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Concepts</a:t>
            </a:r>
            <a:endParaRPr/>
          </a:p>
        </p:txBody>
      </p:sp>
      <p:pic>
        <p:nvPicPr>
          <p:cNvPr id="380" name="Google Shape;3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0325" y="1597875"/>
            <a:ext cx="3943350" cy="246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1" name="Google Shape;381;p8"/>
          <p:cNvCxnSpPr/>
          <p:nvPr/>
        </p:nvCxnSpPr>
        <p:spPr>
          <a:xfrm rot="10800000">
            <a:off x="1874300" y="3426325"/>
            <a:ext cx="732000" cy="4758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8"/>
          <p:cNvCxnSpPr/>
          <p:nvPr/>
        </p:nvCxnSpPr>
        <p:spPr>
          <a:xfrm flipH="1">
            <a:off x="2789300" y="4026575"/>
            <a:ext cx="307500" cy="4320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8"/>
          <p:cNvSpPr txBox="1"/>
          <p:nvPr/>
        </p:nvSpPr>
        <p:spPr>
          <a:xfrm>
            <a:off x="475900" y="3126075"/>
            <a:ext cx="19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User name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1404350" y="4376650"/>
            <a:ext cx="19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Machine name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85" name="Google Shape;385;p8"/>
          <p:cNvCxnSpPr/>
          <p:nvPr/>
        </p:nvCxnSpPr>
        <p:spPr>
          <a:xfrm>
            <a:off x="3468825" y="4026575"/>
            <a:ext cx="638400" cy="468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8"/>
          <p:cNvSpPr txBox="1"/>
          <p:nvPr/>
        </p:nvSpPr>
        <p:spPr>
          <a:xfrm>
            <a:off x="3468825" y="4376650"/>
            <a:ext cx="19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Current Directory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7" name="Google Shape;387;p8"/>
          <p:cNvSpPr txBox="1"/>
          <p:nvPr/>
        </p:nvSpPr>
        <p:spPr>
          <a:xfrm>
            <a:off x="6719425" y="198375"/>
            <a:ext cx="191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One dot = Current Dir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88" name="Google Shape;388;p8"/>
          <p:cNvCxnSpPr/>
          <p:nvPr/>
        </p:nvCxnSpPr>
        <p:spPr>
          <a:xfrm flipH="1" rot="10800000">
            <a:off x="5966650" y="519700"/>
            <a:ext cx="864000" cy="1391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8"/>
          <p:cNvCxnSpPr/>
          <p:nvPr/>
        </p:nvCxnSpPr>
        <p:spPr>
          <a:xfrm flipH="1" rot="10800000">
            <a:off x="6045825" y="966350"/>
            <a:ext cx="784800" cy="1148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8"/>
          <p:cNvSpPr txBox="1"/>
          <p:nvPr/>
        </p:nvSpPr>
        <p:spPr>
          <a:xfrm>
            <a:off x="6668175" y="702175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Two dots = Parent Dir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p8"/>
          <p:cNvSpPr txBox="1"/>
          <p:nvPr/>
        </p:nvSpPr>
        <p:spPr>
          <a:xfrm>
            <a:off x="231625" y="151060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File/Folder permissions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2" name="Google Shape;392;p8"/>
          <p:cNvCxnSpPr/>
          <p:nvPr/>
        </p:nvCxnSpPr>
        <p:spPr>
          <a:xfrm rot="10800000">
            <a:off x="2218100" y="1822775"/>
            <a:ext cx="388200" cy="571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p8"/>
          <p:cNvSpPr txBox="1"/>
          <p:nvPr/>
        </p:nvSpPr>
        <p:spPr>
          <a:xfrm>
            <a:off x="3056200" y="43305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File/Folder owner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4" name="Google Shape;394;p8"/>
          <p:cNvCxnSpPr/>
          <p:nvPr/>
        </p:nvCxnSpPr>
        <p:spPr>
          <a:xfrm rot="10800000">
            <a:off x="3880150" y="775950"/>
            <a:ext cx="0" cy="1083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8"/>
          <p:cNvSpPr txBox="1"/>
          <p:nvPr/>
        </p:nvSpPr>
        <p:spPr>
          <a:xfrm>
            <a:off x="4021225" y="96635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File/Folder group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6" name="Google Shape;396;p8"/>
          <p:cNvCxnSpPr/>
          <p:nvPr/>
        </p:nvCxnSpPr>
        <p:spPr>
          <a:xfrm flipH="1" rot="10800000">
            <a:off x="4224250" y="1259125"/>
            <a:ext cx="139200" cy="556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8"/>
          <p:cNvSpPr txBox="1"/>
          <p:nvPr/>
        </p:nvSpPr>
        <p:spPr>
          <a:xfrm>
            <a:off x="5579275" y="437665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Last modify datetime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98" name="Google Shape;398;p8"/>
          <p:cNvCxnSpPr/>
          <p:nvPr/>
        </p:nvCxnSpPr>
        <p:spPr>
          <a:xfrm>
            <a:off x="5417575" y="3924075"/>
            <a:ext cx="534300" cy="527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8"/>
          <p:cNvSpPr txBox="1"/>
          <p:nvPr/>
        </p:nvSpPr>
        <p:spPr>
          <a:xfrm>
            <a:off x="7274475" y="205720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File/Folder name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00" name="Google Shape;400;p8"/>
          <p:cNvCxnSpPr>
            <a:endCxn id="399" idx="1"/>
          </p:cNvCxnSpPr>
          <p:nvPr/>
        </p:nvCxnSpPr>
        <p:spPr>
          <a:xfrm flipH="1" rot="10800000">
            <a:off x="6449775" y="2257300"/>
            <a:ext cx="824700" cy="246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List of common commands</a:t>
            </a:r>
            <a:endParaRPr/>
          </a:p>
        </p:txBody>
      </p:sp>
      <p:graphicFrame>
        <p:nvGraphicFramePr>
          <p:cNvPr id="406" name="Google Shape;406;p9"/>
          <p:cNvGraphicFramePr/>
          <p:nvPr/>
        </p:nvGraphicFramePr>
        <p:xfrm>
          <a:off x="952500" y="150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{33F0FC6E-C7A3-4636-9202-7CB081AD3565}</a:tableStyleId>
              </a:tblPr>
              <a:tblGrid>
                <a:gridCol w="1403550"/>
                <a:gridCol w="2539600"/>
                <a:gridCol w="32958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cd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ls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rm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mv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cat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mkdir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</a:t>
                      </a: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hown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chmod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ln -s (symbolic link; shortcut)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echo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sudo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cp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echo "123" &gt; text.txt   #Write to file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echo "123" &gt;&gt; text.txt # Append to file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ssh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vim/nano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apt/apt-get/yum</a:t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chemeClr val="dk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Commands</a:t>
            </a:r>
            <a:endParaRPr/>
          </a:p>
        </p:txBody>
      </p:sp>
      <p:pic>
        <p:nvPicPr>
          <p:cNvPr id="412" name="Google Shape;41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7464" y="2762101"/>
            <a:ext cx="5863185" cy="7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0"/>
          <p:cNvSpPr txBox="1"/>
          <p:nvPr/>
        </p:nvSpPr>
        <p:spPr>
          <a:xfrm>
            <a:off x="2408625" y="1377450"/>
            <a:ext cx="26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The program (like a function)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14" name="Google Shape;414;p10"/>
          <p:cNvCxnSpPr/>
          <p:nvPr/>
        </p:nvCxnSpPr>
        <p:spPr>
          <a:xfrm rot="10800000">
            <a:off x="3843550" y="1720350"/>
            <a:ext cx="0" cy="1083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0"/>
          <p:cNvSpPr txBox="1"/>
          <p:nvPr/>
        </p:nvSpPr>
        <p:spPr>
          <a:xfrm>
            <a:off x="5053525" y="1377450"/>
            <a:ext cx="20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Arguments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16" name="Google Shape;416;p10"/>
          <p:cNvCxnSpPr>
            <a:endCxn id="415" idx="2"/>
          </p:cNvCxnSpPr>
          <p:nvPr/>
        </p:nvCxnSpPr>
        <p:spPr>
          <a:xfrm rot="10800000">
            <a:off x="6096775" y="1777650"/>
            <a:ext cx="9000" cy="1019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10"/>
          <p:cNvCxnSpPr>
            <a:endCxn id="415" idx="2"/>
          </p:cNvCxnSpPr>
          <p:nvPr/>
        </p:nvCxnSpPr>
        <p:spPr>
          <a:xfrm flipH="1" rot="10800000">
            <a:off x="4451275" y="1777650"/>
            <a:ext cx="1645500" cy="1011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10"/>
          <p:cNvCxnSpPr>
            <a:endCxn id="415" idx="2"/>
          </p:cNvCxnSpPr>
          <p:nvPr/>
        </p:nvCxnSpPr>
        <p:spPr>
          <a:xfrm flipH="1" rot="10800000">
            <a:off x="5322475" y="1777650"/>
            <a:ext cx="774300" cy="1033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10"/>
          <p:cNvSpPr txBox="1"/>
          <p:nvPr/>
        </p:nvSpPr>
        <p:spPr>
          <a:xfrm>
            <a:off x="1887475" y="3792325"/>
            <a:ext cx="586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-"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Quote(") means to treat functional characters as normal string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-"/>
            </a:pPr>
            <a:r>
              <a:rPr b="0" i="0" lang="en" sz="14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Spaces are separators (So, do not include extra spaces!)</a:t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0" name="Google Shape;420;p10"/>
          <p:cNvCxnSpPr>
            <a:stCxn id="421" idx="2"/>
          </p:cNvCxnSpPr>
          <p:nvPr/>
        </p:nvCxnSpPr>
        <p:spPr>
          <a:xfrm>
            <a:off x="1303800" y="2762100"/>
            <a:ext cx="577800" cy="656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0"/>
          <p:cNvSpPr txBox="1"/>
          <p:nvPr/>
        </p:nvSpPr>
        <p:spPr>
          <a:xfrm>
            <a:off x="74400" y="1930800"/>
            <a:ext cx="24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New line comes out only after the last command finished execution</a:t>
            </a:r>
            <a:endParaRPr b="0" i="0" sz="1400" u="none" cap="none" strike="noStrike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Permissions</a:t>
            </a:r>
            <a:endParaRPr/>
          </a:p>
        </p:txBody>
      </p:sp>
      <p:pic>
        <p:nvPicPr>
          <p:cNvPr id="427" name="Google Shape;4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388" y="1764925"/>
            <a:ext cx="7621225" cy="25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Change permission</a:t>
            </a:r>
            <a:endParaRPr/>
          </a:p>
        </p:txBody>
      </p:sp>
      <p:pic>
        <p:nvPicPr>
          <p:cNvPr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888" y="1398400"/>
            <a:ext cx="4256225" cy="365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Change owner</a:t>
            </a:r>
            <a:endParaRPr/>
          </a:p>
        </p:txBody>
      </p:sp>
      <p:pic>
        <p:nvPicPr>
          <p:cNvPr id="439" name="Google Shape;4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988" y="2482300"/>
            <a:ext cx="6568025" cy="11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SSH - Secure shell</a:t>
            </a:r>
            <a:endParaRPr/>
          </a:p>
        </p:txBody>
      </p:sp>
      <p:sp>
        <p:nvSpPr>
          <p:cNvPr id="445" name="Google Shape;445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Usage: Connection to a remote shell.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/>
              <a:t>Common authentication methods: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Password (Seldom use nowadays)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Private key / Public key pairs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/>
              <a:t>Generate key with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ssh-keygen</a:t>
            </a:r>
            <a:endParaRPr b="1" u="sng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/>
              <a:t>Connect with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ssh</a:t>
            </a:r>
            <a:endParaRPr b="1" u="sng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46" name="Google Shape;446;p15"/>
          <p:cNvGraphicFramePr/>
          <p:nvPr/>
        </p:nvGraphicFramePr>
        <p:xfrm>
          <a:off x="5231650" y="199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{33F0FC6E-C7A3-4636-9202-7CB081AD3565}</a:tableStyleId>
              </a:tblPr>
              <a:tblGrid>
                <a:gridCol w="2959850"/>
              </a:tblGrid>
              <a:tr h="23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Important files under ~/.ssh: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As a client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known_hosts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id_rsa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Id_rsa.pub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config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As a server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Authorized_keys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Environment variable</a:t>
            </a:r>
            <a:endParaRPr/>
          </a:p>
        </p:txBody>
      </p:sp>
      <p:sp>
        <p:nvSpPr>
          <p:cNvPr id="452" name="Google Shape;452;p11"/>
          <p:cNvSpPr txBox="1"/>
          <p:nvPr>
            <p:ph idx="1" type="body"/>
          </p:nvPr>
        </p:nvSpPr>
        <p:spPr>
          <a:xfrm>
            <a:off x="1303800" y="1990050"/>
            <a:ext cx="3835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Variables that is available to all applications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Allow a small piece of information to be shared between applications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/>
              <a:t>Example: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 java based application reads the JAVA_HOME variable to locate the java binaries</a:t>
            </a:r>
            <a:endParaRPr/>
          </a:p>
        </p:txBody>
      </p:sp>
      <p:pic>
        <p:nvPicPr>
          <p:cNvPr id="453" name="Google Shape;4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6300" y="1990038"/>
            <a:ext cx="3124200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"/>
          <p:cNvSpPr txBox="1"/>
          <p:nvPr>
            <p:ph type="title"/>
          </p:nvPr>
        </p:nvSpPr>
        <p:spPr>
          <a:xfrm>
            <a:off x="823999" y="1613825"/>
            <a:ext cx="6528675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"/>
              <a:t>Demo: SSH into a cloud VM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.bashrc, .profile, $PATH</a:t>
            </a:r>
            <a:endParaRPr/>
          </a:p>
        </p:txBody>
      </p:sp>
      <p:sp>
        <p:nvSpPr>
          <p:cNvPr id="464" name="Google Shape;464;p17"/>
          <p:cNvSpPr txBox="1"/>
          <p:nvPr>
            <p:ph idx="1" type="body"/>
          </p:nvPr>
        </p:nvSpPr>
        <p:spPr>
          <a:xfrm>
            <a:off x="768700" y="1836300"/>
            <a:ext cx="30669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 u="sng"/>
              <a:t>.bashrc or .profile or .zshrc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n"/>
              <a:t>These files are executed when you first login to a shell</a:t>
            </a:r>
            <a:endParaRPr/>
          </a:p>
        </p:txBody>
      </p:sp>
      <p:pic>
        <p:nvPicPr>
          <p:cNvPr id="465" name="Google Shape;4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9563" y="1497350"/>
            <a:ext cx="431482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7"/>
          <p:cNvSpPr txBox="1"/>
          <p:nvPr>
            <p:ph idx="1" type="body"/>
          </p:nvPr>
        </p:nvSpPr>
        <p:spPr>
          <a:xfrm>
            <a:off x="768700" y="3116150"/>
            <a:ext cx="34995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u="sng"/>
              <a:t>$PATH</a:t>
            </a:r>
            <a:endParaRPr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"/>
              <a:t>The program search path.  It tells the shell where to find a program to execute.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n"/>
              <a:t>Very common to set PATH in .bashrc, so that we do not have to worry about search path again once it is set</a:t>
            </a:r>
            <a:endParaRPr/>
          </a:p>
        </p:txBody>
      </p:sp>
      <p:pic>
        <p:nvPicPr>
          <p:cNvPr id="467" name="Google Shape;4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9575" y="3555400"/>
            <a:ext cx="4314825" cy="815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Extra stuff</a:t>
            </a:r>
            <a:endParaRPr/>
          </a:p>
        </p:txBody>
      </p:sp>
      <p:sp>
        <p:nvSpPr>
          <p:cNvPr id="473" name="Google Shape;473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., .., and current working directory in Python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autocomplete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--help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.爸爸的文件夾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sudo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Package managers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Pipe “|”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$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Vim editor: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https://vim-adventures.com/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Cowsay</a:t>
            </a:r>
            <a:endParaRPr/>
          </a:p>
        </p:txBody>
      </p:sp>
      <p:sp>
        <p:nvSpPr>
          <p:cNvPr id="479" name="Google Shape;479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Let’s install and play with cowsay for fun!</a:t>
            </a:r>
            <a:endParaRPr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Shell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Package Manager -&gt; know how to install package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Permission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How to run the cowsay command</a:t>
            </a:r>
            <a:endParaRPr/>
          </a:p>
        </p:txBody>
      </p:sp>
      <p:pic>
        <p:nvPicPr>
          <p:cNvPr id="480" name="Google Shape;4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408" y="2086603"/>
            <a:ext cx="3105583" cy="148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